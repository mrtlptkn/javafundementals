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y="6858000" cx="12192000"/>
  <p:notesSz cx="6858000" cy="9144000"/>
  <p:embeddedFontLs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RobotoMono-regular.fntdata"/><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RobotoMono-italic.fntdata"/><Relationship Id="rId12" Type="http://schemas.openxmlformats.org/officeDocument/2006/relationships/slide" Target="slides/slide8.xml"/><Relationship Id="rId56" Type="http://schemas.openxmlformats.org/officeDocument/2006/relationships/font" Target="fonts/RobotoMono-bold.fntdata"/><Relationship Id="rId15" Type="http://schemas.openxmlformats.org/officeDocument/2006/relationships/slide" Target="slides/slide11.xml"/><Relationship Id="rId14" Type="http://schemas.openxmlformats.org/officeDocument/2006/relationships/slide" Target="slides/slide10.xml"/><Relationship Id="rId58" Type="http://schemas.openxmlformats.org/officeDocument/2006/relationships/font" Target="fonts/RobotoMono-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51" name="Google Shape;15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910b77d25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3910b77d25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59" name="Google Shape;159;g33910b77d25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910b77d25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3910b77d25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66" name="Google Shape;166;g33910b77d25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910b77d25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3910b77d25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73" name="Google Shape;173;g33910b77d25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88" name="Google Shape;1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Jshell terminal üzerinden Java kodu çalıştırmamızı sağlar.</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a:solidFill>
                  <a:srgbClr val="374151"/>
                </a:solidFill>
                <a:latin typeface="Arial"/>
                <a:ea typeface="Arial"/>
                <a:cs typeface="Arial"/>
                <a:sym typeface="Arial"/>
              </a:rPr>
              <a:t>komut satırında çalışan bir kabuk ortamıdır. Kodu yazdığınız anda sonuçları anında görürsünüz.</a:t>
            </a:r>
            <a:endParaRPr/>
          </a:p>
        </p:txBody>
      </p:sp>
      <p:sp>
        <p:nvSpPr>
          <p:cNvPr id="195" name="Google Shape;1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202" name="Google Shape;2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210" name="Google Shape;21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3910b77d2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3910b77d2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217" name="Google Shape;217;g33910b77d2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224" name="Google Shape;2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3910b77d2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3910b77d25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231" name="Google Shape;231;g33910b77d25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238" name="Google Shape;23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910b77d25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3910b77d25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3910b77d25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g33910b77d25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3910b77d25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3910b77d25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2" name="Google Shape;22;p2"/>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 name="Google Shape;30;p3"/>
          <p:cNvSpPr/>
          <p:nvPr/>
        </p:nvSpPr>
        <p:spPr>
          <a:xfrm flipH="1">
            <a:off x="12353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p:cSld name="Başlıklı Resim">
    <p:spTree>
      <p:nvGrpSpPr>
        <p:cNvPr id="31" name="Shape 31"/>
        <p:cNvGrpSpPr/>
        <p:nvPr/>
      </p:nvGrpSpPr>
      <p:grpSpPr>
        <a:xfrm>
          <a:off x="0" y="0"/>
          <a:ext cx="0" cy="0"/>
          <a:chOff x="0" y="0"/>
          <a:chExt cx="0" cy="0"/>
        </a:xfrm>
      </p:grpSpPr>
      <p:sp>
        <p:nvSpPr>
          <p:cNvPr id="32" name="Google Shape;32;p4"/>
          <p:cNvSpPr/>
          <p:nvPr>
            <p:ph idx="2" type="pic"/>
          </p:nvPr>
        </p:nvSpPr>
        <p:spPr>
          <a:xfrm>
            <a:off x="2434727" y="1355170"/>
            <a:ext cx="7315200" cy="4114800"/>
          </a:xfrm>
          <a:prstGeom prst="rect">
            <a:avLst/>
          </a:prstGeom>
          <a:noFill/>
          <a:ln>
            <a:noFill/>
          </a:ln>
        </p:spPr>
      </p:sp>
      <p:sp>
        <p:nvSpPr>
          <p:cNvPr id="33" name="Google Shape;33;p4"/>
          <p:cNvSpPr/>
          <p:nvPr/>
        </p:nvSpPr>
        <p:spPr>
          <a:xfrm>
            <a:off x="0" y="0"/>
            <a:ext cx="12225867" cy="134112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160">
              <a:solidFill>
                <a:schemeClr val="lt1"/>
              </a:solidFill>
              <a:latin typeface="Avenir"/>
              <a:ea typeface="Avenir"/>
              <a:cs typeface="Avenir"/>
              <a:sym typeface="Avenir"/>
            </a:endParaRPr>
          </a:p>
        </p:txBody>
      </p:sp>
      <p:sp>
        <p:nvSpPr>
          <p:cNvPr id="34" name="Google Shape;34;p4"/>
          <p:cNvSpPr/>
          <p:nvPr/>
        </p:nvSpPr>
        <p:spPr>
          <a:xfrm>
            <a:off x="985650" y="231845"/>
            <a:ext cx="1449077" cy="13041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160">
              <a:solidFill>
                <a:schemeClr val="lt1"/>
              </a:solidFill>
              <a:latin typeface="Avenir"/>
              <a:ea typeface="Avenir"/>
              <a:cs typeface="Avenir"/>
              <a:sym typeface="Avenir"/>
            </a:endParaRPr>
          </a:p>
        </p:txBody>
      </p:sp>
      <p:sp>
        <p:nvSpPr>
          <p:cNvPr id="35" name="Google Shape;35;p4"/>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A8E1"/>
              </a:buClr>
              <a:buSzPts val="4400"/>
              <a:buFont typeface="Twentieth Century"/>
              <a:buNone/>
              <a:defRPr>
                <a:solidFill>
                  <a:srgbClr val="00A8E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5"/>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43" name="Google Shape;43;p5"/>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6"/>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52" name="Google Shape;52;p6"/>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7"/>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3" name="Google Shape;63;p7"/>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8"/>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0" name="Google Shape;70;p8"/>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9"/>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6" name="Google Shape;76;p9"/>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0" name="Google Shape;80;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10"/>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5" name="Google Shape;85;p10"/>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p:nvPr>
            <p:ph idx="2" type="pic"/>
          </p:nvPr>
        </p:nvSpPr>
        <p:spPr>
          <a:xfrm>
            <a:off x="5183188" y="987425"/>
            <a:ext cx="6172200" cy="4873625"/>
          </a:xfrm>
          <a:prstGeom prst="rect">
            <a:avLst/>
          </a:prstGeom>
          <a:noFill/>
          <a:ln>
            <a:noFill/>
          </a:ln>
        </p:spPr>
      </p:sp>
      <p:sp>
        <p:nvSpPr>
          <p:cNvPr id="89" name="Google Shape;8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0" name="Google Shape;9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1"/>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94" name="Google Shape;94;p11"/>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1" name="Google Shape;101;p12"/>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2" name="Google Shape;102;p12"/>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3" name="Shape 103"/>
        <p:cNvGrpSpPr/>
        <p:nvPr/>
      </p:nvGrpSpPr>
      <p:grpSpPr>
        <a:xfrm>
          <a:off x="0" y="0"/>
          <a:ext cx="0" cy="0"/>
          <a:chOff x="0" y="0"/>
          <a:chExt cx="0" cy="0"/>
        </a:xfrm>
      </p:grpSpPr>
      <p:sp>
        <p:nvSpPr>
          <p:cNvPr id="104" name="Google Shape;104;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13"/>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10" name="Google Shape;110;p1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wentieth Century"/>
              <a:buNone/>
              <a:defRPr b="0" i="0" sz="44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venir"/>
                <a:ea typeface="Avenir"/>
                <a:cs typeface="Avenir"/>
                <a:sym typeface="Avenir"/>
              </a:defRPr>
            </a:lvl1pPr>
            <a:lvl2pPr indent="0" lvl="1" marL="0" marR="0" rtl="0" algn="r">
              <a:spcBef>
                <a:spcPts val="0"/>
              </a:spcBef>
              <a:buNone/>
              <a:defRPr b="0" i="0" sz="1200" u="none" cap="none" strike="noStrike">
                <a:solidFill>
                  <a:srgbClr val="888888"/>
                </a:solidFill>
                <a:latin typeface="Avenir"/>
                <a:ea typeface="Avenir"/>
                <a:cs typeface="Avenir"/>
                <a:sym typeface="Avenir"/>
              </a:defRPr>
            </a:lvl2pPr>
            <a:lvl3pPr indent="0" lvl="2" marL="0" marR="0" rtl="0" algn="r">
              <a:spcBef>
                <a:spcPts val="0"/>
              </a:spcBef>
              <a:buNone/>
              <a:defRPr b="0" i="0" sz="1200" u="none" cap="none" strike="noStrike">
                <a:solidFill>
                  <a:srgbClr val="888888"/>
                </a:solidFill>
                <a:latin typeface="Avenir"/>
                <a:ea typeface="Avenir"/>
                <a:cs typeface="Avenir"/>
                <a:sym typeface="Avenir"/>
              </a:defRPr>
            </a:lvl3pPr>
            <a:lvl4pPr indent="0" lvl="3" marL="0" marR="0" rtl="0" algn="r">
              <a:spcBef>
                <a:spcPts val="0"/>
              </a:spcBef>
              <a:buNone/>
              <a:defRPr b="0" i="0" sz="1200" u="none" cap="none" strike="noStrike">
                <a:solidFill>
                  <a:srgbClr val="888888"/>
                </a:solidFill>
                <a:latin typeface="Avenir"/>
                <a:ea typeface="Avenir"/>
                <a:cs typeface="Avenir"/>
                <a:sym typeface="Avenir"/>
              </a:defRPr>
            </a:lvl4pPr>
            <a:lvl5pPr indent="0" lvl="4" marL="0" marR="0" rtl="0" algn="r">
              <a:spcBef>
                <a:spcPts val="0"/>
              </a:spcBef>
              <a:buNone/>
              <a:defRPr b="0" i="0" sz="1200" u="none" cap="none" strike="noStrike">
                <a:solidFill>
                  <a:srgbClr val="888888"/>
                </a:solidFill>
                <a:latin typeface="Avenir"/>
                <a:ea typeface="Avenir"/>
                <a:cs typeface="Avenir"/>
                <a:sym typeface="Avenir"/>
              </a:defRPr>
            </a:lvl5pPr>
            <a:lvl6pPr indent="0" lvl="5" marL="0" marR="0" rtl="0" algn="r">
              <a:spcBef>
                <a:spcPts val="0"/>
              </a:spcBef>
              <a:buNone/>
              <a:defRPr b="0" i="0" sz="1200" u="none" cap="none" strike="noStrike">
                <a:solidFill>
                  <a:srgbClr val="888888"/>
                </a:solidFill>
                <a:latin typeface="Avenir"/>
                <a:ea typeface="Avenir"/>
                <a:cs typeface="Avenir"/>
                <a:sym typeface="Avenir"/>
              </a:defRPr>
            </a:lvl6pPr>
            <a:lvl7pPr indent="0" lvl="6" marL="0" marR="0" rtl="0" algn="r">
              <a:spcBef>
                <a:spcPts val="0"/>
              </a:spcBef>
              <a:buNone/>
              <a:defRPr b="0" i="0" sz="1200" u="none" cap="none" strike="noStrike">
                <a:solidFill>
                  <a:srgbClr val="888888"/>
                </a:solidFill>
                <a:latin typeface="Avenir"/>
                <a:ea typeface="Avenir"/>
                <a:cs typeface="Avenir"/>
                <a:sym typeface="Avenir"/>
              </a:defRPr>
            </a:lvl7pPr>
            <a:lvl8pPr indent="0" lvl="7" marL="0" marR="0" rtl="0" algn="r">
              <a:spcBef>
                <a:spcPts val="0"/>
              </a:spcBef>
              <a:buNone/>
              <a:defRPr b="0" i="0" sz="1200" u="none" cap="none" strike="noStrike">
                <a:solidFill>
                  <a:srgbClr val="888888"/>
                </a:solidFill>
                <a:latin typeface="Avenir"/>
                <a:ea typeface="Avenir"/>
                <a:cs typeface="Avenir"/>
                <a:sym typeface="Avenir"/>
              </a:defRPr>
            </a:lvl8pPr>
            <a:lvl9pPr indent="0" lvl="8" marL="0" marR="0" rtl="0" algn="r">
              <a:spcBef>
                <a:spcPts val="0"/>
              </a:spcBef>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1.jpg"/><Relationship Id="rId5"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1.jpg"/><Relationship Id="rId6" Type="http://schemas.openxmlformats.org/officeDocument/2006/relationships/image" Target="../media/image7.gif"/><Relationship Id="rId7" Type="http://schemas.openxmlformats.org/officeDocument/2006/relationships/image" Target="../media/image8.png"/><Relationship Id="rId8"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jpg"/><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14"/>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7" name="Google Shape;117;p14"/>
          <p:cNvSpPr txBox="1"/>
          <p:nvPr>
            <p:ph type="ctrTitle"/>
          </p:nvPr>
        </p:nvSpPr>
        <p:spPr>
          <a:xfrm>
            <a:off x="970908" y="1220919"/>
            <a:ext cx="5425781"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DD7E0E"/>
              </a:buClr>
              <a:buSzPts val="6000"/>
              <a:buFont typeface="Twentieth Century"/>
              <a:buNone/>
            </a:pPr>
            <a:r>
              <a:rPr lang="en-US">
                <a:solidFill>
                  <a:srgbClr val="DD7E0E"/>
                </a:solidFill>
              </a:rPr>
              <a:t>JAVA 101</a:t>
            </a:r>
            <a:endParaRPr/>
          </a:p>
        </p:txBody>
      </p:sp>
      <p:sp>
        <p:nvSpPr>
          <p:cNvPr id="118" name="Google Shape;118;p14"/>
          <p:cNvSpPr txBox="1"/>
          <p:nvPr>
            <p:ph idx="1" type="subTitle"/>
          </p:nvPr>
        </p:nvSpPr>
        <p:spPr>
          <a:xfrm>
            <a:off x="970908" y="3700594"/>
            <a:ext cx="5425781" cy="16557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Mert Alptekin</a:t>
            </a:r>
            <a:endParaRPr/>
          </a:p>
          <a:p>
            <a:pPr indent="0" lvl="0" marL="0" rtl="0" algn="l">
              <a:lnSpc>
                <a:spcPct val="90000"/>
              </a:lnSpc>
              <a:spcBef>
                <a:spcPts val="1000"/>
              </a:spcBef>
              <a:spcAft>
                <a:spcPts val="0"/>
              </a:spcAft>
              <a:buClr>
                <a:schemeClr val="dk1"/>
              </a:buClr>
              <a:buSzPts val="2400"/>
              <a:buNone/>
            </a:pPr>
            <a:r>
              <a:rPr b="1" lang="en-US"/>
              <a:t>Software Consultant</a:t>
            </a:r>
            <a:endParaRPr/>
          </a:p>
        </p:txBody>
      </p:sp>
      <p:sp>
        <p:nvSpPr>
          <p:cNvPr id="119" name="Google Shape;119;p14"/>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20" name="Google Shape;120;p14"/>
          <p:cNvSpPr/>
          <p:nvPr/>
        </p:nvSpPr>
        <p:spPr>
          <a:xfrm>
            <a:off x="6821310" y="2624479"/>
            <a:ext cx="812427" cy="812427"/>
          </a:xfrm>
          <a:prstGeom prst="ellipse">
            <a:avLst/>
          </a:prstGeom>
          <a:noFill/>
          <a:ln cap="flat" cmpd="sng" w="1270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21" name="Google Shape;121;p14"/>
          <p:cNvSpPr/>
          <p:nvPr/>
        </p:nvSpPr>
        <p:spPr>
          <a:xfrm rot="-5400000">
            <a:off x="8912417" y="1202394"/>
            <a:ext cx="2387600" cy="2387600"/>
          </a:xfrm>
          <a:prstGeom prst="blockArc">
            <a:avLst>
              <a:gd fmla="val 10800000" name="adj1"/>
              <a:gd fmla="val 0" name="adj2"/>
              <a:gd fmla="val 25000" name="adj3"/>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2" name="Google Shape;122;p14"/>
          <p:cNvSpPr/>
          <p:nvPr/>
        </p:nvSpPr>
        <p:spPr>
          <a:xfrm>
            <a:off x="6821310" y="0"/>
            <a:ext cx="2315251" cy="1550992"/>
          </a:xfrm>
          <a:custGeom>
            <a:rect b="b" l="l" r="r" t="t"/>
            <a:pathLst>
              <a:path extrusionOk="0" h="1550992" w="2315251">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cxnSp>
        <p:nvCxnSpPr>
          <p:cNvPr id="123" name="Google Shape;123;p14"/>
          <p:cNvCxnSpPr/>
          <p:nvPr/>
        </p:nvCxnSpPr>
        <p:spPr>
          <a:xfrm>
            <a:off x="11724638" y="1331572"/>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124" name="Google Shape;124;p14"/>
          <p:cNvSpPr/>
          <p:nvPr/>
        </p:nvSpPr>
        <p:spPr>
          <a:xfrm>
            <a:off x="11005550" y="4112081"/>
            <a:ext cx="1186451" cy="1771650"/>
          </a:xfrm>
          <a:custGeom>
            <a:rect b="b" l="l" r="r" t="t"/>
            <a:pathLst>
              <a:path extrusionOk="0" h="1771650" w="1186451">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5" name="Google Shape;125;p14"/>
          <p:cNvSpPr/>
          <p:nvPr/>
        </p:nvSpPr>
        <p:spPr>
          <a:xfrm rot="-607105">
            <a:off x="6086940" y="4145122"/>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6" name="Google Shape;126;p14"/>
          <p:cNvSpPr/>
          <p:nvPr/>
        </p:nvSpPr>
        <p:spPr>
          <a:xfrm>
            <a:off x="6821310" y="4962670"/>
            <a:ext cx="2643352" cy="1895331"/>
          </a:xfrm>
          <a:custGeom>
            <a:rect b="b" l="l" r="r" t="t"/>
            <a:pathLst>
              <a:path extrusionOk="0" h="1895331" w="2643352">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b="0" i="0" lang="en-US" sz="3200" u="none" cap="none" strike="noStrike">
                <a:solidFill>
                  <a:srgbClr val="DD7E0E"/>
                </a:solidFill>
                <a:latin typeface="Twentieth Century"/>
                <a:ea typeface="Twentieth Century"/>
                <a:cs typeface="Twentieth Century"/>
                <a:sym typeface="Twentieth Century"/>
              </a:rPr>
              <a:t>Eğitim</a:t>
            </a:r>
            <a:r>
              <a:rPr b="0" i="0" lang="en-US" sz="3200" u="none" cap="none" strike="noStrike">
                <a:solidFill>
                  <a:srgbClr val="000000"/>
                </a:solidFill>
                <a:latin typeface="Twentieth Century"/>
                <a:ea typeface="Twentieth Century"/>
                <a:cs typeface="Twentieth Century"/>
                <a:sym typeface="Twentieth Century"/>
              </a:rPr>
              <a:t> </a:t>
            </a:r>
            <a:r>
              <a:rPr b="0" i="0" lang="en-US" sz="3200" u="none" cap="none" strike="noStrike">
                <a:solidFill>
                  <a:srgbClr val="DD7E0E"/>
                </a:solidFill>
                <a:latin typeface="Twentieth Century"/>
                <a:ea typeface="Twentieth Century"/>
                <a:cs typeface="Twentieth Century"/>
                <a:sym typeface="Twentieth Century"/>
              </a:rPr>
              <a:t>Kataloğu</a:t>
            </a:r>
            <a:r>
              <a:rPr b="0" i="0" lang="en-US" sz="3200" u="none" cap="none" strike="noStrike">
                <a:solidFill>
                  <a:srgbClr val="000000"/>
                </a:solidFill>
                <a:latin typeface="Twentieth Century"/>
                <a:ea typeface="Twentieth Century"/>
                <a:cs typeface="Twentieth Century"/>
                <a:sym typeface="Twentieth Century"/>
              </a:rPr>
              <a:t>	</a:t>
            </a:r>
            <a:endParaRPr/>
          </a:p>
        </p:txBody>
      </p:sp>
      <p:sp>
        <p:nvSpPr>
          <p:cNvPr id="133" name="Google Shape;133;p15"/>
          <p:cNvSpPr txBox="1"/>
          <p:nvPr>
            <p:ph idx="1" type="body"/>
          </p:nvPr>
        </p:nvSpPr>
        <p:spPr>
          <a:xfrm>
            <a:off x="838200" y="1367161"/>
            <a:ext cx="10738282" cy="512571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000"/>
              <a:buNone/>
            </a:pPr>
            <a:r>
              <a:t/>
            </a:r>
            <a:endParaRPr sz="2000">
              <a:solidFill>
                <a:srgbClr val="DD7E0E"/>
              </a:solidFill>
            </a:endParaRPr>
          </a:p>
          <a:p>
            <a:pPr indent="0" lvl="0" marL="0" rtl="0" algn="l">
              <a:lnSpc>
                <a:spcPct val="90000"/>
              </a:lnSpc>
              <a:spcBef>
                <a:spcPts val="0"/>
              </a:spcBef>
              <a:spcAft>
                <a:spcPts val="0"/>
              </a:spcAft>
              <a:buClr>
                <a:srgbClr val="DD7E0E"/>
              </a:buClr>
              <a:buSzPts val="2000"/>
              <a:buNone/>
            </a:pPr>
            <a:r>
              <a:t/>
            </a:r>
            <a:endParaRPr sz="1800">
              <a:solidFill>
                <a:srgbClr val="DD7E0E"/>
              </a:solidFill>
            </a:endParaRPr>
          </a:p>
          <a:p>
            <a:pPr indent="0" lvl="0" marL="0" rtl="0" algn="l">
              <a:lnSpc>
                <a:spcPct val="90000"/>
              </a:lnSpc>
              <a:spcBef>
                <a:spcPts val="0"/>
              </a:spcBef>
              <a:spcAft>
                <a:spcPts val="0"/>
              </a:spcAft>
              <a:buClr>
                <a:srgbClr val="DD7E0E"/>
              </a:buClr>
              <a:buSzPts val="2000"/>
              <a:buNone/>
            </a:pPr>
            <a:r>
              <a:rPr lang="en-US" sz="1800">
                <a:solidFill>
                  <a:srgbClr val="DD7E0E"/>
                </a:solidFill>
              </a:rPr>
              <a:t>Java </a:t>
            </a:r>
            <a:r>
              <a:rPr lang="en-US" sz="1800">
                <a:solidFill>
                  <a:srgbClr val="DD7E0E"/>
                </a:solidFill>
              </a:rPr>
              <a:t>Platformu</a:t>
            </a:r>
            <a:endParaRPr sz="1800">
              <a:solidFill>
                <a:srgbClr val="DD7E0E"/>
              </a:solidFill>
            </a:endParaRPr>
          </a:p>
          <a:p>
            <a:pPr indent="0" lvl="0" marL="0" rtl="0" algn="l">
              <a:lnSpc>
                <a:spcPct val="90000"/>
              </a:lnSpc>
              <a:spcBef>
                <a:spcPts val="0"/>
              </a:spcBef>
              <a:spcAft>
                <a:spcPts val="0"/>
              </a:spcAft>
              <a:buClr>
                <a:srgbClr val="DD7E0E"/>
              </a:buClr>
              <a:buSzPts val="2000"/>
              <a:buNone/>
            </a:pPr>
            <a:r>
              <a:t/>
            </a:r>
            <a:endParaRPr sz="1800">
              <a:solidFill>
                <a:srgbClr val="DD7E0E"/>
              </a:solidFill>
            </a:endParaRPr>
          </a:p>
          <a:p>
            <a:pPr indent="-215900" lvl="1" marL="685800" rtl="0" algn="l">
              <a:lnSpc>
                <a:spcPct val="90000"/>
              </a:lnSpc>
              <a:spcBef>
                <a:spcPts val="500"/>
              </a:spcBef>
              <a:spcAft>
                <a:spcPts val="0"/>
              </a:spcAft>
              <a:buClr>
                <a:schemeClr val="dk1"/>
              </a:buClr>
              <a:buSzPts val="1800"/>
              <a:buChar char="•"/>
            </a:pPr>
            <a:r>
              <a:rPr lang="en-US" sz="1800"/>
              <a:t>Java Nedir ?</a:t>
            </a:r>
            <a:endParaRPr sz="1800"/>
          </a:p>
          <a:p>
            <a:pPr indent="-215900" lvl="1" marL="685800" rtl="0" algn="l">
              <a:lnSpc>
                <a:spcPct val="90000"/>
              </a:lnSpc>
              <a:spcBef>
                <a:spcPts val="500"/>
              </a:spcBef>
              <a:spcAft>
                <a:spcPts val="0"/>
              </a:spcAft>
              <a:buSzPts val="1800"/>
              <a:buChar char="•"/>
            </a:pPr>
            <a:r>
              <a:rPr lang="en-US" sz="1800"/>
              <a:t>Java Mimarisi</a:t>
            </a:r>
            <a:endParaRPr sz="1800"/>
          </a:p>
          <a:p>
            <a:pPr indent="-215900" lvl="1" marL="685800" rtl="0" algn="l">
              <a:lnSpc>
                <a:spcPct val="90000"/>
              </a:lnSpc>
              <a:spcBef>
                <a:spcPts val="500"/>
              </a:spcBef>
              <a:spcAft>
                <a:spcPts val="0"/>
              </a:spcAft>
              <a:buSzPts val="1800"/>
              <a:buChar char="•"/>
            </a:pPr>
            <a:r>
              <a:rPr lang="en-US" sz="1800"/>
              <a:t>JVM ve ByteCode kavramı</a:t>
            </a:r>
            <a:endParaRPr sz="1800"/>
          </a:p>
          <a:p>
            <a:pPr indent="-215900" lvl="1" marL="685800" rtl="0" algn="l">
              <a:lnSpc>
                <a:spcPct val="90000"/>
              </a:lnSpc>
              <a:spcBef>
                <a:spcPts val="500"/>
              </a:spcBef>
              <a:spcAft>
                <a:spcPts val="0"/>
              </a:spcAft>
              <a:buSzPts val="1800"/>
              <a:buChar char="•"/>
            </a:pPr>
            <a:r>
              <a:rPr lang="en-US" sz="1800"/>
              <a:t>JRE, JDK, JAR, JAVA API kavramları</a:t>
            </a:r>
            <a:endParaRPr sz="1800"/>
          </a:p>
          <a:p>
            <a:pPr indent="-215900" lvl="1" marL="685800" rtl="0" algn="l">
              <a:lnSpc>
                <a:spcPct val="90000"/>
              </a:lnSpc>
              <a:spcBef>
                <a:spcPts val="500"/>
              </a:spcBef>
              <a:spcAft>
                <a:spcPts val="0"/>
              </a:spcAft>
              <a:buSzPts val="1800"/>
              <a:buChar char="•"/>
            </a:pPr>
            <a:r>
              <a:rPr lang="en-US" sz="1800"/>
              <a:t>Package Kavramı</a:t>
            </a:r>
            <a:endParaRPr sz="1800"/>
          </a:p>
          <a:p>
            <a:pPr indent="-215900" lvl="1" marL="685800" rtl="0" algn="l">
              <a:lnSpc>
                <a:spcPct val="90000"/>
              </a:lnSpc>
              <a:spcBef>
                <a:spcPts val="500"/>
              </a:spcBef>
              <a:spcAft>
                <a:spcPts val="0"/>
              </a:spcAft>
              <a:buClr>
                <a:schemeClr val="dk1"/>
              </a:buClr>
              <a:buSzPts val="1800"/>
              <a:buChar char="•"/>
            </a:pPr>
            <a:r>
              <a:rPr lang="en-US" sz="1800"/>
              <a:t>Java Sürümleri, (Java SE, JAVA EE, JAVA ME)</a:t>
            </a:r>
            <a:endParaRPr sz="1800"/>
          </a:p>
          <a:p>
            <a:pPr indent="-215900" lvl="1" marL="685800" rtl="0" algn="l">
              <a:lnSpc>
                <a:spcPct val="90000"/>
              </a:lnSpc>
              <a:spcBef>
                <a:spcPts val="500"/>
              </a:spcBef>
              <a:spcAft>
                <a:spcPts val="0"/>
              </a:spcAft>
              <a:buClr>
                <a:schemeClr val="dk1"/>
              </a:buClr>
              <a:buSzPts val="1800"/>
              <a:buChar char="•"/>
            </a:pPr>
            <a:r>
              <a:rPr lang="en-US" sz="1800"/>
              <a:t>Java Ortamı Kurulumu (JDK)</a:t>
            </a:r>
            <a:endParaRPr sz="1800"/>
          </a:p>
          <a:p>
            <a:pPr indent="-215900" lvl="1" marL="685800" rtl="0" algn="l">
              <a:lnSpc>
                <a:spcPct val="90000"/>
              </a:lnSpc>
              <a:spcBef>
                <a:spcPts val="500"/>
              </a:spcBef>
              <a:spcAft>
                <a:spcPts val="0"/>
              </a:spcAft>
              <a:buClr>
                <a:schemeClr val="dk1"/>
              </a:buClr>
              <a:buSzPts val="1800"/>
              <a:buChar char="•"/>
            </a:pPr>
            <a:r>
              <a:rPr lang="en-US" sz="1800"/>
              <a:t>IDE’ler (Eclipse, IntelliJ)</a:t>
            </a:r>
            <a:endParaRPr sz="1800"/>
          </a:p>
          <a:p>
            <a:pPr indent="0" lvl="0" marL="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b="0" i="0" lang="en-US" sz="3200" u="none" cap="none" strike="noStrike">
                <a:solidFill>
                  <a:srgbClr val="DD7E0E"/>
                </a:solidFill>
                <a:latin typeface="Twentieth Century"/>
                <a:ea typeface="Twentieth Century"/>
                <a:cs typeface="Twentieth Century"/>
                <a:sym typeface="Twentieth Century"/>
              </a:rPr>
              <a:t>Eğitim</a:t>
            </a:r>
            <a:r>
              <a:rPr b="0" i="0" lang="en-US" sz="3200" u="none" cap="none" strike="noStrike">
                <a:solidFill>
                  <a:srgbClr val="000000"/>
                </a:solidFill>
                <a:latin typeface="Twentieth Century"/>
                <a:ea typeface="Twentieth Century"/>
                <a:cs typeface="Twentieth Century"/>
                <a:sym typeface="Twentieth Century"/>
              </a:rPr>
              <a:t> </a:t>
            </a:r>
            <a:r>
              <a:rPr b="0" i="0" lang="en-US" sz="3200" u="none" cap="none" strike="noStrike">
                <a:solidFill>
                  <a:srgbClr val="DD7E0E"/>
                </a:solidFill>
                <a:latin typeface="Twentieth Century"/>
                <a:ea typeface="Twentieth Century"/>
                <a:cs typeface="Twentieth Century"/>
                <a:sym typeface="Twentieth Century"/>
              </a:rPr>
              <a:t>Kataloğu</a:t>
            </a:r>
            <a:r>
              <a:rPr b="0" i="0" lang="en-US" sz="3200" u="none" cap="none" strike="noStrike">
                <a:solidFill>
                  <a:srgbClr val="000000"/>
                </a:solidFill>
                <a:latin typeface="Twentieth Century"/>
                <a:ea typeface="Twentieth Century"/>
                <a:cs typeface="Twentieth Century"/>
                <a:sym typeface="Twentieth Century"/>
              </a:rPr>
              <a:t>	</a:t>
            </a:r>
            <a:endParaRPr/>
          </a:p>
        </p:txBody>
      </p:sp>
      <p:sp>
        <p:nvSpPr>
          <p:cNvPr id="140" name="Google Shape;140;p16"/>
          <p:cNvSpPr txBox="1"/>
          <p:nvPr>
            <p:ph idx="1" type="body"/>
          </p:nvPr>
        </p:nvSpPr>
        <p:spPr>
          <a:xfrm>
            <a:off x="838200" y="1367161"/>
            <a:ext cx="10738282" cy="5125714"/>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rgbClr val="DD7E0E"/>
              </a:buClr>
              <a:buSzPts val="1600"/>
              <a:buNone/>
            </a:pPr>
            <a:r>
              <a:t/>
            </a:r>
            <a:endParaRPr sz="1800"/>
          </a:p>
          <a:p>
            <a:pPr indent="0" lvl="0" marL="0" rtl="0" algn="l">
              <a:spcBef>
                <a:spcPts val="0"/>
              </a:spcBef>
              <a:spcAft>
                <a:spcPts val="0"/>
              </a:spcAft>
              <a:buClr>
                <a:srgbClr val="DD7E0E"/>
              </a:buClr>
              <a:buSzPts val="2000"/>
              <a:buNone/>
            </a:pPr>
            <a:r>
              <a:t/>
            </a:r>
            <a:endParaRPr sz="1800">
              <a:solidFill>
                <a:srgbClr val="DD7E0E"/>
              </a:solidFill>
            </a:endParaRPr>
          </a:p>
          <a:p>
            <a:pPr indent="0" lvl="0" marL="0" rtl="0" algn="l">
              <a:spcBef>
                <a:spcPts val="0"/>
              </a:spcBef>
              <a:spcAft>
                <a:spcPts val="0"/>
              </a:spcAft>
              <a:buClr>
                <a:srgbClr val="DD7E0E"/>
              </a:buClr>
              <a:buSzPts val="2000"/>
              <a:buNone/>
            </a:pPr>
            <a:r>
              <a:t/>
            </a:r>
            <a:endParaRPr sz="1800">
              <a:solidFill>
                <a:srgbClr val="DD7E0E"/>
              </a:solidFill>
            </a:endParaRPr>
          </a:p>
          <a:p>
            <a:pPr indent="0" lvl="0" marL="0" rtl="0" algn="l">
              <a:spcBef>
                <a:spcPts val="0"/>
              </a:spcBef>
              <a:spcAft>
                <a:spcPts val="0"/>
              </a:spcAft>
              <a:buClr>
                <a:srgbClr val="DD7E0E"/>
              </a:buClr>
              <a:buSzPts val="2000"/>
              <a:buFont typeface="Arial"/>
              <a:buNone/>
            </a:pPr>
            <a:r>
              <a:rPr lang="en-US" sz="1800">
                <a:solidFill>
                  <a:srgbClr val="DD7E0E"/>
                </a:solidFill>
              </a:rPr>
              <a:t>Temel Programlama</a:t>
            </a:r>
            <a:endParaRPr sz="1800"/>
          </a:p>
          <a:p>
            <a:pPr indent="0" lvl="1" marL="457200" rtl="0" algn="l">
              <a:lnSpc>
                <a:spcPct val="90000"/>
              </a:lnSpc>
              <a:spcBef>
                <a:spcPts val="0"/>
              </a:spcBef>
              <a:spcAft>
                <a:spcPts val="0"/>
              </a:spcAft>
              <a:buClr>
                <a:srgbClr val="DD7E0E"/>
              </a:buClr>
              <a:buSzPts val="1600"/>
              <a:buNone/>
            </a:pPr>
            <a:r>
              <a:t/>
            </a:r>
            <a:endParaRPr sz="1800"/>
          </a:p>
          <a:p>
            <a:pPr indent="-342900" lvl="0" marL="457200" rtl="0" algn="l">
              <a:lnSpc>
                <a:spcPct val="90000"/>
              </a:lnSpc>
              <a:spcBef>
                <a:spcPts val="0"/>
              </a:spcBef>
              <a:spcAft>
                <a:spcPts val="0"/>
              </a:spcAft>
              <a:buSzPts val="1800"/>
              <a:buChar char="•"/>
            </a:pPr>
            <a:r>
              <a:rPr lang="en-US" sz="1800"/>
              <a:t>Veri Tipleri</a:t>
            </a:r>
            <a:endParaRPr sz="1800"/>
          </a:p>
          <a:p>
            <a:pPr indent="-342900" lvl="0" marL="457200" rtl="0" algn="l">
              <a:lnSpc>
                <a:spcPct val="90000"/>
              </a:lnSpc>
              <a:spcBef>
                <a:spcPts val="0"/>
              </a:spcBef>
              <a:spcAft>
                <a:spcPts val="0"/>
              </a:spcAft>
              <a:buSzPts val="1800"/>
              <a:buChar char="•"/>
            </a:pPr>
            <a:r>
              <a:rPr lang="en-US" sz="1800"/>
              <a:t>Değişkenler</a:t>
            </a:r>
            <a:endParaRPr sz="1800"/>
          </a:p>
          <a:p>
            <a:pPr indent="-342900" lvl="0" marL="457200" rtl="0" algn="l">
              <a:lnSpc>
                <a:spcPct val="90000"/>
              </a:lnSpc>
              <a:spcBef>
                <a:spcPts val="0"/>
              </a:spcBef>
              <a:spcAft>
                <a:spcPts val="0"/>
              </a:spcAft>
              <a:buSzPts val="1800"/>
              <a:buChar char="•"/>
            </a:pPr>
            <a:r>
              <a:rPr lang="en-US" sz="1800"/>
              <a:t>Tip Dönüşümleri</a:t>
            </a:r>
            <a:endParaRPr sz="1800"/>
          </a:p>
          <a:p>
            <a:pPr indent="-342900" lvl="0" marL="457200" rtl="0" algn="l">
              <a:lnSpc>
                <a:spcPct val="90000"/>
              </a:lnSpc>
              <a:spcBef>
                <a:spcPts val="0"/>
              </a:spcBef>
              <a:spcAft>
                <a:spcPts val="0"/>
              </a:spcAft>
              <a:buSzPts val="1800"/>
              <a:buChar char="•"/>
            </a:pPr>
            <a:r>
              <a:rPr lang="en-US" sz="1800"/>
              <a:t>Operatörler </a:t>
            </a:r>
            <a:endParaRPr sz="1800"/>
          </a:p>
          <a:p>
            <a:pPr indent="-342900" lvl="0" marL="457200" rtl="0" algn="l">
              <a:lnSpc>
                <a:spcPct val="90000"/>
              </a:lnSpc>
              <a:spcBef>
                <a:spcPts val="0"/>
              </a:spcBef>
              <a:spcAft>
                <a:spcPts val="0"/>
              </a:spcAft>
              <a:buSzPts val="1800"/>
              <a:buChar char="•"/>
            </a:pPr>
            <a:r>
              <a:rPr lang="en-US" sz="1800"/>
              <a:t>Koşullu İfadeler </a:t>
            </a:r>
            <a:endParaRPr sz="1800"/>
          </a:p>
          <a:p>
            <a:pPr indent="-342900" lvl="0" marL="457200" rtl="0" algn="l">
              <a:lnSpc>
                <a:spcPct val="90000"/>
              </a:lnSpc>
              <a:spcBef>
                <a:spcPts val="0"/>
              </a:spcBef>
              <a:spcAft>
                <a:spcPts val="0"/>
              </a:spcAft>
              <a:buSzPts val="1800"/>
              <a:buChar char="•"/>
            </a:pPr>
            <a:r>
              <a:rPr lang="en-US" sz="1800"/>
              <a:t>Döngüler</a:t>
            </a:r>
            <a:endParaRPr sz="1800"/>
          </a:p>
          <a:p>
            <a:pPr indent="-342900" lvl="0" marL="457200" rtl="0" algn="l">
              <a:lnSpc>
                <a:spcPct val="90000"/>
              </a:lnSpc>
              <a:spcBef>
                <a:spcPts val="0"/>
              </a:spcBef>
              <a:spcAft>
                <a:spcPts val="0"/>
              </a:spcAft>
              <a:buSzPts val="1800"/>
              <a:buChar char="•"/>
            </a:pPr>
            <a:r>
              <a:rPr lang="en-US" sz="1800"/>
              <a:t>Diziler</a:t>
            </a:r>
            <a:endParaRPr sz="1800"/>
          </a:p>
          <a:p>
            <a:pPr indent="-342900" lvl="0" marL="457200" rtl="0" algn="l">
              <a:lnSpc>
                <a:spcPct val="90000"/>
              </a:lnSpc>
              <a:spcBef>
                <a:spcPts val="0"/>
              </a:spcBef>
              <a:spcAft>
                <a:spcPts val="0"/>
              </a:spcAft>
              <a:buSzPts val="1800"/>
              <a:buChar char="•"/>
            </a:pPr>
            <a:r>
              <a:rPr lang="en-US" sz="1800"/>
              <a:t>Metotlar</a:t>
            </a:r>
            <a:endParaRPr sz="1800"/>
          </a:p>
          <a:p>
            <a:pPr indent="-342900" lvl="0" marL="457200" rtl="0" algn="l">
              <a:lnSpc>
                <a:spcPct val="90000"/>
              </a:lnSpc>
              <a:spcBef>
                <a:spcPts val="0"/>
              </a:spcBef>
              <a:spcAft>
                <a:spcPts val="0"/>
              </a:spcAft>
              <a:buSzPts val="1800"/>
              <a:buChar char="•"/>
            </a:pPr>
            <a:r>
              <a:rPr lang="en-US" sz="1800"/>
              <a:t>Hata Yakalama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b="0" i="0" lang="en-US" sz="3200" u="none" cap="none" strike="noStrike">
                <a:solidFill>
                  <a:srgbClr val="DD7E0E"/>
                </a:solidFill>
                <a:latin typeface="Twentieth Century"/>
                <a:ea typeface="Twentieth Century"/>
                <a:cs typeface="Twentieth Century"/>
                <a:sym typeface="Twentieth Century"/>
              </a:rPr>
              <a:t>Eğitim</a:t>
            </a:r>
            <a:r>
              <a:rPr b="0" i="0" lang="en-US" sz="3200" u="none" cap="none" strike="noStrike">
                <a:solidFill>
                  <a:srgbClr val="000000"/>
                </a:solidFill>
                <a:latin typeface="Twentieth Century"/>
                <a:ea typeface="Twentieth Century"/>
                <a:cs typeface="Twentieth Century"/>
                <a:sym typeface="Twentieth Century"/>
              </a:rPr>
              <a:t> </a:t>
            </a:r>
            <a:r>
              <a:rPr b="0" i="0" lang="en-US" sz="3200" u="none" cap="none" strike="noStrike">
                <a:solidFill>
                  <a:srgbClr val="DD7E0E"/>
                </a:solidFill>
                <a:latin typeface="Twentieth Century"/>
                <a:ea typeface="Twentieth Century"/>
                <a:cs typeface="Twentieth Century"/>
                <a:sym typeface="Twentieth Century"/>
              </a:rPr>
              <a:t>Kataloğu</a:t>
            </a:r>
            <a:r>
              <a:rPr b="0" i="0" lang="en-US" sz="3200" u="none" cap="none" strike="noStrike">
                <a:solidFill>
                  <a:srgbClr val="000000"/>
                </a:solidFill>
                <a:latin typeface="Twentieth Century"/>
                <a:ea typeface="Twentieth Century"/>
                <a:cs typeface="Twentieth Century"/>
                <a:sym typeface="Twentieth Century"/>
              </a:rPr>
              <a:t>	</a:t>
            </a:r>
            <a:endParaRPr/>
          </a:p>
        </p:txBody>
      </p:sp>
      <p:sp>
        <p:nvSpPr>
          <p:cNvPr id="147" name="Google Shape;147;p17"/>
          <p:cNvSpPr txBox="1"/>
          <p:nvPr>
            <p:ph idx="1" type="body"/>
          </p:nvPr>
        </p:nvSpPr>
        <p:spPr>
          <a:xfrm>
            <a:off x="838200" y="1367161"/>
            <a:ext cx="10738282" cy="5125714"/>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rgbClr val="DD7E0E"/>
              </a:buClr>
              <a:buSzPts val="2000"/>
              <a:buNone/>
            </a:pPr>
            <a:r>
              <a:t/>
            </a:r>
            <a:endParaRPr sz="1800">
              <a:solidFill>
                <a:srgbClr val="DD7E0E"/>
              </a:solidFill>
            </a:endParaRPr>
          </a:p>
          <a:p>
            <a:pPr indent="0" lvl="1" marL="457200" rtl="0" algn="l">
              <a:lnSpc>
                <a:spcPct val="90000"/>
              </a:lnSpc>
              <a:spcBef>
                <a:spcPts val="0"/>
              </a:spcBef>
              <a:spcAft>
                <a:spcPts val="0"/>
              </a:spcAft>
              <a:buClr>
                <a:srgbClr val="DD7E0E"/>
              </a:buClr>
              <a:buSzPts val="2000"/>
              <a:buNone/>
            </a:pPr>
            <a:r>
              <a:t/>
            </a:r>
            <a:endParaRPr sz="1800">
              <a:solidFill>
                <a:srgbClr val="DD7E0E"/>
              </a:solidFill>
            </a:endParaRPr>
          </a:p>
          <a:p>
            <a:pPr indent="0" lvl="1" marL="457200" rtl="0" algn="l">
              <a:lnSpc>
                <a:spcPct val="90000"/>
              </a:lnSpc>
              <a:spcBef>
                <a:spcPts val="0"/>
              </a:spcBef>
              <a:spcAft>
                <a:spcPts val="0"/>
              </a:spcAft>
              <a:buClr>
                <a:srgbClr val="DD7E0E"/>
              </a:buClr>
              <a:buSzPts val="2000"/>
              <a:buNone/>
            </a:pPr>
            <a:r>
              <a:t/>
            </a:r>
            <a:endParaRPr sz="1800">
              <a:solidFill>
                <a:srgbClr val="DD7E0E"/>
              </a:solidFill>
            </a:endParaRPr>
          </a:p>
          <a:p>
            <a:pPr indent="0" lvl="1" marL="457200" rtl="0" algn="l">
              <a:lnSpc>
                <a:spcPct val="90000"/>
              </a:lnSpc>
              <a:spcBef>
                <a:spcPts val="0"/>
              </a:spcBef>
              <a:spcAft>
                <a:spcPts val="0"/>
              </a:spcAft>
              <a:buClr>
                <a:srgbClr val="DD7E0E"/>
              </a:buClr>
              <a:buSzPts val="2000"/>
              <a:buNone/>
            </a:pPr>
            <a:r>
              <a:t/>
            </a:r>
            <a:endParaRPr sz="1800">
              <a:solidFill>
                <a:srgbClr val="DD7E0E"/>
              </a:solidFill>
            </a:endParaRPr>
          </a:p>
          <a:p>
            <a:pPr indent="0" lvl="1" marL="457200" rtl="0" algn="l">
              <a:lnSpc>
                <a:spcPct val="90000"/>
              </a:lnSpc>
              <a:spcBef>
                <a:spcPts val="0"/>
              </a:spcBef>
              <a:spcAft>
                <a:spcPts val="0"/>
              </a:spcAft>
              <a:buClr>
                <a:srgbClr val="DD7E0E"/>
              </a:buClr>
              <a:buSzPts val="2000"/>
              <a:buNone/>
            </a:pPr>
            <a:r>
              <a:rPr lang="en-US" sz="1800">
                <a:solidFill>
                  <a:srgbClr val="DD7E0E"/>
                </a:solidFill>
              </a:rPr>
              <a:t>Nesne yönelimli </a:t>
            </a:r>
            <a:r>
              <a:rPr lang="en-US" sz="1800">
                <a:solidFill>
                  <a:srgbClr val="DD7E0E"/>
                </a:solidFill>
              </a:rPr>
              <a:t>Programlama (OOP)</a:t>
            </a:r>
            <a:endParaRPr sz="1800">
              <a:solidFill>
                <a:srgbClr val="DD7E0E"/>
              </a:solidFill>
            </a:endParaRPr>
          </a:p>
          <a:p>
            <a:pPr indent="0" lvl="1" marL="457200" rtl="0" algn="l">
              <a:lnSpc>
                <a:spcPct val="90000"/>
              </a:lnSpc>
              <a:spcBef>
                <a:spcPts val="0"/>
              </a:spcBef>
              <a:spcAft>
                <a:spcPts val="0"/>
              </a:spcAft>
              <a:buClr>
                <a:srgbClr val="DD7E0E"/>
              </a:buClr>
              <a:buSzPts val="2000"/>
              <a:buNone/>
            </a:pPr>
            <a:r>
              <a:t/>
            </a:r>
            <a:endParaRPr sz="1800">
              <a:solidFill>
                <a:srgbClr val="DD7E0E"/>
              </a:solidFill>
            </a:endParaRPr>
          </a:p>
          <a:p>
            <a:pPr indent="-241300" lvl="2" marL="1143000" rtl="0" algn="l">
              <a:lnSpc>
                <a:spcPct val="90000"/>
              </a:lnSpc>
              <a:spcBef>
                <a:spcPts val="500"/>
              </a:spcBef>
              <a:spcAft>
                <a:spcPts val="0"/>
              </a:spcAft>
              <a:buClr>
                <a:schemeClr val="dk1"/>
              </a:buClr>
              <a:buSzPts val="1800"/>
              <a:buChar char="•"/>
            </a:pPr>
            <a:r>
              <a:rPr lang="en-US" sz="1800"/>
              <a:t>Nesne Kavramı</a:t>
            </a:r>
            <a:endParaRPr sz="1800"/>
          </a:p>
          <a:p>
            <a:pPr indent="-241300" lvl="2" marL="1143000" rtl="0" algn="l">
              <a:lnSpc>
                <a:spcPct val="90000"/>
              </a:lnSpc>
              <a:spcBef>
                <a:spcPts val="500"/>
              </a:spcBef>
              <a:spcAft>
                <a:spcPts val="0"/>
              </a:spcAft>
              <a:buClr>
                <a:schemeClr val="dk1"/>
              </a:buClr>
              <a:buSzPts val="1800"/>
              <a:buChar char="•"/>
            </a:pPr>
            <a:r>
              <a:rPr lang="en-US" sz="1800"/>
              <a:t>Sınıf Kavramı</a:t>
            </a:r>
            <a:endParaRPr sz="1800"/>
          </a:p>
          <a:p>
            <a:pPr indent="-241300" lvl="2" marL="1143000" rtl="0" algn="l">
              <a:lnSpc>
                <a:spcPct val="90000"/>
              </a:lnSpc>
              <a:spcBef>
                <a:spcPts val="500"/>
              </a:spcBef>
              <a:spcAft>
                <a:spcPts val="0"/>
              </a:spcAft>
              <a:buClr>
                <a:schemeClr val="dk1"/>
              </a:buClr>
              <a:buSzPts val="1800"/>
              <a:buChar char="•"/>
            </a:pPr>
            <a:r>
              <a:rPr lang="en-US" sz="1800"/>
              <a:t>Instance </a:t>
            </a:r>
            <a:r>
              <a:rPr lang="en-US" sz="1800"/>
              <a:t> Kavramı</a:t>
            </a:r>
            <a:endParaRPr sz="1800"/>
          </a:p>
          <a:p>
            <a:pPr indent="-241300" lvl="2" marL="1143000" rtl="0" algn="l">
              <a:lnSpc>
                <a:spcPct val="90000"/>
              </a:lnSpc>
              <a:spcBef>
                <a:spcPts val="500"/>
              </a:spcBef>
              <a:spcAft>
                <a:spcPts val="0"/>
              </a:spcAft>
              <a:buClr>
                <a:schemeClr val="dk1"/>
              </a:buClr>
              <a:buSzPts val="1800"/>
              <a:buChar char="•"/>
            </a:pPr>
            <a:r>
              <a:rPr lang="en-US" sz="1800"/>
              <a:t>Sınıf Üyeler</a:t>
            </a:r>
            <a:endParaRPr sz="1800"/>
          </a:p>
          <a:p>
            <a:pPr indent="-241300" lvl="2" marL="1143000" rtl="0" algn="l">
              <a:lnSpc>
                <a:spcPct val="90000"/>
              </a:lnSpc>
              <a:spcBef>
                <a:spcPts val="500"/>
              </a:spcBef>
              <a:spcAft>
                <a:spcPts val="0"/>
              </a:spcAft>
              <a:buClr>
                <a:schemeClr val="dk1"/>
              </a:buClr>
              <a:buSzPts val="1800"/>
              <a:buChar char="•"/>
            </a:pPr>
            <a:r>
              <a:rPr lang="en-US" sz="1800"/>
              <a:t>Referans ve Value Tipleri</a:t>
            </a:r>
            <a:endParaRPr sz="1800"/>
          </a:p>
          <a:p>
            <a:pPr indent="-241300" lvl="2" marL="1143000" rtl="0" algn="l">
              <a:lnSpc>
                <a:spcPct val="90000"/>
              </a:lnSpc>
              <a:spcBef>
                <a:spcPts val="500"/>
              </a:spcBef>
              <a:spcAft>
                <a:spcPts val="0"/>
              </a:spcAft>
              <a:buSzPts val="1800"/>
              <a:buChar char="•"/>
            </a:pPr>
            <a:r>
              <a:rPr lang="en-US" sz="1800"/>
              <a:t>OOP İlkeleri</a:t>
            </a:r>
            <a:endParaRPr sz="1800"/>
          </a:p>
          <a:p>
            <a:pPr indent="-241300" lvl="2" marL="1143000" rtl="0" algn="l">
              <a:lnSpc>
                <a:spcPct val="90000"/>
              </a:lnSpc>
              <a:spcBef>
                <a:spcPts val="500"/>
              </a:spcBef>
              <a:spcAft>
                <a:spcPts val="0"/>
              </a:spcAft>
              <a:buSzPts val="1800"/>
              <a:buChar char="•"/>
            </a:pPr>
            <a:r>
              <a:rPr lang="en-US" sz="1800"/>
              <a:t>Statik Sınıflar</a:t>
            </a:r>
            <a:endParaRPr sz="1800"/>
          </a:p>
          <a:p>
            <a:pPr indent="-241300" lvl="2" marL="1143000" rtl="0" algn="l">
              <a:lnSpc>
                <a:spcPct val="90000"/>
              </a:lnSpc>
              <a:spcBef>
                <a:spcPts val="500"/>
              </a:spcBef>
              <a:spcAft>
                <a:spcPts val="0"/>
              </a:spcAft>
              <a:buSzPts val="1800"/>
              <a:buChar char="•"/>
            </a:pPr>
            <a:r>
              <a:rPr lang="en-US" sz="1800"/>
              <a:t>Abstract Sınıflar</a:t>
            </a:r>
            <a:endParaRPr sz="1800"/>
          </a:p>
          <a:p>
            <a:pPr indent="-241300" lvl="2" marL="1143000" rtl="0" algn="l">
              <a:lnSpc>
                <a:spcPct val="90000"/>
              </a:lnSpc>
              <a:spcBef>
                <a:spcPts val="500"/>
              </a:spcBef>
              <a:spcAft>
                <a:spcPts val="0"/>
              </a:spcAft>
              <a:buSzPts val="1800"/>
              <a:buChar char="•"/>
            </a:pPr>
            <a:r>
              <a:rPr lang="en-US" sz="1800"/>
              <a:t>Interface</a:t>
            </a:r>
            <a:endParaRPr sz="1800"/>
          </a:p>
          <a:p>
            <a:pPr indent="0" lvl="0" marL="0" rtl="0" algn="l">
              <a:lnSpc>
                <a:spcPct val="90000"/>
              </a:lnSpc>
              <a:spcBef>
                <a:spcPts val="500"/>
              </a:spcBef>
              <a:spcAft>
                <a:spcPts val="0"/>
              </a:spcAft>
              <a:buNone/>
            </a:pPr>
            <a:r>
              <a:t/>
            </a:r>
            <a:endParaRPr sz="1800"/>
          </a:p>
          <a:p>
            <a:pPr indent="0" lvl="0" marL="0" rtl="0" algn="l">
              <a:lnSpc>
                <a:spcPct val="90000"/>
              </a:lnSpc>
              <a:spcBef>
                <a:spcPts val="1000"/>
              </a:spcBef>
              <a:spcAft>
                <a:spcPts val="0"/>
              </a:spcAft>
              <a:buClr>
                <a:schemeClr val="dk1"/>
              </a:buClr>
              <a:buSzPts val="2000"/>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Programlama Dili</a:t>
            </a:r>
            <a:endParaRPr sz="3200">
              <a:solidFill>
                <a:srgbClr val="DD7E0E"/>
              </a:solidFill>
            </a:endParaRPr>
          </a:p>
        </p:txBody>
      </p:sp>
      <p:sp>
        <p:nvSpPr>
          <p:cNvPr id="154" name="Google Shape;154;p1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Clr>
                <a:schemeClr val="dk1"/>
              </a:buClr>
              <a:buSzPts val="2400"/>
              <a:buFont typeface="Arial"/>
              <a:buNone/>
            </a:pPr>
            <a:r>
              <a:rPr lang="en-US" sz="1900"/>
              <a:t>Java, 1995 yılında Sun Microsystems tarafından geliştirilen bir programlama dilidir. Şuan Oracle şirketi tarafından destekleniyor.</a:t>
            </a:r>
            <a:endParaRPr sz="1900"/>
          </a:p>
          <a:p>
            <a:pPr indent="0" lvl="0" marL="0" rtl="0" algn="l">
              <a:lnSpc>
                <a:spcPct val="110000"/>
              </a:lnSpc>
              <a:spcBef>
                <a:spcPts val="500"/>
              </a:spcBef>
              <a:spcAft>
                <a:spcPts val="0"/>
              </a:spcAft>
              <a:buClr>
                <a:schemeClr val="dk1"/>
              </a:buClr>
              <a:buSzPts val="2400"/>
              <a:buFont typeface="Arial"/>
              <a:buNone/>
            </a:pPr>
            <a:r>
              <a:t/>
            </a:r>
            <a:endParaRPr sz="1900"/>
          </a:p>
          <a:p>
            <a:pPr indent="0" lvl="0" marL="0" rtl="0" algn="l">
              <a:lnSpc>
                <a:spcPct val="110000"/>
              </a:lnSpc>
              <a:spcBef>
                <a:spcPts val="500"/>
              </a:spcBef>
              <a:spcAft>
                <a:spcPts val="0"/>
              </a:spcAft>
              <a:buClr>
                <a:schemeClr val="dk1"/>
              </a:buClr>
              <a:buSzPts val="2400"/>
              <a:buFont typeface="Arial"/>
              <a:buNone/>
            </a:pPr>
            <a:r>
              <a:t/>
            </a:r>
            <a:endParaRPr sz="1900"/>
          </a:p>
          <a:p>
            <a:pPr indent="-231775" lvl="1" marL="685800" rtl="0" algn="l">
              <a:lnSpc>
                <a:spcPct val="110000"/>
              </a:lnSpc>
              <a:spcBef>
                <a:spcPts val="500"/>
              </a:spcBef>
              <a:spcAft>
                <a:spcPts val="0"/>
              </a:spcAft>
              <a:buClr>
                <a:schemeClr val="dk1"/>
              </a:buClr>
              <a:buSzPts val="1900"/>
              <a:buChar char="•"/>
            </a:pPr>
            <a:r>
              <a:rPr lang="en-US" sz="1900"/>
              <a:t>Platform Bağımsız (Cross Platform)</a:t>
            </a:r>
            <a:endParaRPr sz="1900"/>
          </a:p>
          <a:p>
            <a:pPr indent="-231775" lvl="1" marL="685800" rtl="0" algn="l">
              <a:lnSpc>
                <a:spcPct val="110000"/>
              </a:lnSpc>
              <a:spcBef>
                <a:spcPts val="500"/>
              </a:spcBef>
              <a:spcAft>
                <a:spcPts val="0"/>
              </a:spcAft>
              <a:buClr>
                <a:schemeClr val="dk1"/>
              </a:buClr>
              <a:buSzPts val="1900"/>
              <a:buChar char="•"/>
            </a:pPr>
            <a:r>
              <a:rPr lang="en-US" sz="1900"/>
              <a:t>Nesne Yönelimli (OOP)</a:t>
            </a:r>
            <a:endParaRPr sz="1900"/>
          </a:p>
          <a:p>
            <a:pPr indent="-231775" lvl="1" marL="685800" rtl="0" algn="l">
              <a:lnSpc>
                <a:spcPct val="110000"/>
              </a:lnSpc>
              <a:spcBef>
                <a:spcPts val="500"/>
              </a:spcBef>
              <a:spcAft>
                <a:spcPts val="0"/>
              </a:spcAft>
              <a:buClr>
                <a:schemeClr val="dk1"/>
              </a:buClr>
              <a:buSzPts val="1900"/>
              <a:buChar char="•"/>
            </a:pPr>
            <a:r>
              <a:rPr lang="en-US" sz="1900"/>
              <a:t>Büyük ölçekli bir Kütüphane (JAVA API)</a:t>
            </a:r>
            <a:endParaRPr sz="1900"/>
          </a:p>
          <a:p>
            <a:pPr indent="-231775" lvl="1" marL="685800" rtl="0" algn="l">
              <a:lnSpc>
                <a:spcPct val="110000"/>
              </a:lnSpc>
              <a:spcBef>
                <a:spcPts val="500"/>
              </a:spcBef>
              <a:spcAft>
                <a:spcPts val="0"/>
              </a:spcAft>
              <a:buClr>
                <a:schemeClr val="dk1"/>
              </a:buClr>
              <a:buSzPts val="1900"/>
              <a:buChar char="•"/>
            </a:pPr>
            <a:r>
              <a:rPr lang="en-US" sz="1900"/>
              <a:t>Güvenli Kod Geliştirme (JVM)</a:t>
            </a:r>
            <a:endParaRPr sz="1900"/>
          </a:p>
          <a:p>
            <a:pPr indent="-231775" lvl="1" marL="685800" rtl="0" algn="l">
              <a:lnSpc>
                <a:spcPct val="110000"/>
              </a:lnSpc>
              <a:spcBef>
                <a:spcPts val="500"/>
              </a:spcBef>
              <a:spcAft>
                <a:spcPts val="0"/>
              </a:spcAft>
              <a:buClr>
                <a:schemeClr val="dk1"/>
              </a:buClr>
              <a:buSzPts val="1900"/>
              <a:buChar char="•"/>
            </a:pPr>
            <a:r>
              <a:rPr lang="en-US" sz="1900"/>
              <a:t>Geniş Kullanım Ağı (Mobile, Web, IoT, Cloud, Big Data, ML)</a:t>
            </a:r>
            <a:endParaRPr sz="1900"/>
          </a:p>
          <a:p>
            <a:pPr indent="-231775" lvl="1" marL="685800" rtl="0" algn="l">
              <a:lnSpc>
                <a:spcPct val="110000"/>
              </a:lnSpc>
              <a:spcBef>
                <a:spcPts val="500"/>
              </a:spcBef>
              <a:spcAft>
                <a:spcPts val="0"/>
              </a:spcAft>
              <a:buClr>
                <a:schemeClr val="dk1"/>
              </a:buClr>
              <a:buSzPts val="1900"/>
              <a:buChar char="•"/>
            </a:pPr>
            <a:r>
              <a:rPr lang="en-US" sz="1900"/>
              <a:t>Multi Thread Desteği (</a:t>
            </a:r>
            <a:r>
              <a:rPr lang="en-US" sz="1900"/>
              <a:t>Parallel</a:t>
            </a:r>
            <a:r>
              <a:rPr lang="en-US" sz="1900"/>
              <a:t> Programing)</a:t>
            </a:r>
            <a:endParaRPr sz="1900"/>
          </a:p>
          <a:p>
            <a:pPr indent="-64135" lvl="0" marL="228600" rtl="0" algn="l">
              <a:lnSpc>
                <a:spcPct val="90000"/>
              </a:lnSpc>
              <a:spcBef>
                <a:spcPts val="1000"/>
              </a:spcBef>
              <a:spcAft>
                <a:spcPts val="0"/>
              </a:spcAft>
              <a:buClr>
                <a:schemeClr val="dk1"/>
              </a:buClr>
              <a:buSzPts val="2800"/>
              <a:buNone/>
            </a:pPr>
            <a:r>
              <a:t/>
            </a:r>
            <a:endParaRPr/>
          </a:p>
        </p:txBody>
      </p:sp>
      <p:pic>
        <p:nvPicPr>
          <p:cNvPr descr="A logo of a coffee cup&#10;&#10;Description automatically generated" id="155" name="Google Shape;155;p18"/>
          <p:cNvPicPr preferRelativeResize="0"/>
          <p:nvPr/>
        </p:nvPicPr>
        <p:blipFill rotWithShape="1">
          <a:blip r:embed="rId3">
            <a:alphaModFix/>
          </a:blip>
          <a:srcRect b="0" l="0" r="0" t="0"/>
          <a:stretch/>
        </p:blipFill>
        <p:spPr>
          <a:xfrm>
            <a:off x="8195100" y="2757037"/>
            <a:ext cx="3550097" cy="19969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Mimarisi</a:t>
            </a:r>
            <a:endParaRPr sz="3200">
              <a:solidFill>
                <a:srgbClr val="DD7E0E"/>
              </a:solidFill>
            </a:endParaRPr>
          </a:p>
        </p:txBody>
      </p:sp>
      <p:sp>
        <p:nvSpPr>
          <p:cNvPr id="162" name="Google Shape;162;p19"/>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400"/>
              <a:buFont typeface="Arial"/>
              <a:buNone/>
            </a:pPr>
            <a:r>
              <a:rPr lang="en-US" sz="1900"/>
              <a:t>Java'nın Çalışma Prensibi: Derleme ve Yorumlama</a:t>
            </a:r>
            <a:endParaRPr sz="1900"/>
          </a:p>
          <a:p>
            <a:pPr indent="0" lvl="0" marL="0" rtl="0" algn="l">
              <a:lnSpc>
                <a:spcPct val="110000"/>
              </a:lnSpc>
              <a:spcBef>
                <a:spcPts val="500"/>
              </a:spcBef>
              <a:spcAft>
                <a:spcPts val="0"/>
              </a:spcAft>
              <a:buClr>
                <a:schemeClr val="dk1"/>
              </a:buClr>
              <a:buSzPts val="2400"/>
              <a:buFont typeface="Arial"/>
              <a:buNone/>
            </a:pPr>
            <a:r>
              <a:t/>
            </a:r>
            <a:endParaRPr sz="1900"/>
          </a:p>
          <a:p>
            <a:pPr indent="0" lvl="0" marL="0" rtl="0" algn="l">
              <a:lnSpc>
                <a:spcPct val="110000"/>
              </a:lnSpc>
              <a:spcBef>
                <a:spcPts val="500"/>
              </a:spcBef>
              <a:spcAft>
                <a:spcPts val="0"/>
              </a:spcAft>
              <a:buClr>
                <a:schemeClr val="dk1"/>
              </a:buClr>
              <a:buSzPts val="2400"/>
              <a:buFont typeface="Arial"/>
              <a:buNone/>
            </a:pPr>
            <a:r>
              <a:t/>
            </a:r>
            <a:endParaRPr sz="1900"/>
          </a:p>
          <a:p>
            <a:pPr indent="-342900" lvl="0" marL="457200" rtl="0" algn="l">
              <a:lnSpc>
                <a:spcPct val="110000"/>
              </a:lnSpc>
              <a:spcBef>
                <a:spcPts val="500"/>
              </a:spcBef>
              <a:spcAft>
                <a:spcPts val="0"/>
              </a:spcAft>
              <a:buSzPts val="1800"/>
              <a:buAutoNum type="arabicPeriod"/>
            </a:pPr>
            <a:r>
              <a:rPr b="1" lang="en-US" sz="1900">
                <a:latin typeface="Arial"/>
                <a:ea typeface="Arial"/>
                <a:cs typeface="Arial"/>
                <a:sym typeface="Arial"/>
              </a:rPr>
              <a:t>Kaynak Kodunun Derlenmesi (Compilation):</a:t>
            </a:r>
            <a:r>
              <a:rPr b="1" lang="en-US" sz="1700">
                <a:latin typeface="Arial"/>
                <a:ea typeface="Arial"/>
                <a:cs typeface="Arial"/>
                <a:sym typeface="Arial"/>
              </a:rPr>
              <a:t> </a:t>
            </a:r>
            <a:endParaRPr b="1" sz="1700">
              <a:latin typeface="Arial"/>
              <a:ea typeface="Arial"/>
              <a:cs typeface="Arial"/>
              <a:sym typeface="Arial"/>
            </a:endParaRPr>
          </a:p>
          <a:p>
            <a:pPr indent="0" lvl="0" marL="0" rtl="0" algn="l">
              <a:lnSpc>
                <a:spcPct val="110000"/>
              </a:lnSpc>
              <a:spcBef>
                <a:spcPts val="500"/>
              </a:spcBef>
              <a:spcAft>
                <a:spcPts val="0"/>
              </a:spcAft>
              <a:buNone/>
            </a:pPr>
            <a:r>
              <a:t/>
            </a:r>
            <a:endParaRPr sz="1800"/>
          </a:p>
          <a:p>
            <a:pPr indent="0" lvl="0" marL="0" rtl="0" algn="l">
              <a:lnSpc>
                <a:spcPct val="110000"/>
              </a:lnSpc>
              <a:spcBef>
                <a:spcPts val="500"/>
              </a:spcBef>
              <a:spcAft>
                <a:spcPts val="0"/>
              </a:spcAft>
              <a:buNone/>
            </a:pPr>
            <a:r>
              <a:rPr lang="en-US" sz="1800"/>
              <a:t>Java'da yazılan kaynak kodu (</a:t>
            </a:r>
            <a:r>
              <a:rPr lang="en-US" sz="1800">
                <a:solidFill>
                  <a:srgbClr val="188038"/>
                </a:solidFill>
              </a:rPr>
              <a:t>.java</a:t>
            </a:r>
            <a:r>
              <a:rPr lang="en-US" sz="1800"/>
              <a:t> uzantılı dosyalar), ilk olarak </a:t>
            </a:r>
            <a:r>
              <a:rPr b="1" lang="en-US" sz="1800">
                <a:solidFill>
                  <a:srgbClr val="DD7E0E"/>
                </a:solidFill>
              </a:rPr>
              <a:t>Java Compiler</a:t>
            </a:r>
            <a:r>
              <a:rPr lang="en-US" sz="1800">
                <a:solidFill>
                  <a:srgbClr val="DD7E0E"/>
                </a:solidFill>
              </a:rPr>
              <a:t> (javac)</a:t>
            </a:r>
            <a:r>
              <a:rPr lang="en-US" sz="1800"/>
              <a:t> tarafından derlenir. Ancak Java, doğrudan makine koduna derlenmez. Bunun yerine, </a:t>
            </a:r>
            <a:r>
              <a:rPr b="1" lang="en-US" sz="1800">
                <a:solidFill>
                  <a:srgbClr val="DD7E0E"/>
                </a:solidFill>
              </a:rPr>
              <a:t>bytecode</a:t>
            </a:r>
            <a:r>
              <a:rPr lang="en-US" sz="1800">
                <a:solidFill>
                  <a:srgbClr val="DD7E0E"/>
                </a:solidFill>
              </a:rPr>
              <a:t> </a:t>
            </a:r>
            <a:r>
              <a:rPr lang="en-US" sz="1800"/>
              <a:t>adı verilen ara bir koda dönüştürülür. Bytecode, platform bağımsızdır, yani farklı işletim sistemlerinde aynı bytecode çalıştırılabilir. Bytecode, </a:t>
            </a:r>
            <a:r>
              <a:rPr lang="en-US" sz="1800">
                <a:solidFill>
                  <a:srgbClr val="188038"/>
                </a:solidFill>
              </a:rPr>
              <a:t>.class</a:t>
            </a:r>
            <a:r>
              <a:rPr lang="en-US" sz="1800"/>
              <a:t> uzantılı dosyalarda bulunur.</a:t>
            </a:r>
            <a:endParaRPr sz="1800"/>
          </a:p>
          <a:p>
            <a:pPr indent="-64135"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Mimarisi</a:t>
            </a:r>
            <a:endParaRPr sz="3200">
              <a:solidFill>
                <a:srgbClr val="DD7E0E"/>
              </a:solidFill>
            </a:endParaRPr>
          </a:p>
        </p:txBody>
      </p:sp>
      <p:sp>
        <p:nvSpPr>
          <p:cNvPr id="169" name="Google Shape;169;p20"/>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2400"/>
              <a:buFont typeface="Arial"/>
              <a:buNone/>
            </a:pPr>
            <a:r>
              <a:t/>
            </a:r>
            <a:endParaRPr sz="1800"/>
          </a:p>
          <a:p>
            <a:pPr indent="0" lvl="0" marL="0" rtl="0" algn="l">
              <a:lnSpc>
                <a:spcPct val="110000"/>
              </a:lnSpc>
              <a:spcBef>
                <a:spcPts val="500"/>
              </a:spcBef>
              <a:spcAft>
                <a:spcPts val="0"/>
              </a:spcAft>
              <a:buNone/>
            </a:pPr>
            <a:r>
              <a:rPr b="1" lang="en-US" sz="1800">
                <a:latin typeface="Arial"/>
                <a:ea typeface="Arial"/>
                <a:cs typeface="Arial"/>
                <a:sym typeface="Arial"/>
              </a:rPr>
              <a:t>2. 	Bytecode’un Yorumlanması ve Çalıştırılması </a:t>
            </a:r>
            <a:r>
              <a:rPr b="1" lang="en-US" sz="1800">
                <a:latin typeface="Arial"/>
                <a:ea typeface="Arial"/>
                <a:cs typeface="Arial"/>
                <a:sym typeface="Arial"/>
              </a:rPr>
              <a:t>(Interpretation): </a:t>
            </a:r>
            <a:endParaRPr b="1" sz="1800">
              <a:latin typeface="Arial"/>
              <a:ea typeface="Arial"/>
              <a:cs typeface="Arial"/>
              <a:sym typeface="Arial"/>
            </a:endParaRPr>
          </a:p>
          <a:p>
            <a:pPr indent="0" lvl="0" marL="0" rtl="0" algn="l">
              <a:lnSpc>
                <a:spcPct val="110000"/>
              </a:lnSpc>
              <a:spcBef>
                <a:spcPts val="500"/>
              </a:spcBef>
              <a:spcAft>
                <a:spcPts val="0"/>
              </a:spcAft>
              <a:buNone/>
            </a:pPr>
            <a:r>
              <a:t/>
            </a:r>
            <a:endParaRPr sz="1800"/>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Java bytecode, </a:t>
            </a:r>
            <a:r>
              <a:rPr b="1" lang="en-US" sz="1800">
                <a:latin typeface="Arial"/>
                <a:ea typeface="Arial"/>
                <a:cs typeface="Arial"/>
                <a:sym typeface="Arial"/>
              </a:rPr>
              <a:t>Java Virtual Machine (JVM)</a:t>
            </a:r>
            <a:r>
              <a:rPr lang="en-US" sz="1800">
                <a:latin typeface="Arial"/>
                <a:ea typeface="Arial"/>
                <a:cs typeface="Arial"/>
                <a:sym typeface="Arial"/>
              </a:rPr>
              <a:t> tarafından çalıştırılır. JVM, Javanın platform bağımsız olmasını sağlayan yazılımdır. JVM, bytecode yorumlar ve ilgili işletim sisteminde çalıştırır. Bu süreç, yorumlanma işlemine benzer.</a:t>
            </a:r>
            <a:endParaRPr sz="1800">
              <a:latin typeface="Arial"/>
              <a:ea typeface="Arial"/>
              <a:cs typeface="Arial"/>
              <a:sym typeface="Arial"/>
            </a:endParaRPr>
          </a:p>
          <a:p>
            <a:pPr indent="0" lvl="0" marL="0" rtl="0" algn="l">
              <a:lnSpc>
                <a:spcPct val="115000"/>
              </a:lnSpc>
              <a:spcBef>
                <a:spcPts val="1200"/>
              </a:spcBef>
              <a:spcAft>
                <a:spcPts val="0"/>
              </a:spcAft>
              <a:buNone/>
            </a:pPr>
            <a:r>
              <a:rPr lang="en-US" sz="1800">
                <a:latin typeface="Arial"/>
                <a:ea typeface="Arial"/>
                <a:cs typeface="Arial"/>
                <a:sym typeface="Arial"/>
              </a:rPr>
              <a:t>JVM, bir anlamda Java programının yorunlayıcısıdır. </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Ancak, JVM ayrıca </a:t>
            </a:r>
            <a:r>
              <a:rPr b="1" lang="en-US" sz="1800">
                <a:latin typeface="Arial"/>
                <a:ea typeface="Arial"/>
                <a:cs typeface="Arial"/>
                <a:sym typeface="Arial"/>
              </a:rPr>
              <a:t>JIT (Just-In-Time) Compiler</a:t>
            </a:r>
            <a:r>
              <a:rPr lang="en-US" sz="1800">
                <a:latin typeface="Arial"/>
                <a:ea typeface="Arial"/>
                <a:cs typeface="Arial"/>
                <a:sym typeface="Arial"/>
              </a:rPr>
              <a:t> adı verilen bir teknik kullanarak bytecode u daha verimli hale getirebilir. Bu, Java'nın daha hızlı çalışmasını sağlayan önemli bir özelliktir.</a:t>
            </a:r>
            <a:endParaRPr sz="1800">
              <a:latin typeface="Arial"/>
              <a:ea typeface="Arial"/>
              <a:cs typeface="Arial"/>
              <a:sym typeface="Arial"/>
            </a:endParaRPr>
          </a:p>
          <a:p>
            <a:pPr indent="0" lvl="0" marL="0" rtl="0" algn="l">
              <a:lnSpc>
                <a:spcPct val="110000"/>
              </a:lnSpc>
              <a:spcBef>
                <a:spcPts val="1200"/>
              </a:spcBef>
              <a:spcAft>
                <a:spcPts val="0"/>
              </a:spcAft>
              <a:buNone/>
            </a:pPr>
            <a:r>
              <a:t/>
            </a:r>
            <a:endParaRPr sz="1800"/>
          </a:p>
          <a:p>
            <a:pPr indent="-64135" lvl="0" marL="228600" rtl="0" algn="l">
              <a:lnSpc>
                <a:spcPct val="90000"/>
              </a:lnSpc>
              <a:spcBef>
                <a:spcPts val="1000"/>
              </a:spcBef>
              <a:spcAft>
                <a:spcPts val="0"/>
              </a:spcAft>
              <a:buClr>
                <a:schemeClr val="dk1"/>
              </a:buClr>
              <a:buSzPts val="2800"/>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Java'nın Yorumlanan ve Derlenen Diller Arasındaki Farkı</a:t>
            </a:r>
            <a:endParaRPr sz="3200">
              <a:solidFill>
                <a:srgbClr val="DD7E0E"/>
              </a:solidFill>
            </a:endParaRPr>
          </a:p>
        </p:txBody>
      </p:sp>
      <p:sp>
        <p:nvSpPr>
          <p:cNvPr id="176" name="Google Shape;176;p21"/>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2400"/>
              <a:buFont typeface="Arial"/>
              <a:buNone/>
            </a:pPr>
            <a:r>
              <a:t/>
            </a:r>
            <a:endParaRPr sz="1800"/>
          </a:p>
          <a:p>
            <a:pPr indent="0" lvl="0" marL="0" rtl="0" algn="l">
              <a:lnSpc>
                <a:spcPct val="115000"/>
              </a:lnSpc>
              <a:spcBef>
                <a:spcPts val="1200"/>
              </a:spcBef>
              <a:spcAft>
                <a:spcPts val="0"/>
              </a:spcAft>
              <a:buNone/>
            </a:pPr>
            <a:r>
              <a:rPr lang="en-US" sz="1800">
                <a:latin typeface="Arial"/>
                <a:ea typeface="Arial"/>
                <a:cs typeface="Arial"/>
                <a:sym typeface="Arial"/>
              </a:rPr>
              <a:t>Java'nın </a:t>
            </a:r>
            <a:r>
              <a:rPr b="1" lang="en-US" sz="1800">
                <a:latin typeface="Arial"/>
                <a:ea typeface="Arial"/>
                <a:cs typeface="Arial"/>
                <a:sym typeface="Arial"/>
              </a:rPr>
              <a:t>derlenen</a:t>
            </a:r>
            <a:r>
              <a:rPr lang="en-US" sz="1800">
                <a:latin typeface="Arial"/>
                <a:ea typeface="Arial"/>
                <a:cs typeface="Arial"/>
                <a:sym typeface="Arial"/>
              </a:rPr>
              <a:t> ve </a:t>
            </a:r>
            <a:r>
              <a:rPr b="1" lang="en-US" sz="1800">
                <a:latin typeface="Arial"/>
                <a:ea typeface="Arial"/>
                <a:cs typeface="Arial"/>
                <a:sym typeface="Arial"/>
              </a:rPr>
              <a:t>yorumlanan</a:t>
            </a:r>
            <a:r>
              <a:rPr lang="en-US" sz="1800">
                <a:latin typeface="Arial"/>
                <a:ea typeface="Arial"/>
                <a:cs typeface="Arial"/>
                <a:sym typeface="Arial"/>
              </a:rPr>
              <a:t> olmasının farkı, diğer bazı dillerle karşılaştırıldığında aşağıdaki gibi sonuçlar verir:</a:t>
            </a:r>
            <a:endParaRPr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b="1" lang="en-US" sz="1800">
                <a:latin typeface="Arial"/>
                <a:ea typeface="Arial"/>
                <a:cs typeface="Arial"/>
                <a:sym typeface="Arial"/>
              </a:rPr>
              <a:t>C/C++</a:t>
            </a:r>
            <a:r>
              <a:rPr lang="en-US" sz="1800">
                <a:latin typeface="Arial"/>
                <a:ea typeface="Arial"/>
                <a:cs typeface="Arial"/>
                <a:sym typeface="Arial"/>
              </a:rPr>
              <a:t> gibi diller doğrudan makine diline derlenir. Bu, derleme işleminin daha hızlı olduğunu ve daha iyi performans sağladığını gösterir. Ancak, bu tür diller platform bağımlıdır, yani her platform için farklı bir derleme yapılması gerekir.</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b="1" lang="en-US" sz="1800">
                <a:latin typeface="Arial"/>
                <a:ea typeface="Arial"/>
                <a:cs typeface="Arial"/>
                <a:sym typeface="Arial"/>
              </a:rPr>
              <a:t>Python</a:t>
            </a:r>
            <a:r>
              <a:rPr lang="en-US" sz="1800">
                <a:latin typeface="Arial"/>
                <a:ea typeface="Arial"/>
                <a:cs typeface="Arial"/>
                <a:sym typeface="Arial"/>
              </a:rPr>
              <a:t>, </a:t>
            </a:r>
            <a:r>
              <a:rPr b="1" lang="en-US" sz="1800">
                <a:latin typeface="Arial"/>
                <a:ea typeface="Arial"/>
                <a:cs typeface="Arial"/>
                <a:sym typeface="Arial"/>
              </a:rPr>
              <a:t>JavaScript</a:t>
            </a:r>
            <a:r>
              <a:rPr lang="en-US" sz="1800">
                <a:latin typeface="Arial"/>
                <a:ea typeface="Arial"/>
                <a:cs typeface="Arial"/>
                <a:sym typeface="Arial"/>
              </a:rPr>
              <a:t> gibi diller tamamen yorumlanmış dillerdir. Bu dillerde, kaynak kod doğrudan yorumlayıcı tarafından satır satır çalıştırılır. Bu, geliştirme sırasında daha hızlı test ve hata ayıklama sağlar, ancak derlenmiş dillere kıyasla daha düşük performans gösterir.</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b="1" sz="1800">
              <a:latin typeface="Arial"/>
              <a:ea typeface="Arial"/>
              <a:cs typeface="Arial"/>
              <a:sym typeface="Arial"/>
            </a:endParaRPr>
          </a:p>
          <a:p>
            <a:pPr indent="0" lvl="0" marL="0" rtl="0" algn="l">
              <a:lnSpc>
                <a:spcPct val="110000"/>
              </a:lnSpc>
              <a:spcBef>
                <a:spcPts val="1200"/>
              </a:spcBef>
              <a:spcAft>
                <a:spcPts val="0"/>
              </a:spcAft>
              <a:buNone/>
            </a:pPr>
            <a:r>
              <a:t/>
            </a:r>
            <a:endParaRPr sz="1800"/>
          </a:p>
          <a:p>
            <a:pPr indent="-64135" lvl="0" marL="228600" rtl="0" algn="l">
              <a:lnSpc>
                <a:spcPct val="90000"/>
              </a:lnSpc>
              <a:spcBef>
                <a:spcPts val="1000"/>
              </a:spcBef>
              <a:spcAft>
                <a:spcPts val="0"/>
              </a:spcAft>
              <a:buClr>
                <a:schemeClr val="dk1"/>
              </a:buClr>
              <a:buSzPts val="2800"/>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Mimarisi</a:t>
            </a:r>
            <a:endParaRPr sz="3200">
              <a:solidFill>
                <a:srgbClr val="DD7E0E"/>
              </a:solidFill>
            </a:endParaRPr>
          </a:p>
        </p:txBody>
      </p:sp>
      <p:pic>
        <p:nvPicPr>
          <p:cNvPr descr="A diagram of a computer program&#10;&#10;Description automatically generated" id="183" name="Google Shape;183;p22"/>
          <p:cNvPicPr preferRelativeResize="0"/>
          <p:nvPr>
            <p:ph idx="1" type="body"/>
          </p:nvPr>
        </p:nvPicPr>
        <p:blipFill rotWithShape="1">
          <a:blip r:embed="rId3">
            <a:alphaModFix/>
          </a:blip>
          <a:srcRect b="0" l="0" r="0" t="0"/>
          <a:stretch/>
        </p:blipFill>
        <p:spPr>
          <a:xfrm>
            <a:off x="838207" y="1832619"/>
            <a:ext cx="5301600" cy="3793800"/>
          </a:xfrm>
          <a:prstGeom prst="rect">
            <a:avLst/>
          </a:prstGeom>
          <a:noFill/>
          <a:ln>
            <a:noFill/>
          </a:ln>
        </p:spPr>
      </p:pic>
      <p:pic>
        <p:nvPicPr>
          <p:cNvPr descr="A diagram of a code&#10;&#10;Description automatically generated" id="184" name="Google Shape;184;p22"/>
          <p:cNvPicPr preferRelativeResize="0"/>
          <p:nvPr/>
        </p:nvPicPr>
        <p:blipFill rotWithShape="1">
          <a:blip r:embed="rId4">
            <a:alphaModFix/>
          </a:blip>
          <a:srcRect b="0" l="0" r="0" t="0"/>
          <a:stretch/>
        </p:blipFill>
        <p:spPr>
          <a:xfrm>
            <a:off x="6210185" y="2019288"/>
            <a:ext cx="5944353" cy="313653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JDK-Java Development Kit</a:t>
            </a:r>
            <a:endParaRPr sz="3200">
              <a:solidFill>
                <a:srgbClr val="DD7E0E"/>
              </a:solidFill>
            </a:endParaRPr>
          </a:p>
        </p:txBody>
      </p:sp>
      <p:sp>
        <p:nvSpPr>
          <p:cNvPr id="191" name="Google Shape;191;p2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400"/>
              <a:buFont typeface="Arial"/>
              <a:buNone/>
            </a:pPr>
            <a:r>
              <a:rPr lang="en-US" sz="1800"/>
              <a:t>JDK temel amacı, </a:t>
            </a:r>
            <a:endParaRPr sz="1800"/>
          </a:p>
          <a:p>
            <a:pPr indent="0" lvl="0" marL="0" rtl="0" algn="l">
              <a:lnSpc>
                <a:spcPct val="110000"/>
              </a:lnSpc>
              <a:spcBef>
                <a:spcPts val="500"/>
              </a:spcBef>
              <a:spcAft>
                <a:spcPts val="0"/>
              </a:spcAft>
              <a:buClr>
                <a:schemeClr val="dk1"/>
              </a:buClr>
              <a:buSzPts val="2400"/>
              <a:buFont typeface="Arial"/>
              <a:buNone/>
            </a:pPr>
            <a:r>
              <a:t/>
            </a:r>
            <a:endParaRPr sz="1800"/>
          </a:p>
          <a:p>
            <a:pPr indent="0" lvl="1" marL="457200" rtl="0" algn="l">
              <a:lnSpc>
                <a:spcPct val="110000"/>
              </a:lnSpc>
              <a:spcBef>
                <a:spcPts val="500"/>
              </a:spcBef>
              <a:spcAft>
                <a:spcPts val="0"/>
              </a:spcAft>
              <a:buClr>
                <a:schemeClr val="dk1"/>
              </a:buClr>
              <a:buSzPts val="1600"/>
              <a:buNone/>
            </a:pPr>
            <a:r>
              <a:rPr lang="en-US" sz="1800" u="sng"/>
              <a:t>Java programlarını oluşturmak, </a:t>
            </a:r>
            <a:endParaRPr sz="1800" u="sng"/>
          </a:p>
          <a:p>
            <a:pPr indent="0" lvl="1" marL="457200" rtl="0" algn="l">
              <a:lnSpc>
                <a:spcPct val="110000"/>
              </a:lnSpc>
              <a:spcBef>
                <a:spcPts val="500"/>
              </a:spcBef>
              <a:spcAft>
                <a:spcPts val="0"/>
              </a:spcAft>
              <a:buClr>
                <a:schemeClr val="dk1"/>
              </a:buClr>
              <a:buSzPts val="1600"/>
              <a:buNone/>
            </a:pPr>
            <a:r>
              <a:rPr lang="en-US" sz="1800" u="sng"/>
              <a:t>Derlemek, </a:t>
            </a:r>
            <a:endParaRPr sz="1800" u="sng"/>
          </a:p>
          <a:p>
            <a:pPr indent="0" lvl="1" marL="457200" rtl="0" algn="l">
              <a:lnSpc>
                <a:spcPct val="110000"/>
              </a:lnSpc>
              <a:spcBef>
                <a:spcPts val="500"/>
              </a:spcBef>
              <a:spcAft>
                <a:spcPts val="0"/>
              </a:spcAft>
              <a:buClr>
                <a:schemeClr val="dk1"/>
              </a:buClr>
              <a:buSzPts val="1600"/>
              <a:buNone/>
            </a:pPr>
            <a:r>
              <a:rPr lang="en-US" sz="1800" u="sng"/>
              <a:t>Hata ayıklamak, </a:t>
            </a:r>
            <a:endParaRPr sz="1800" u="sng"/>
          </a:p>
          <a:p>
            <a:pPr indent="0" lvl="1" marL="457200" rtl="0" algn="l">
              <a:lnSpc>
                <a:spcPct val="110000"/>
              </a:lnSpc>
              <a:spcBef>
                <a:spcPts val="500"/>
              </a:spcBef>
              <a:spcAft>
                <a:spcPts val="0"/>
              </a:spcAft>
              <a:buClr>
                <a:schemeClr val="dk1"/>
              </a:buClr>
              <a:buSzPts val="1600"/>
              <a:buNone/>
            </a:pPr>
            <a:r>
              <a:rPr lang="en-US" sz="1800" u="sng"/>
              <a:t>Çalıştırmak</a:t>
            </a:r>
            <a:endParaRPr sz="1800" u="sng"/>
          </a:p>
          <a:p>
            <a:pPr indent="0" lvl="1" marL="457200" rtl="0" algn="l">
              <a:lnSpc>
                <a:spcPct val="110000"/>
              </a:lnSpc>
              <a:spcBef>
                <a:spcPts val="500"/>
              </a:spcBef>
              <a:spcAft>
                <a:spcPts val="0"/>
              </a:spcAft>
              <a:buClr>
                <a:schemeClr val="dk1"/>
              </a:buClr>
              <a:buSzPts val="1600"/>
              <a:buNone/>
            </a:pPr>
            <a:r>
              <a:rPr lang="en-US" sz="1800" u="sng"/>
              <a:t>Dağıtmak </a:t>
            </a:r>
            <a:endParaRPr sz="1800" u="sng"/>
          </a:p>
          <a:p>
            <a:pPr indent="0" lvl="0" marL="0" rtl="0" algn="l">
              <a:lnSpc>
                <a:spcPct val="110000"/>
              </a:lnSpc>
              <a:spcBef>
                <a:spcPts val="500"/>
              </a:spcBef>
              <a:spcAft>
                <a:spcPts val="0"/>
              </a:spcAft>
              <a:buClr>
                <a:schemeClr val="dk1"/>
              </a:buClr>
              <a:buSzPts val="2000"/>
              <a:buFont typeface="Arial"/>
              <a:buNone/>
            </a:pPr>
            <a:r>
              <a:t/>
            </a:r>
            <a:endParaRPr sz="1800"/>
          </a:p>
          <a:p>
            <a:pPr indent="0" lvl="0" marL="0" rtl="0" algn="l">
              <a:lnSpc>
                <a:spcPct val="110000"/>
              </a:lnSpc>
              <a:spcBef>
                <a:spcPts val="500"/>
              </a:spcBef>
              <a:spcAft>
                <a:spcPts val="0"/>
              </a:spcAft>
              <a:buClr>
                <a:schemeClr val="dk1"/>
              </a:buClr>
              <a:buSzPts val="2000"/>
              <a:buFont typeface="Arial"/>
              <a:buNone/>
            </a:pPr>
            <a:r>
              <a:rPr lang="en-US" sz="1800"/>
              <a:t>için gereken araçları sağlamaktır. </a:t>
            </a:r>
            <a:endParaRPr sz="1800"/>
          </a:p>
          <a:p>
            <a:pPr indent="0" lvl="0" marL="0" rtl="0" algn="l">
              <a:lnSpc>
                <a:spcPct val="110000"/>
              </a:lnSpc>
              <a:spcBef>
                <a:spcPts val="500"/>
              </a:spcBef>
              <a:spcAft>
                <a:spcPts val="0"/>
              </a:spcAft>
              <a:buClr>
                <a:schemeClr val="dk1"/>
              </a:buClr>
              <a:buSzPts val="28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JDK-Java Development Kit</a:t>
            </a:r>
            <a:endParaRPr sz="3200">
              <a:solidFill>
                <a:srgbClr val="DD7E0E"/>
              </a:solidFill>
            </a:endParaRPr>
          </a:p>
        </p:txBody>
      </p:sp>
      <p:sp>
        <p:nvSpPr>
          <p:cNvPr id="198" name="Google Shape;198;p2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2400"/>
              <a:buFont typeface="Arial"/>
              <a:buNone/>
            </a:pPr>
            <a:r>
              <a:rPr lang="en-US" sz="1800"/>
              <a:t>JDK'nın içeriğinde yer alan başlıca bileşenler şunlardır</a:t>
            </a:r>
            <a:endParaRPr sz="1800"/>
          </a:p>
          <a:p>
            <a:pPr indent="0" lvl="0" marL="0" rtl="0" algn="l">
              <a:lnSpc>
                <a:spcPct val="110000"/>
              </a:lnSpc>
              <a:spcBef>
                <a:spcPts val="0"/>
              </a:spcBef>
              <a:spcAft>
                <a:spcPts val="0"/>
              </a:spcAft>
              <a:buClr>
                <a:schemeClr val="dk1"/>
              </a:buClr>
              <a:buSzPts val="2400"/>
              <a:buFont typeface="Arial"/>
              <a:buNone/>
            </a:pPr>
            <a:r>
              <a:t/>
            </a:r>
            <a:endParaRPr sz="1800"/>
          </a:p>
          <a:p>
            <a:pPr indent="-213360" lvl="0" marL="228600" rtl="0" algn="l">
              <a:lnSpc>
                <a:spcPct val="110000"/>
              </a:lnSpc>
              <a:spcBef>
                <a:spcPts val="500"/>
              </a:spcBef>
              <a:spcAft>
                <a:spcPts val="0"/>
              </a:spcAft>
              <a:buClr>
                <a:schemeClr val="dk1"/>
              </a:buClr>
              <a:buSzPts val="1800"/>
              <a:buFont typeface="Avenir"/>
              <a:buChar char="•"/>
            </a:pPr>
            <a:r>
              <a:rPr lang="en-US" sz="1800"/>
              <a:t>J</a:t>
            </a:r>
            <a:r>
              <a:rPr lang="en-US" sz="1800"/>
              <a:t>ava Development Tools</a:t>
            </a:r>
            <a:endParaRPr sz="1800"/>
          </a:p>
          <a:p>
            <a:pPr indent="-234950" lvl="1" marL="685800" rtl="0" algn="l">
              <a:lnSpc>
                <a:spcPct val="110000"/>
              </a:lnSpc>
              <a:spcBef>
                <a:spcPts val="500"/>
              </a:spcBef>
              <a:spcAft>
                <a:spcPts val="0"/>
              </a:spcAft>
              <a:buClr>
                <a:schemeClr val="dk1"/>
              </a:buClr>
              <a:buSzPts val="1800"/>
              <a:buFont typeface="Avenir"/>
              <a:buChar char="•"/>
            </a:pPr>
            <a:r>
              <a:rPr lang="en-US" sz="1800"/>
              <a:t>Javac.exe (Java Derleyicisi), Java.exe (Java Yorumlayıcı), Jdb (Java Hata Ayıklayıcısı)</a:t>
            </a:r>
            <a:endParaRPr sz="1800"/>
          </a:p>
          <a:p>
            <a:pPr indent="-234950" lvl="1" marL="685800" rtl="0" algn="l">
              <a:lnSpc>
                <a:spcPct val="110000"/>
              </a:lnSpc>
              <a:spcBef>
                <a:spcPts val="500"/>
              </a:spcBef>
              <a:spcAft>
                <a:spcPts val="0"/>
              </a:spcAft>
              <a:buClr>
                <a:schemeClr val="dk1"/>
              </a:buClr>
              <a:buSzPts val="1800"/>
              <a:buFont typeface="Avenir"/>
              <a:buChar char="•"/>
            </a:pPr>
            <a:r>
              <a:rPr lang="en-US" sz="1800"/>
              <a:t>Jshell (Metin Tabanlı Java IDE) </a:t>
            </a:r>
            <a:r>
              <a:rPr b="1" lang="en-US" sz="1800"/>
              <a:t>(Java  9 ve sonrası) </a:t>
            </a:r>
            <a:endParaRPr b="1" sz="1800"/>
          </a:p>
          <a:p>
            <a:pPr indent="0" lvl="0" marL="0" rtl="0" algn="l">
              <a:lnSpc>
                <a:spcPct val="110000"/>
              </a:lnSpc>
              <a:spcBef>
                <a:spcPts val="500"/>
              </a:spcBef>
              <a:spcAft>
                <a:spcPts val="0"/>
              </a:spcAft>
              <a:buNone/>
            </a:pPr>
            <a:r>
              <a:t/>
            </a:r>
            <a:endParaRPr b="1" sz="1800"/>
          </a:p>
          <a:p>
            <a:pPr indent="-213360" lvl="0" marL="228600" rtl="0" algn="l">
              <a:lnSpc>
                <a:spcPct val="110000"/>
              </a:lnSpc>
              <a:spcBef>
                <a:spcPts val="500"/>
              </a:spcBef>
              <a:spcAft>
                <a:spcPts val="0"/>
              </a:spcAft>
              <a:buClr>
                <a:schemeClr val="dk1"/>
              </a:buClr>
              <a:buSzPts val="1800"/>
              <a:buFont typeface="Avenir"/>
              <a:buChar char="•"/>
            </a:pPr>
            <a:r>
              <a:rPr lang="en-US" sz="1800"/>
              <a:t>Java Runtime Environment </a:t>
            </a:r>
            <a:r>
              <a:rPr lang="en-US" sz="1800">
                <a:solidFill>
                  <a:srgbClr val="DD7E0E"/>
                </a:solidFill>
              </a:rPr>
              <a:t>(JRE) </a:t>
            </a:r>
            <a:r>
              <a:rPr lang="en-US" sz="1800"/>
              <a:t>Java Runtime Environment</a:t>
            </a:r>
            <a:endParaRPr sz="1800"/>
          </a:p>
          <a:p>
            <a:pPr indent="-234950" lvl="1" marL="685800" rtl="0" algn="l">
              <a:lnSpc>
                <a:spcPct val="110000"/>
              </a:lnSpc>
              <a:spcBef>
                <a:spcPts val="500"/>
              </a:spcBef>
              <a:spcAft>
                <a:spcPts val="0"/>
              </a:spcAft>
              <a:buClr>
                <a:schemeClr val="dk1"/>
              </a:buClr>
              <a:buSzPts val="1800"/>
              <a:buFont typeface="Avenir"/>
              <a:buChar char="•"/>
            </a:pPr>
            <a:r>
              <a:rPr lang="en-US" sz="1800"/>
              <a:t>JVM ve Java Standart Kütüphanelerini içerir.  </a:t>
            </a:r>
            <a:endParaRPr sz="1800"/>
          </a:p>
          <a:p>
            <a:pPr indent="0" lvl="0" marL="0" rtl="0" algn="l">
              <a:lnSpc>
                <a:spcPct val="110000"/>
              </a:lnSpc>
              <a:spcBef>
                <a:spcPts val="500"/>
              </a:spcBef>
              <a:spcAft>
                <a:spcPts val="0"/>
              </a:spcAft>
              <a:buNone/>
            </a:pPr>
            <a:r>
              <a:t/>
            </a:r>
            <a:endParaRPr sz="1800"/>
          </a:p>
          <a:p>
            <a:pPr indent="-213360" lvl="0" marL="228600" rtl="0" algn="l">
              <a:lnSpc>
                <a:spcPct val="110000"/>
              </a:lnSpc>
              <a:spcBef>
                <a:spcPts val="500"/>
              </a:spcBef>
              <a:spcAft>
                <a:spcPts val="0"/>
              </a:spcAft>
              <a:buClr>
                <a:schemeClr val="dk1"/>
              </a:buClr>
              <a:buSzPts val="1800"/>
              <a:buFont typeface="Avenir"/>
              <a:buChar char="•"/>
            </a:pPr>
            <a:r>
              <a:rPr lang="en-US" sz="1800"/>
              <a:t>Java API'leri</a:t>
            </a:r>
            <a:endParaRPr sz="1800"/>
          </a:p>
          <a:p>
            <a:pPr indent="-234950" lvl="1" marL="685800" rtl="0" algn="l">
              <a:lnSpc>
                <a:spcPct val="110000"/>
              </a:lnSpc>
              <a:spcBef>
                <a:spcPts val="500"/>
              </a:spcBef>
              <a:spcAft>
                <a:spcPts val="0"/>
              </a:spcAft>
              <a:buClr>
                <a:schemeClr val="dk1"/>
              </a:buClr>
              <a:buSzPts val="1800"/>
              <a:buFont typeface="Avenir"/>
              <a:buChar char="•"/>
            </a:pPr>
            <a:r>
              <a:rPr lang="en-US" sz="1800"/>
              <a:t> Bu kütüphane, çeşitli görevleri yerine getirmek için kullanılan hazır sınıflar ve yöntemler içerir. </a:t>
            </a:r>
            <a:endParaRPr sz="1800"/>
          </a:p>
          <a:p>
            <a:pPr indent="0" lvl="0" marL="0" rtl="0" algn="l">
              <a:lnSpc>
                <a:spcPct val="110000"/>
              </a:lnSpc>
              <a:spcBef>
                <a:spcPts val="500"/>
              </a:spcBef>
              <a:spcAft>
                <a:spcPts val="0"/>
              </a:spcAft>
              <a:buClr>
                <a:schemeClr val="dk1"/>
              </a:buClr>
              <a:buSzPts val="2800"/>
              <a:buFont typeface="Arial"/>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JVM (Java Virtual Machine)</a:t>
            </a:r>
            <a:endParaRPr sz="3200">
              <a:solidFill>
                <a:srgbClr val="DD7E0E"/>
              </a:solidFill>
            </a:endParaRPr>
          </a:p>
        </p:txBody>
      </p:sp>
      <p:sp>
        <p:nvSpPr>
          <p:cNvPr id="205" name="Google Shape;205;p2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400"/>
              <a:buFont typeface="Arial"/>
              <a:buNone/>
            </a:pPr>
            <a:r>
              <a:t/>
            </a:r>
            <a:endParaRPr sz="2400"/>
          </a:p>
          <a:p>
            <a:pPr indent="0" lvl="0" marL="0" rtl="0" algn="l">
              <a:lnSpc>
                <a:spcPct val="110000"/>
              </a:lnSpc>
              <a:spcBef>
                <a:spcPts val="500"/>
              </a:spcBef>
              <a:spcAft>
                <a:spcPts val="0"/>
              </a:spcAft>
              <a:buClr>
                <a:schemeClr val="dk1"/>
              </a:buClr>
              <a:buSzPts val="2400"/>
              <a:buFont typeface="Arial"/>
              <a:buNone/>
            </a:pPr>
            <a:r>
              <a:rPr lang="en-US" sz="1800"/>
              <a:t>JVM, Java programlarının çalıştırılması için kullanılan bir sanal makine veya çalışma zamanı ortamıdır. Java programları, JVM üzerinde çalıştırıldığından platform bağımsızlık sağlar. Bu, Java'nın </a:t>
            </a:r>
            <a:r>
              <a:rPr lang="en-US" sz="1800">
                <a:solidFill>
                  <a:srgbClr val="DD7E0E"/>
                </a:solidFill>
              </a:rPr>
              <a:t>"write once, run anywhere" </a:t>
            </a:r>
            <a:r>
              <a:rPr lang="en-US" sz="1800"/>
              <a:t>(bir kere yaz, her yerde çalıştır) prensibini destekler.</a:t>
            </a:r>
            <a:endParaRPr sz="1800"/>
          </a:p>
        </p:txBody>
      </p:sp>
      <p:pic>
        <p:nvPicPr>
          <p:cNvPr descr="A diagram of a machine&#10;&#10;Description automatically generated" id="206" name="Google Shape;206;p25"/>
          <p:cNvPicPr preferRelativeResize="0"/>
          <p:nvPr>
            <p:ph idx="1" type="body"/>
          </p:nvPr>
        </p:nvPicPr>
        <p:blipFill rotWithShape="1">
          <a:blip r:embed="rId3">
            <a:alphaModFix/>
          </a:blip>
          <a:srcRect b="0" l="0" r="0" t="0"/>
          <a:stretch/>
        </p:blipFill>
        <p:spPr>
          <a:xfrm>
            <a:off x="3233349" y="3483573"/>
            <a:ext cx="5538000" cy="314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Virtual Machine - JVM</a:t>
            </a:r>
            <a:endParaRPr sz="3200">
              <a:solidFill>
                <a:srgbClr val="DD7E0E"/>
              </a:solidFill>
            </a:endParaRPr>
          </a:p>
        </p:txBody>
      </p:sp>
      <p:sp>
        <p:nvSpPr>
          <p:cNvPr id="213" name="Google Shape;213;p26"/>
          <p:cNvSpPr txBox="1"/>
          <p:nvPr>
            <p:ph idx="1" type="body"/>
          </p:nvPr>
        </p:nvSpPr>
        <p:spPr>
          <a:xfrm>
            <a:off x="838200" y="1346200"/>
            <a:ext cx="11155500" cy="43392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6400"/>
              <a:buFont typeface="Arial"/>
              <a:buNone/>
            </a:pPr>
            <a:r>
              <a:t/>
            </a:r>
            <a:endParaRPr sz="1800"/>
          </a:p>
          <a:p>
            <a:pPr indent="0" lvl="0" marL="0" rtl="0" algn="l">
              <a:lnSpc>
                <a:spcPct val="130000"/>
              </a:lnSpc>
              <a:spcBef>
                <a:spcPts val="500"/>
              </a:spcBef>
              <a:spcAft>
                <a:spcPts val="0"/>
              </a:spcAft>
              <a:buClr>
                <a:schemeClr val="dk1"/>
              </a:buClr>
              <a:buSzPts val="6400"/>
              <a:buNone/>
            </a:pPr>
            <a:r>
              <a:rPr lang="en-US" sz="1800"/>
              <a:t>JVM, Java bytecode adı verilen özel bir ara dilin yorumlanması veya Just-In-Time </a:t>
            </a:r>
            <a:r>
              <a:rPr lang="en-US" sz="1800">
                <a:solidFill>
                  <a:srgbClr val="DD7E0E"/>
                </a:solidFill>
              </a:rPr>
              <a:t>(JIT) </a:t>
            </a:r>
            <a:r>
              <a:rPr lang="en-US" sz="1800"/>
              <a:t>derlemesi yoluyla çalışır</a:t>
            </a:r>
            <a:endParaRPr sz="1800"/>
          </a:p>
          <a:p>
            <a:pPr indent="0" lvl="0" marL="0" rtl="0" algn="l">
              <a:lnSpc>
                <a:spcPct val="130000"/>
              </a:lnSpc>
              <a:spcBef>
                <a:spcPts val="500"/>
              </a:spcBef>
              <a:spcAft>
                <a:spcPts val="0"/>
              </a:spcAft>
              <a:buClr>
                <a:schemeClr val="dk1"/>
              </a:buClr>
              <a:buSzPts val="6400"/>
              <a:buNone/>
            </a:pPr>
            <a:r>
              <a:rPr lang="en-US" sz="1800"/>
              <a:t>JVM, aşağıdaki görevleri gerçekleştirir.</a:t>
            </a:r>
            <a:endParaRPr sz="1800"/>
          </a:p>
          <a:p>
            <a:pPr indent="0" lvl="0" marL="0" rtl="0" algn="l">
              <a:lnSpc>
                <a:spcPct val="130000"/>
              </a:lnSpc>
              <a:spcBef>
                <a:spcPts val="500"/>
              </a:spcBef>
              <a:spcAft>
                <a:spcPts val="0"/>
              </a:spcAft>
              <a:buClr>
                <a:schemeClr val="dk1"/>
              </a:buClr>
              <a:buSzPts val="6400"/>
              <a:buNone/>
            </a:pPr>
            <a:r>
              <a:t/>
            </a:r>
            <a:endParaRPr sz="1800"/>
          </a:p>
          <a:p>
            <a:pPr indent="0" lvl="0" marL="0" rtl="0" algn="l">
              <a:lnSpc>
                <a:spcPct val="130000"/>
              </a:lnSpc>
              <a:spcBef>
                <a:spcPts val="500"/>
              </a:spcBef>
              <a:spcAft>
                <a:spcPts val="0"/>
              </a:spcAft>
              <a:buClr>
                <a:schemeClr val="dk1"/>
              </a:buClr>
              <a:buSzPts val="1100"/>
              <a:buFont typeface="Arial"/>
              <a:buNone/>
            </a:pPr>
            <a:r>
              <a:rPr lang="en-US" sz="1800">
                <a:solidFill>
                  <a:srgbClr val="DD7E0E"/>
                </a:solidFill>
              </a:rPr>
              <a:t>JIT Derlemesi (Just-In-Time) </a:t>
            </a:r>
            <a:endParaRPr sz="1800"/>
          </a:p>
          <a:p>
            <a:pPr indent="-241300" lvl="1" marL="685800" rtl="0" algn="l">
              <a:lnSpc>
                <a:spcPct val="130000"/>
              </a:lnSpc>
              <a:spcBef>
                <a:spcPts val="500"/>
              </a:spcBef>
              <a:spcAft>
                <a:spcPts val="0"/>
              </a:spcAft>
              <a:buSzPts val="1800"/>
              <a:buChar char="•"/>
            </a:pPr>
            <a:r>
              <a:rPr lang="en-US" sz="1800"/>
              <a:t>Bytecode çalışma zamanında yerel makine koduna dönüştürülür</a:t>
            </a:r>
            <a:endParaRPr sz="1800"/>
          </a:p>
          <a:p>
            <a:pPr indent="0" lvl="0" marL="0" rtl="0" algn="l">
              <a:lnSpc>
                <a:spcPct val="130000"/>
              </a:lnSpc>
              <a:spcBef>
                <a:spcPts val="500"/>
              </a:spcBef>
              <a:spcAft>
                <a:spcPts val="0"/>
              </a:spcAft>
              <a:buNone/>
            </a:pPr>
            <a:r>
              <a:t/>
            </a:r>
            <a:endParaRPr sz="1800"/>
          </a:p>
          <a:p>
            <a:pPr indent="0" lvl="0" marL="0" rtl="0" algn="l">
              <a:lnSpc>
                <a:spcPct val="130000"/>
              </a:lnSpc>
              <a:spcBef>
                <a:spcPts val="500"/>
              </a:spcBef>
              <a:spcAft>
                <a:spcPts val="0"/>
              </a:spcAft>
              <a:buNone/>
            </a:pPr>
            <a:r>
              <a:t/>
            </a:r>
            <a:endParaRPr sz="1800"/>
          </a:p>
          <a:p>
            <a:pPr indent="0" lvl="0" marL="0" rtl="0" algn="l">
              <a:lnSpc>
                <a:spcPct val="110000"/>
              </a:lnSpc>
              <a:spcBef>
                <a:spcPts val="500"/>
              </a:spcBef>
              <a:spcAft>
                <a:spcPts val="0"/>
              </a:spcAft>
              <a:buClr>
                <a:schemeClr val="dk1"/>
              </a:buClr>
              <a:buSzPts val="2800"/>
              <a:buFont typeface="Arial"/>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7E0E"/>
              </a:buClr>
              <a:buSzPts val="4400"/>
              <a:buFont typeface="Twentieth Century"/>
              <a:buNone/>
            </a:pPr>
            <a:r>
              <a:rPr lang="en-US" sz="3200">
                <a:solidFill>
                  <a:srgbClr val="DD7E0E"/>
                </a:solidFill>
              </a:rPr>
              <a:t>Java Virtual Machine - JVM</a:t>
            </a:r>
            <a:endParaRPr>
              <a:solidFill>
                <a:srgbClr val="DD7E0E"/>
              </a:solidFill>
            </a:endParaRPr>
          </a:p>
        </p:txBody>
      </p:sp>
      <p:sp>
        <p:nvSpPr>
          <p:cNvPr id="220" name="Google Shape;220;p27"/>
          <p:cNvSpPr txBox="1"/>
          <p:nvPr>
            <p:ph idx="1" type="body"/>
          </p:nvPr>
        </p:nvSpPr>
        <p:spPr>
          <a:xfrm>
            <a:off x="838200" y="1346200"/>
            <a:ext cx="11155500" cy="43392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6400"/>
              <a:buFont typeface="Arial"/>
              <a:buNone/>
            </a:pPr>
            <a:r>
              <a:t/>
            </a:r>
            <a:endParaRPr sz="1800"/>
          </a:p>
          <a:p>
            <a:pPr indent="0" lvl="0" marL="0" rtl="0" algn="l">
              <a:lnSpc>
                <a:spcPct val="130000"/>
              </a:lnSpc>
              <a:spcBef>
                <a:spcPts val="500"/>
              </a:spcBef>
              <a:spcAft>
                <a:spcPts val="0"/>
              </a:spcAft>
              <a:buNone/>
            </a:pPr>
            <a:r>
              <a:rPr lang="en-US" sz="1800">
                <a:solidFill>
                  <a:srgbClr val="DD7E0E"/>
                </a:solidFill>
              </a:rPr>
              <a:t>Bellek Yönetimi</a:t>
            </a:r>
            <a:endParaRPr sz="1800"/>
          </a:p>
          <a:p>
            <a:pPr indent="-228600" lvl="1" marL="685800" rtl="0" algn="l">
              <a:lnSpc>
                <a:spcPct val="130000"/>
              </a:lnSpc>
              <a:spcBef>
                <a:spcPts val="500"/>
              </a:spcBef>
              <a:spcAft>
                <a:spcPts val="0"/>
              </a:spcAft>
              <a:buSzPts val="1800"/>
              <a:buChar char="•"/>
            </a:pPr>
            <a:r>
              <a:rPr lang="en-US" sz="1800"/>
              <a:t>Otomatik bellek yönetimi sağlar. JVM Garbage Collection mekanizmasını kullanır.</a:t>
            </a:r>
            <a:endParaRPr sz="1800"/>
          </a:p>
          <a:p>
            <a:pPr indent="0" lvl="0" marL="0" rtl="0" algn="l">
              <a:lnSpc>
                <a:spcPct val="130000"/>
              </a:lnSpc>
              <a:spcBef>
                <a:spcPts val="500"/>
              </a:spcBef>
              <a:spcAft>
                <a:spcPts val="0"/>
              </a:spcAft>
              <a:buNone/>
            </a:pPr>
            <a:r>
              <a:rPr lang="en-US" sz="1800">
                <a:solidFill>
                  <a:srgbClr val="DD7E0E"/>
                </a:solidFill>
              </a:rPr>
              <a:t>Güvenlik Yönetimi</a:t>
            </a:r>
            <a:endParaRPr sz="1800"/>
          </a:p>
          <a:p>
            <a:pPr indent="-228600" lvl="1" marL="685800" rtl="0" algn="l">
              <a:lnSpc>
                <a:spcPct val="130000"/>
              </a:lnSpc>
              <a:spcBef>
                <a:spcPts val="500"/>
              </a:spcBef>
              <a:spcAft>
                <a:spcPts val="0"/>
              </a:spcAft>
              <a:buSzPts val="1800"/>
              <a:buChar char="•"/>
            </a:pPr>
            <a:r>
              <a:rPr lang="en-US" sz="1800"/>
              <a:t>Java bytecode, güvenlik denetimlerinden geçer ve güvensiz işlemleri engellemek için güvenlik politikalarına uyar.</a:t>
            </a:r>
            <a:endParaRPr sz="1800"/>
          </a:p>
          <a:p>
            <a:pPr indent="0" lvl="0" marL="0" rtl="0" algn="l">
              <a:lnSpc>
                <a:spcPct val="110000"/>
              </a:lnSpc>
              <a:spcBef>
                <a:spcPts val="500"/>
              </a:spcBef>
              <a:spcAft>
                <a:spcPts val="0"/>
              </a:spcAft>
              <a:buNone/>
            </a:pPr>
            <a:r>
              <a:t/>
            </a:r>
            <a:endParaRPr sz="1800">
              <a:solidFill>
                <a:srgbClr val="374151"/>
              </a:solidFill>
              <a:latin typeface="Arial"/>
              <a:ea typeface="Arial"/>
              <a:cs typeface="Arial"/>
              <a:sym typeface="Arial"/>
            </a:endParaRPr>
          </a:p>
          <a:p>
            <a:pPr indent="0" lvl="0" marL="0" rtl="0" algn="l">
              <a:lnSpc>
                <a:spcPct val="130000"/>
              </a:lnSpc>
              <a:spcBef>
                <a:spcPts val="500"/>
              </a:spcBef>
              <a:spcAft>
                <a:spcPts val="0"/>
              </a:spcAft>
              <a:buClr>
                <a:srgbClr val="DD7E0E"/>
              </a:buClr>
              <a:buSzPts val="6400"/>
              <a:buFont typeface="Arial"/>
              <a:buNone/>
            </a:pPr>
            <a:r>
              <a:rPr lang="en-US" sz="1800">
                <a:solidFill>
                  <a:srgbClr val="DD7E0E"/>
                </a:solidFill>
              </a:rPr>
              <a:t>Bytecode Yorumlama (Cross platform)</a:t>
            </a:r>
            <a:endParaRPr sz="1800"/>
          </a:p>
          <a:p>
            <a:pPr indent="-241300" lvl="1" marL="685800" rtl="0" algn="l">
              <a:lnSpc>
                <a:spcPct val="130000"/>
              </a:lnSpc>
              <a:spcBef>
                <a:spcPts val="500"/>
              </a:spcBef>
              <a:spcAft>
                <a:spcPts val="0"/>
              </a:spcAft>
              <a:buSzPts val="1800"/>
              <a:buChar char="•"/>
            </a:pPr>
            <a:r>
              <a:rPr lang="en-US" sz="1800"/>
              <a:t>Bytecode  makine koduna çevirir.</a:t>
            </a:r>
            <a:endParaRPr sz="1800">
              <a:solidFill>
                <a:srgbClr val="DD7E0E"/>
              </a:solidFill>
            </a:endParaRPr>
          </a:p>
          <a:p>
            <a:pPr indent="0" lvl="0" marL="0" rtl="0" algn="l">
              <a:lnSpc>
                <a:spcPct val="110000"/>
              </a:lnSpc>
              <a:spcBef>
                <a:spcPts val="500"/>
              </a:spcBef>
              <a:spcAft>
                <a:spcPts val="0"/>
              </a:spcAft>
              <a:buClr>
                <a:schemeClr val="dk1"/>
              </a:buClr>
              <a:buSzPts val="2800"/>
              <a:buFont typeface="Arial"/>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a:t>
            </a:r>
            <a:r>
              <a:rPr lang="en-US" sz="3200">
                <a:solidFill>
                  <a:srgbClr val="DD7E0E"/>
                </a:solidFill>
              </a:rPr>
              <a:t>Archive - JAR</a:t>
            </a:r>
            <a:endParaRPr sz="3200">
              <a:solidFill>
                <a:srgbClr val="DD7E0E"/>
              </a:solidFill>
            </a:endParaRPr>
          </a:p>
        </p:txBody>
      </p:sp>
      <p:sp>
        <p:nvSpPr>
          <p:cNvPr id="227" name="Google Shape;227;p28"/>
          <p:cNvSpPr txBox="1"/>
          <p:nvPr>
            <p:ph idx="1" type="body"/>
          </p:nvPr>
        </p:nvSpPr>
        <p:spPr>
          <a:xfrm>
            <a:off x="838200" y="1346200"/>
            <a:ext cx="10515600" cy="4339167"/>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5500"/>
              <a:buFont typeface="Arial"/>
              <a:buNone/>
            </a:pPr>
            <a:r>
              <a:t/>
            </a:r>
            <a:endParaRPr sz="1800"/>
          </a:p>
          <a:p>
            <a:pPr indent="0" lvl="0" marL="0" rtl="0" algn="l">
              <a:lnSpc>
                <a:spcPct val="130000"/>
              </a:lnSpc>
              <a:spcBef>
                <a:spcPts val="500"/>
              </a:spcBef>
              <a:spcAft>
                <a:spcPts val="0"/>
              </a:spcAft>
              <a:buClr>
                <a:srgbClr val="374151"/>
              </a:buClr>
              <a:buSzPts val="2900"/>
              <a:buNone/>
            </a:pPr>
            <a:r>
              <a:rPr b="1" i="0" lang="en-US" sz="1800">
                <a:solidFill>
                  <a:srgbClr val="374151"/>
                </a:solidFill>
              </a:rPr>
              <a:t>JAR (Java Archive)</a:t>
            </a:r>
            <a:r>
              <a:rPr b="0" i="0" lang="en-US" sz="1800">
                <a:solidFill>
                  <a:srgbClr val="374151"/>
                </a:solidFill>
                <a:latin typeface="Avenir"/>
                <a:ea typeface="Avenir"/>
                <a:cs typeface="Avenir"/>
                <a:sym typeface="Avenir"/>
              </a:rPr>
              <a:t>, Java platformunda kullanılan bir arşiv formatıdır, Java uygulamalarını paketlemek, dağıtmak ve paylaşmak için kullanılır.</a:t>
            </a:r>
            <a:endParaRPr b="0" i="0" sz="1800">
              <a:solidFill>
                <a:srgbClr val="374151"/>
              </a:solidFill>
              <a:latin typeface="Avenir"/>
              <a:ea typeface="Avenir"/>
              <a:cs typeface="Avenir"/>
              <a:sym typeface="Avenir"/>
            </a:endParaRPr>
          </a:p>
          <a:p>
            <a:pPr indent="0" lvl="0" marL="0" rtl="0" algn="l">
              <a:lnSpc>
                <a:spcPct val="130000"/>
              </a:lnSpc>
              <a:spcBef>
                <a:spcPts val="500"/>
              </a:spcBef>
              <a:spcAft>
                <a:spcPts val="0"/>
              </a:spcAft>
              <a:buClr>
                <a:schemeClr val="dk1"/>
              </a:buClr>
              <a:buSzPts val="2900"/>
              <a:buNone/>
            </a:pPr>
            <a:r>
              <a:t/>
            </a:r>
            <a:endParaRPr sz="1800">
              <a:latin typeface="Avenir"/>
              <a:ea typeface="Avenir"/>
              <a:cs typeface="Avenir"/>
              <a:sym typeface="Avenir"/>
            </a:endParaRPr>
          </a:p>
          <a:p>
            <a:pPr indent="0" lvl="0" marL="0" rtl="0" algn="l">
              <a:lnSpc>
                <a:spcPct val="130000"/>
              </a:lnSpc>
              <a:spcBef>
                <a:spcPts val="500"/>
              </a:spcBef>
              <a:spcAft>
                <a:spcPts val="0"/>
              </a:spcAft>
              <a:buClr>
                <a:srgbClr val="374151"/>
              </a:buClr>
              <a:buSzPts val="2900"/>
              <a:buNone/>
            </a:pPr>
            <a:r>
              <a:rPr b="0" i="0" lang="en-US" sz="1800">
                <a:solidFill>
                  <a:srgbClr val="374151"/>
                </a:solidFill>
                <a:latin typeface="Avenir"/>
                <a:ea typeface="Avenir"/>
                <a:cs typeface="Avenir"/>
                <a:sym typeface="Avenir"/>
              </a:rPr>
              <a:t>JAR dosyaları, Java Development Kit (JDK) veya Java araçlarıyla oluşturulabilir. JDK, `</a:t>
            </a:r>
            <a:r>
              <a:rPr b="1" i="0" lang="en-US" sz="1800">
                <a:solidFill>
                  <a:srgbClr val="374151"/>
                </a:solidFill>
                <a:latin typeface="Avenir"/>
                <a:ea typeface="Avenir"/>
                <a:cs typeface="Avenir"/>
                <a:sym typeface="Avenir"/>
              </a:rPr>
              <a:t>jar</a:t>
            </a:r>
            <a:r>
              <a:rPr b="0" i="0" lang="en-US" sz="1800">
                <a:solidFill>
                  <a:srgbClr val="374151"/>
                </a:solidFill>
                <a:latin typeface="Avenir"/>
                <a:ea typeface="Avenir"/>
                <a:cs typeface="Avenir"/>
                <a:sym typeface="Avenir"/>
              </a:rPr>
              <a:t>` komutunu sağlar ve bu komutu kullanarak JAVA sınıflarını ve kaynak dosyalarını bir JAR dosyasına paketleyebiliriz.</a:t>
            </a:r>
            <a:endParaRPr sz="1800">
              <a:solidFill>
                <a:srgbClr val="374151"/>
              </a:solidFill>
              <a:latin typeface="Avenir"/>
              <a:ea typeface="Avenir"/>
              <a:cs typeface="Avenir"/>
              <a:sym typeface="Avenir"/>
            </a:endParaRPr>
          </a:p>
          <a:p>
            <a:pPr indent="0" lvl="0" marL="0" rtl="0" algn="l">
              <a:lnSpc>
                <a:spcPct val="110000"/>
              </a:lnSpc>
              <a:spcBef>
                <a:spcPts val="500"/>
              </a:spcBef>
              <a:spcAft>
                <a:spcPts val="0"/>
              </a:spcAft>
              <a:buClr>
                <a:schemeClr val="dk1"/>
              </a:buClr>
              <a:buSzPts val="2800"/>
              <a:buFont typeface="Arial"/>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API </a:t>
            </a:r>
            <a:endParaRPr sz="3200">
              <a:solidFill>
                <a:srgbClr val="DD7E0E"/>
              </a:solidFill>
            </a:endParaRPr>
          </a:p>
        </p:txBody>
      </p:sp>
      <p:sp>
        <p:nvSpPr>
          <p:cNvPr id="234" name="Google Shape;234;p29"/>
          <p:cNvSpPr txBox="1"/>
          <p:nvPr>
            <p:ph idx="1" type="body"/>
          </p:nvPr>
        </p:nvSpPr>
        <p:spPr>
          <a:xfrm>
            <a:off x="838200" y="1346200"/>
            <a:ext cx="10515600" cy="43392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5500"/>
              <a:buFont typeface="Arial"/>
              <a:buNone/>
            </a:pPr>
            <a:r>
              <a:t/>
            </a:r>
            <a:endParaRPr sz="1800"/>
          </a:p>
          <a:p>
            <a:pPr indent="0" lvl="0" marL="0" rtl="0" algn="l">
              <a:lnSpc>
                <a:spcPct val="130000"/>
              </a:lnSpc>
              <a:spcBef>
                <a:spcPts val="500"/>
              </a:spcBef>
              <a:spcAft>
                <a:spcPts val="0"/>
              </a:spcAft>
              <a:buClr>
                <a:srgbClr val="374151"/>
              </a:buClr>
              <a:buSzPts val="2900"/>
              <a:buNone/>
            </a:pPr>
            <a:r>
              <a:rPr b="1" lang="en-US" sz="1800">
                <a:solidFill>
                  <a:srgbClr val="374151"/>
                </a:solidFill>
              </a:rPr>
              <a:t>Java dilinde yazılmış uygulamalarla etkileşimde bulunabilen, Java'nın sunduğu tüm sınıflar, arayüzler ve metotların bir koleksiyonudur. Yani, bir programcıya Java dilinde uygulama geliştirmek için kullanılabilecek hazır kod parçaları sağlar.</a:t>
            </a:r>
            <a:endParaRPr b="1" sz="1800">
              <a:solidFill>
                <a:srgbClr val="374151"/>
              </a:solidFill>
            </a:endParaRPr>
          </a:p>
          <a:p>
            <a:pPr indent="0" lvl="0" marL="0" rtl="0" algn="l">
              <a:lnSpc>
                <a:spcPct val="130000"/>
              </a:lnSpc>
              <a:spcBef>
                <a:spcPts val="500"/>
              </a:spcBef>
              <a:spcAft>
                <a:spcPts val="0"/>
              </a:spcAft>
              <a:buClr>
                <a:srgbClr val="374151"/>
              </a:buClr>
              <a:buSzPts val="2900"/>
              <a:buNone/>
            </a:pPr>
            <a:r>
              <a:t/>
            </a:r>
            <a:endParaRPr b="1" sz="1800">
              <a:solidFill>
                <a:srgbClr val="374151"/>
              </a:solidFill>
            </a:endParaRPr>
          </a:p>
          <a:p>
            <a:pPr indent="0" lvl="0" marL="0" rtl="0" algn="l">
              <a:lnSpc>
                <a:spcPct val="130000"/>
              </a:lnSpc>
              <a:spcBef>
                <a:spcPts val="500"/>
              </a:spcBef>
              <a:spcAft>
                <a:spcPts val="0"/>
              </a:spcAft>
              <a:buClr>
                <a:srgbClr val="374151"/>
              </a:buClr>
              <a:buSzPts val="2900"/>
              <a:buNone/>
            </a:pPr>
            <a:r>
              <a:rPr b="1" lang="en-US" sz="1800">
                <a:solidFill>
                  <a:srgbClr val="374151"/>
                </a:solidFill>
              </a:rPr>
              <a:t>Java API, çok geniş bir kütüphane yelpazesi sunar. Bu kütüphaneler, farklı işlevsellikler sağlar.</a:t>
            </a:r>
            <a:endParaRPr b="1" sz="1800">
              <a:solidFill>
                <a:srgbClr val="374151"/>
              </a:solidFill>
            </a:endParaRPr>
          </a:p>
          <a:p>
            <a:pPr indent="0" lvl="0" marL="0" rtl="0" algn="l">
              <a:lnSpc>
                <a:spcPct val="130000"/>
              </a:lnSpc>
              <a:spcBef>
                <a:spcPts val="500"/>
              </a:spcBef>
              <a:spcAft>
                <a:spcPts val="0"/>
              </a:spcAft>
              <a:buClr>
                <a:srgbClr val="374151"/>
              </a:buClr>
              <a:buSzPts val="2900"/>
              <a:buNone/>
            </a:pPr>
            <a:r>
              <a:t/>
            </a:r>
            <a:endParaRPr b="1" sz="1800">
              <a:solidFill>
                <a:srgbClr val="374151"/>
              </a:solidFill>
            </a:endParaRPr>
          </a:p>
          <a:p>
            <a:pPr indent="0" lvl="0" marL="0" rtl="0" algn="l">
              <a:lnSpc>
                <a:spcPct val="130000"/>
              </a:lnSpc>
              <a:spcBef>
                <a:spcPts val="500"/>
              </a:spcBef>
              <a:spcAft>
                <a:spcPts val="0"/>
              </a:spcAft>
              <a:buClr>
                <a:srgbClr val="374151"/>
              </a:buClr>
              <a:buSzPts val="2900"/>
              <a:buNone/>
            </a:pPr>
            <a:r>
              <a:rPr b="1" lang="en-US" sz="1800">
                <a:solidFill>
                  <a:srgbClr val="374151"/>
                </a:solidFill>
              </a:rPr>
              <a:t>JAVA SE, JAVA EE, JAVA ME</a:t>
            </a:r>
            <a:endParaRPr b="1" sz="1800">
              <a:solidFill>
                <a:srgbClr val="374151"/>
              </a:solidFill>
            </a:endParaRPr>
          </a:p>
          <a:p>
            <a:pPr indent="0" lvl="0" marL="0" rtl="0" algn="l">
              <a:lnSpc>
                <a:spcPct val="110000"/>
              </a:lnSpc>
              <a:spcBef>
                <a:spcPts val="500"/>
              </a:spcBef>
              <a:spcAft>
                <a:spcPts val="0"/>
              </a:spcAft>
              <a:buClr>
                <a:schemeClr val="dk1"/>
              </a:buClr>
              <a:buSzPts val="2800"/>
              <a:buFont typeface="Arial"/>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API</a:t>
            </a:r>
            <a:endParaRPr sz="3200">
              <a:solidFill>
                <a:srgbClr val="DD7E0E"/>
              </a:solidFill>
            </a:endParaRPr>
          </a:p>
        </p:txBody>
      </p:sp>
      <p:sp>
        <p:nvSpPr>
          <p:cNvPr id="241" name="Google Shape;241;p30"/>
          <p:cNvSpPr txBox="1"/>
          <p:nvPr>
            <p:ph idx="1" type="body"/>
          </p:nvPr>
        </p:nvSpPr>
        <p:spPr>
          <a:xfrm>
            <a:off x="838200" y="1536700"/>
            <a:ext cx="10515600" cy="4148667"/>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rgbClr val="DD7E0E"/>
              </a:buClr>
              <a:buSzPts val="1820"/>
              <a:buNone/>
            </a:pPr>
            <a:r>
              <a:rPr lang="en-US" sz="1800">
                <a:solidFill>
                  <a:srgbClr val="DD7E0E"/>
                </a:solidFill>
              </a:rPr>
              <a:t>(JAVA SE) : </a:t>
            </a:r>
            <a:r>
              <a:rPr lang="en-US" sz="1800"/>
              <a:t>Java programlama dilinin temel sürümüdür ve genel amaçlı uygulamaların geliştirilmesi için kullanılır. Java SE, masaüstü uygulamaları, web uygulamaları, oyunlar ve daha birçok alanda kullanılabilir. Java SE, temel Java kütüphanelerini içerir ve Java Sanal Makinesi (JVM) üzerinde çalışır.</a:t>
            </a:r>
            <a:endParaRPr sz="1800"/>
          </a:p>
          <a:p>
            <a:pPr indent="0" lvl="0" marL="0" rtl="0" algn="l">
              <a:lnSpc>
                <a:spcPct val="110000"/>
              </a:lnSpc>
              <a:spcBef>
                <a:spcPts val="500"/>
              </a:spcBef>
              <a:spcAft>
                <a:spcPts val="0"/>
              </a:spcAft>
              <a:buClr>
                <a:schemeClr val="dk1"/>
              </a:buClr>
              <a:buSzPts val="1820"/>
              <a:buNone/>
            </a:pPr>
            <a:r>
              <a:t/>
            </a:r>
            <a:endParaRPr sz="1800"/>
          </a:p>
          <a:p>
            <a:pPr indent="0" lvl="0" marL="0" rtl="0" algn="l">
              <a:lnSpc>
                <a:spcPct val="110000"/>
              </a:lnSpc>
              <a:spcBef>
                <a:spcPts val="500"/>
              </a:spcBef>
              <a:spcAft>
                <a:spcPts val="0"/>
              </a:spcAft>
              <a:buClr>
                <a:srgbClr val="DD7E0E"/>
              </a:buClr>
              <a:buSzPts val="1820"/>
              <a:buNone/>
            </a:pPr>
            <a:r>
              <a:rPr lang="en-US" sz="1800">
                <a:solidFill>
                  <a:srgbClr val="DD7E0E"/>
                </a:solidFill>
              </a:rPr>
              <a:t>(JAVA EE) : </a:t>
            </a:r>
            <a:r>
              <a:rPr lang="en-US" sz="1800"/>
              <a:t>ölçeklenebilir ve dağıtılmış iş uygulamalarının geliştirilmesi için kullanılan bir platformdur. Java EE, web tabanlı uygulamalar, kurumsal uygulamalar ve veri tabanı işlemleri gibi geniş çaplı sistemlerin geliştirilmesini destekler. Java EE, Java SE'nin üzerine inşa edilmiştir ve ek kurumsal özellikler, API'ler ve kütüphaneler sağlar. Java EE, web sunucuları ve uygulama sunucuları üzerinde çalışır ve JavaServer Pages </a:t>
            </a:r>
            <a:r>
              <a:rPr lang="en-US" sz="1800">
                <a:solidFill>
                  <a:srgbClr val="DD7E0E"/>
                </a:solidFill>
              </a:rPr>
              <a:t>(JSP), Servlets</a:t>
            </a:r>
            <a:r>
              <a:rPr lang="en-US" sz="1800"/>
              <a:t>, Enterprise JavaBeans </a:t>
            </a:r>
            <a:r>
              <a:rPr lang="en-US" sz="1800">
                <a:solidFill>
                  <a:srgbClr val="DD7E0E"/>
                </a:solidFill>
              </a:rPr>
              <a:t>(EJB) </a:t>
            </a:r>
            <a:r>
              <a:rPr lang="en-US" sz="1800"/>
              <a:t>gibi bileşenleri içerir.</a:t>
            </a:r>
            <a:endParaRPr sz="1800"/>
          </a:p>
          <a:p>
            <a:pPr indent="0" lvl="0" marL="0" rtl="0" algn="l">
              <a:lnSpc>
                <a:spcPct val="110000"/>
              </a:lnSpc>
              <a:spcBef>
                <a:spcPts val="500"/>
              </a:spcBef>
              <a:spcAft>
                <a:spcPts val="0"/>
              </a:spcAft>
              <a:buClr>
                <a:schemeClr val="dk1"/>
              </a:buClr>
              <a:buSzPts val="1820"/>
              <a:buNone/>
            </a:pPr>
            <a:r>
              <a:t/>
            </a:r>
            <a:endParaRPr sz="1800"/>
          </a:p>
          <a:p>
            <a:pPr indent="0" lvl="0" marL="0" rtl="0" algn="l">
              <a:lnSpc>
                <a:spcPct val="90000"/>
              </a:lnSpc>
              <a:spcBef>
                <a:spcPts val="500"/>
              </a:spcBef>
              <a:spcAft>
                <a:spcPts val="0"/>
              </a:spcAft>
              <a:buClr>
                <a:schemeClr val="dk1"/>
              </a:buClr>
              <a:buSzPts val="1680"/>
              <a:buFont typeface="Arial"/>
              <a:buNone/>
            </a:pPr>
            <a:r>
              <a:t/>
            </a:r>
            <a:endParaRPr sz="1800">
              <a:solidFill>
                <a:srgbClr val="374151"/>
              </a:solidFill>
              <a:latin typeface="Arial"/>
              <a:ea typeface="Arial"/>
              <a:cs typeface="Arial"/>
              <a:sym typeface="Arial"/>
            </a:endParaRPr>
          </a:p>
          <a:p>
            <a:pPr indent="0" lvl="0" marL="0" rtl="0" algn="l">
              <a:lnSpc>
                <a:spcPct val="90000"/>
              </a:lnSpc>
              <a:spcBef>
                <a:spcPts val="500"/>
              </a:spcBef>
              <a:spcAft>
                <a:spcPts val="0"/>
              </a:spcAft>
              <a:buClr>
                <a:schemeClr val="dk1"/>
              </a:buClr>
              <a:buSzPts val="1960"/>
              <a:buFont typeface="Arial"/>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API</a:t>
            </a:r>
            <a:endParaRPr sz="3200"/>
          </a:p>
        </p:txBody>
      </p:sp>
      <p:sp>
        <p:nvSpPr>
          <p:cNvPr id="247" name="Google Shape;247;p3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1800">
                <a:solidFill>
                  <a:srgbClr val="DD7E0E"/>
                </a:solidFill>
              </a:rPr>
              <a:t>JAVA Micro Edition (JAVA ME) : </a:t>
            </a:r>
            <a:r>
              <a:rPr lang="en-US" sz="1800"/>
              <a:t> </a:t>
            </a:r>
            <a:endParaRPr sz="1800"/>
          </a:p>
          <a:p>
            <a:pPr indent="0" lvl="0" marL="0" rtl="0" algn="l">
              <a:lnSpc>
                <a:spcPct val="90000"/>
              </a:lnSpc>
              <a:spcBef>
                <a:spcPts val="0"/>
              </a:spcBef>
              <a:spcAft>
                <a:spcPts val="0"/>
              </a:spcAft>
              <a:buClr>
                <a:srgbClr val="DD7E0E"/>
              </a:buClr>
              <a:buSzPts val="2800"/>
              <a:buNone/>
            </a:pPr>
            <a:r>
              <a:t/>
            </a:r>
            <a:endParaRPr sz="1800"/>
          </a:p>
          <a:p>
            <a:pPr indent="0" lvl="0" marL="0" rtl="0" algn="l">
              <a:lnSpc>
                <a:spcPct val="90000"/>
              </a:lnSpc>
              <a:spcBef>
                <a:spcPts val="0"/>
              </a:spcBef>
              <a:spcAft>
                <a:spcPts val="0"/>
              </a:spcAft>
              <a:buClr>
                <a:srgbClr val="DD7E0E"/>
              </a:buClr>
              <a:buSzPts val="2800"/>
              <a:buNone/>
            </a:pPr>
            <a:r>
              <a:rPr lang="en-US" sz="1800"/>
              <a:t>Düşük güç tüketimi gerektiren cihazlar için optimize edilmiş bir platformdur. </a:t>
            </a:r>
            <a:endParaRPr sz="1800"/>
          </a:p>
          <a:p>
            <a:pPr indent="0" lvl="0" marL="0" rtl="0" algn="l">
              <a:lnSpc>
                <a:spcPct val="90000"/>
              </a:lnSpc>
              <a:spcBef>
                <a:spcPts val="0"/>
              </a:spcBef>
              <a:spcAft>
                <a:spcPts val="0"/>
              </a:spcAft>
              <a:buClr>
                <a:srgbClr val="DD7E0E"/>
              </a:buClr>
              <a:buSzPts val="2800"/>
              <a:buNone/>
            </a:pPr>
            <a:r>
              <a:t/>
            </a:r>
            <a:endParaRPr sz="1800"/>
          </a:p>
          <a:p>
            <a:pPr indent="0" lvl="0" marL="0" rtl="0" algn="l">
              <a:lnSpc>
                <a:spcPct val="90000"/>
              </a:lnSpc>
              <a:spcBef>
                <a:spcPts val="0"/>
              </a:spcBef>
              <a:spcAft>
                <a:spcPts val="0"/>
              </a:spcAft>
              <a:buClr>
                <a:srgbClr val="DD7E0E"/>
              </a:buClr>
              <a:buSzPts val="2800"/>
              <a:buNone/>
            </a:pPr>
            <a:r>
              <a:rPr lang="en-US" sz="1800"/>
              <a:t>Özellikle </a:t>
            </a:r>
            <a:r>
              <a:rPr lang="en-US" sz="1800">
                <a:solidFill>
                  <a:srgbClr val="DD7E0E"/>
                </a:solidFill>
              </a:rPr>
              <a:t>gömülü sistemler</a:t>
            </a:r>
            <a:r>
              <a:rPr lang="en-US" sz="1800"/>
              <a:t>, </a:t>
            </a:r>
            <a:r>
              <a:rPr lang="en-US" sz="1800">
                <a:solidFill>
                  <a:srgbClr val="DD7E0E"/>
                </a:solidFill>
              </a:rPr>
              <a:t>cep telefonları</a:t>
            </a:r>
            <a:r>
              <a:rPr lang="en-US" sz="1800"/>
              <a:t>, </a:t>
            </a:r>
            <a:r>
              <a:rPr lang="en-US" sz="1800">
                <a:solidFill>
                  <a:srgbClr val="DD7E0E"/>
                </a:solidFill>
              </a:rPr>
              <a:t>akıllı kartlar </a:t>
            </a:r>
            <a:r>
              <a:rPr lang="en-US" sz="1800"/>
              <a:t>ve diğer küçük cihazlar için uygulamalar geliştirmek için kullanılır. </a:t>
            </a:r>
            <a:endParaRPr sz="1800"/>
          </a:p>
          <a:p>
            <a:pPr indent="0" lvl="0" marL="0" rtl="0" algn="l">
              <a:lnSpc>
                <a:spcPct val="90000"/>
              </a:lnSpc>
              <a:spcBef>
                <a:spcPts val="1000"/>
              </a:spcBef>
              <a:spcAft>
                <a:spcPts val="0"/>
              </a:spcAft>
              <a:buClr>
                <a:schemeClr val="dk1"/>
              </a:buClr>
              <a:buSzPts val="2800"/>
              <a:buNone/>
            </a:pPr>
            <a:r>
              <a:t/>
            </a:r>
            <a:endParaRPr sz="1800"/>
          </a:p>
          <a:p>
            <a:pPr indent="0" lvl="0" marL="0" rtl="0" algn="l">
              <a:lnSpc>
                <a:spcPct val="90000"/>
              </a:lnSpc>
              <a:spcBef>
                <a:spcPts val="1000"/>
              </a:spcBef>
              <a:spcAft>
                <a:spcPts val="0"/>
              </a:spcAft>
              <a:buClr>
                <a:schemeClr val="dk1"/>
              </a:buClr>
              <a:buSzPts val="2800"/>
              <a:buNone/>
            </a:pPr>
            <a:r>
              <a:rPr lang="en-US" sz="1800"/>
              <a:t>Java ME, sınırlı kaynaklara sahip cihazlar için optimize edilmiş Java </a:t>
            </a:r>
            <a:r>
              <a:rPr lang="en-US" sz="1800"/>
              <a:t>SE nin</a:t>
            </a:r>
            <a:r>
              <a:rPr lang="en-US" sz="1800"/>
              <a:t> bir alt kümesini içerir.</a:t>
            </a:r>
            <a:endParaRPr sz="1800"/>
          </a:p>
          <a:p>
            <a:pPr indent="0" lvl="0" marL="0" rtl="0" algn="l">
              <a:lnSpc>
                <a:spcPct val="90000"/>
              </a:lnSpc>
              <a:spcBef>
                <a:spcPts val="1000"/>
              </a:spcBef>
              <a:spcAft>
                <a:spcPts val="0"/>
              </a:spcAft>
              <a:buClr>
                <a:schemeClr val="dk1"/>
              </a:buClr>
              <a:buSzPts val="2800"/>
              <a:buNone/>
            </a:pPr>
            <a:r>
              <a:t/>
            </a:r>
            <a:endParaRPr sz="1800"/>
          </a:p>
          <a:p>
            <a:pPr indent="0" lvl="0" marL="0" rtl="0" algn="l">
              <a:lnSpc>
                <a:spcPct val="90000"/>
              </a:lnSpc>
              <a:spcBef>
                <a:spcPts val="1000"/>
              </a:spcBef>
              <a:spcAft>
                <a:spcPts val="0"/>
              </a:spcAft>
              <a:buClr>
                <a:schemeClr val="dk1"/>
              </a:buClr>
              <a:buSzPts val="2800"/>
              <a:buNone/>
            </a:pPr>
            <a:r>
              <a:rPr lang="en-US" sz="1800"/>
              <a:t>Java ME, özel bir Java Sanal Makinesi </a:t>
            </a:r>
            <a:r>
              <a:rPr lang="en-US" sz="1800">
                <a:solidFill>
                  <a:srgbClr val="DD7E0E"/>
                </a:solidFill>
              </a:rPr>
              <a:t>(KVM) </a:t>
            </a:r>
            <a:r>
              <a:rPr lang="en-US" sz="1800"/>
              <a:t>kullanır</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Packages</a:t>
            </a:r>
            <a:endParaRPr sz="3200"/>
          </a:p>
        </p:txBody>
      </p:sp>
      <p:sp>
        <p:nvSpPr>
          <p:cNvPr id="253" name="Google Shape;253;p32"/>
          <p:cNvSpPr txBox="1"/>
          <p:nvPr>
            <p:ph idx="1" type="body"/>
          </p:nvPr>
        </p:nvSpPr>
        <p:spPr>
          <a:xfrm>
            <a:off x="838200" y="1825625"/>
            <a:ext cx="10656300" cy="4211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chemeClr val="dk1"/>
              </a:buClr>
              <a:buSzPts val="2800"/>
              <a:buNone/>
            </a:pPr>
            <a:r>
              <a:rPr lang="en-US" sz="1800"/>
              <a:t>Java'da </a:t>
            </a:r>
            <a:r>
              <a:rPr b="1" lang="en-US" sz="1800"/>
              <a:t>Package</a:t>
            </a:r>
            <a:r>
              <a:rPr lang="en-US" sz="1800"/>
              <a:t>, benzer sınıfları ve arayüzleri gruplamak için kullanılan bir isim alanıdır (namespace). </a:t>
            </a:r>
            <a:endParaRPr sz="1800"/>
          </a:p>
          <a:p>
            <a:pPr indent="0" lvl="0" marL="0" rtl="0" algn="l">
              <a:lnSpc>
                <a:spcPct val="90000"/>
              </a:lnSpc>
              <a:spcBef>
                <a:spcPts val="1000"/>
              </a:spcBef>
              <a:spcAft>
                <a:spcPts val="0"/>
              </a:spcAft>
              <a:buClr>
                <a:schemeClr val="dk1"/>
              </a:buClr>
              <a:buSzPts val="2800"/>
              <a:buNone/>
            </a:pPr>
            <a:r>
              <a:t/>
            </a:r>
            <a:endParaRPr sz="1800"/>
          </a:p>
          <a:p>
            <a:pPr indent="0" lvl="0" marL="0" rtl="0" algn="l">
              <a:lnSpc>
                <a:spcPct val="90000"/>
              </a:lnSpc>
              <a:spcBef>
                <a:spcPts val="1000"/>
              </a:spcBef>
              <a:spcAft>
                <a:spcPts val="0"/>
              </a:spcAft>
              <a:buClr>
                <a:schemeClr val="dk1"/>
              </a:buClr>
              <a:buSzPts val="2800"/>
              <a:buNone/>
            </a:pPr>
            <a:r>
              <a:rPr lang="en-US" sz="1800"/>
              <a:t>Bu özellik, büyük yazılım projelerinde kodun düzenli ve yönetilebilir olmasına yardımcı olur. Ayrıca, farklı geliştiricilerin aynı isimleri kullanmalarına rağmen çakışma olmasını engeller. Bir package, sınıfları gruplandırarak hem isimlendirme düzenini sağlar hem de erişim kontrolünü (public, private gibi) daha kolay yönetir.</a:t>
            </a:r>
            <a:endParaRPr sz="1800"/>
          </a:p>
          <a:p>
            <a:pPr indent="0" lvl="0" marL="0" rtl="0" algn="l">
              <a:lnSpc>
                <a:spcPct val="90000"/>
              </a:lnSpc>
              <a:spcBef>
                <a:spcPts val="1000"/>
              </a:spcBef>
              <a:spcAft>
                <a:spcPts val="0"/>
              </a:spcAft>
              <a:buClr>
                <a:schemeClr val="dk1"/>
              </a:buClr>
              <a:buSzPts val="2800"/>
              <a:buNone/>
            </a:pPr>
            <a:r>
              <a:t/>
            </a:r>
            <a:endParaRPr sz="1800"/>
          </a:p>
          <a:p>
            <a:pPr indent="0" lvl="0" marL="0" rtl="0" algn="l">
              <a:spcBef>
                <a:spcPts val="1000"/>
              </a:spcBef>
              <a:spcAft>
                <a:spcPts val="0"/>
              </a:spcAft>
              <a:buClr>
                <a:schemeClr val="dk1"/>
              </a:buClr>
              <a:buSzPts val="1100"/>
              <a:buFont typeface="Arial"/>
              <a:buNone/>
            </a:pPr>
            <a:r>
              <a:rPr lang="en-US" sz="1800">
                <a:solidFill>
                  <a:srgbClr val="188038"/>
                </a:solidFill>
              </a:rPr>
              <a:t>java.util</a:t>
            </a:r>
            <a:r>
              <a:rPr lang="en-US" sz="1800"/>
              <a:t> package’ı, koleksiyonlar (List, Set, Map vb.) ile ilgili sınıfları içerir.</a:t>
            </a:r>
            <a:endParaRPr sz="1800"/>
          </a:p>
          <a:p>
            <a:pPr indent="0" lvl="0" marL="0" rtl="0" algn="l">
              <a:spcBef>
                <a:spcPts val="1000"/>
              </a:spcBef>
              <a:spcAft>
                <a:spcPts val="0"/>
              </a:spcAft>
              <a:buClr>
                <a:schemeClr val="dk1"/>
              </a:buClr>
              <a:buSzPts val="1100"/>
              <a:buNone/>
            </a:pPr>
            <a:r>
              <a:rPr lang="en-US" sz="1800">
                <a:solidFill>
                  <a:srgbClr val="188038"/>
                </a:solidFill>
              </a:rPr>
              <a:t>java.io</a:t>
            </a:r>
            <a:r>
              <a:rPr lang="en-US" sz="1800"/>
              <a:t> package’ı, giriş/çıkış işlemleri ile ilgili sınıfları içerir.</a:t>
            </a:r>
            <a:endParaRPr sz="1800"/>
          </a:p>
          <a:p>
            <a:pPr indent="0" lvl="0" marL="0" rtl="0" algn="l">
              <a:spcBef>
                <a:spcPts val="1000"/>
              </a:spcBef>
              <a:spcAft>
                <a:spcPts val="0"/>
              </a:spcAft>
              <a:buClr>
                <a:schemeClr val="dk1"/>
              </a:buClr>
              <a:buSzPts val="1100"/>
              <a:buNone/>
            </a:pPr>
            <a:r>
              <a:t/>
            </a:r>
            <a:endParaRPr sz="1800"/>
          </a:p>
          <a:p>
            <a:pPr indent="0" lvl="0" marL="0" rtl="0" algn="l">
              <a:spcBef>
                <a:spcPts val="1000"/>
              </a:spcBef>
              <a:spcAft>
                <a:spcPts val="0"/>
              </a:spcAft>
              <a:buClr>
                <a:schemeClr val="dk1"/>
              </a:buClr>
              <a:buSzPts val="1100"/>
              <a:buFont typeface="Arial"/>
              <a:buNone/>
            </a:pPr>
            <a:r>
              <a:t/>
            </a:r>
            <a:endParaRPr sz="180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Packages</a:t>
            </a:r>
            <a:endParaRPr sz="3200"/>
          </a:p>
        </p:txBody>
      </p:sp>
      <p:sp>
        <p:nvSpPr>
          <p:cNvPr id="259" name="Google Shape;259;p33"/>
          <p:cNvSpPr txBox="1"/>
          <p:nvPr>
            <p:ph idx="1" type="body"/>
          </p:nvPr>
        </p:nvSpPr>
        <p:spPr>
          <a:xfrm>
            <a:off x="838200" y="1825625"/>
            <a:ext cx="10656300" cy="42111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None/>
            </a:pPr>
            <a:r>
              <a:rPr lang="en-US" sz="1800">
                <a:latin typeface="Arial"/>
                <a:ea typeface="Arial"/>
                <a:cs typeface="Arial"/>
                <a:sym typeface="Arial"/>
              </a:rPr>
              <a:t>Bir </a:t>
            </a:r>
            <a:r>
              <a:rPr b="1" lang="en-US" sz="1800">
                <a:latin typeface="Arial"/>
                <a:ea typeface="Arial"/>
                <a:cs typeface="Arial"/>
                <a:sym typeface="Arial"/>
              </a:rPr>
              <a:t>package</a:t>
            </a:r>
            <a:r>
              <a:rPr lang="en-US" sz="1800">
                <a:latin typeface="Arial"/>
                <a:ea typeface="Arial"/>
                <a:cs typeface="Arial"/>
                <a:sym typeface="Arial"/>
              </a:rPr>
              <a:t>'i kullanabilmek için, sınıfların başında </a:t>
            </a:r>
            <a:r>
              <a:rPr lang="en-US" sz="1800">
                <a:solidFill>
                  <a:srgbClr val="188038"/>
                </a:solidFill>
                <a:latin typeface="Roboto Mono"/>
                <a:ea typeface="Roboto Mono"/>
                <a:cs typeface="Roboto Mono"/>
                <a:sym typeface="Roboto Mono"/>
              </a:rPr>
              <a:t>import</a:t>
            </a:r>
            <a:r>
              <a:rPr lang="en-US" sz="1800">
                <a:latin typeface="Arial"/>
                <a:ea typeface="Arial"/>
                <a:cs typeface="Arial"/>
                <a:sym typeface="Arial"/>
              </a:rPr>
              <a:t> ifadesiyle belirtilmesi gerekir. </a:t>
            </a:r>
            <a:endParaRPr sz="1800">
              <a:latin typeface="Arial"/>
              <a:ea typeface="Arial"/>
              <a:cs typeface="Arial"/>
              <a:sym typeface="Arial"/>
            </a:endParaRPr>
          </a:p>
          <a:p>
            <a:pPr indent="0" lvl="0" marL="0" rtl="0" algn="l">
              <a:spcBef>
                <a:spcPts val="1000"/>
              </a:spcBef>
              <a:spcAft>
                <a:spcPts val="0"/>
              </a:spcAft>
              <a:buClr>
                <a:schemeClr val="dk1"/>
              </a:buClr>
              <a:buSzPts val="1100"/>
              <a:buNone/>
            </a:pPr>
            <a:r>
              <a:t/>
            </a:r>
            <a:endParaRPr sz="1800">
              <a:latin typeface="Arial"/>
              <a:ea typeface="Arial"/>
              <a:cs typeface="Arial"/>
              <a:sym typeface="Arial"/>
            </a:endParaRPr>
          </a:p>
          <a:p>
            <a:pPr indent="0" lvl="0" marL="0" rtl="0" algn="l">
              <a:spcBef>
                <a:spcPts val="1000"/>
              </a:spcBef>
              <a:spcAft>
                <a:spcPts val="0"/>
              </a:spcAft>
              <a:buClr>
                <a:schemeClr val="dk1"/>
              </a:buClr>
              <a:buSzPts val="1100"/>
              <a:buNone/>
            </a:pPr>
            <a:r>
              <a:t/>
            </a:r>
            <a:endParaRPr sz="1800">
              <a:latin typeface="Arial"/>
              <a:ea typeface="Arial"/>
              <a:cs typeface="Arial"/>
              <a:sym typeface="Arial"/>
            </a:endParaRPr>
          </a:p>
          <a:p>
            <a:pPr indent="0" lvl="0" marL="0" rtl="0" algn="l">
              <a:spcBef>
                <a:spcPts val="1000"/>
              </a:spcBef>
              <a:spcAft>
                <a:spcPts val="0"/>
              </a:spcAft>
              <a:buClr>
                <a:schemeClr val="dk1"/>
              </a:buClr>
              <a:buSzPts val="1100"/>
              <a:buNone/>
            </a:pPr>
            <a:r>
              <a:t/>
            </a:r>
            <a:endParaRPr sz="1800"/>
          </a:p>
          <a:p>
            <a:pPr indent="0" lvl="0" marL="0" rtl="0" algn="l">
              <a:spcBef>
                <a:spcPts val="1000"/>
              </a:spcBef>
              <a:spcAft>
                <a:spcPts val="0"/>
              </a:spcAft>
              <a:buClr>
                <a:schemeClr val="dk1"/>
              </a:buClr>
              <a:buSzPts val="1100"/>
              <a:buNone/>
            </a:pPr>
            <a:r>
              <a:t/>
            </a:r>
            <a:endParaRPr sz="180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sz="1800"/>
          </a:p>
        </p:txBody>
      </p:sp>
      <p:pic>
        <p:nvPicPr>
          <p:cNvPr id="260" name="Google Shape;260;p33"/>
          <p:cNvPicPr preferRelativeResize="0"/>
          <p:nvPr/>
        </p:nvPicPr>
        <p:blipFill>
          <a:blip r:embed="rId3">
            <a:alphaModFix/>
          </a:blip>
          <a:stretch>
            <a:fillRect/>
          </a:stretch>
        </p:blipFill>
        <p:spPr>
          <a:xfrm>
            <a:off x="1052276" y="2795875"/>
            <a:ext cx="8902524" cy="1570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Java API içinde neler vardır ?</a:t>
            </a:r>
            <a:endParaRPr sz="3200"/>
          </a:p>
        </p:txBody>
      </p:sp>
      <p:sp>
        <p:nvSpPr>
          <p:cNvPr id="266" name="Google Shape;266;p34"/>
          <p:cNvSpPr txBox="1"/>
          <p:nvPr>
            <p:ph idx="1" type="body"/>
          </p:nvPr>
        </p:nvSpPr>
        <p:spPr>
          <a:xfrm>
            <a:off x="838200" y="1825625"/>
            <a:ext cx="10656300" cy="4211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None/>
            </a:pPr>
            <a:r>
              <a:t/>
            </a:r>
            <a:endParaRPr sz="1800"/>
          </a:p>
          <a:p>
            <a:pPr indent="0" lvl="0" marL="0" rtl="0" algn="l">
              <a:lnSpc>
                <a:spcPct val="115000"/>
              </a:lnSpc>
              <a:spcBef>
                <a:spcPts val="1200"/>
              </a:spcBef>
              <a:spcAft>
                <a:spcPts val="0"/>
              </a:spcAft>
              <a:buClr>
                <a:schemeClr val="dk1"/>
              </a:buClr>
              <a:buSzPts val="1100"/>
              <a:buNone/>
            </a:pPr>
            <a:r>
              <a:rPr lang="en-US" sz="1800"/>
              <a:t>Java API, aşağıdaki gibi birçok önemli bileşeni içerir:</a:t>
            </a:r>
            <a:endParaRPr sz="1800"/>
          </a:p>
          <a:p>
            <a:pPr indent="-342900" lvl="0" marL="457200" rtl="0" algn="l">
              <a:lnSpc>
                <a:spcPct val="115000"/>
              </a:lnSpc>
              <a:spcBef>
                <a:spcPts val="1200"/>
              </a:spcBef>
              <a:spcAft>
                <a:spcPts val="0"/>
              </a:spcAft>
              <a:buSzPts val="1800"/>
              <a:buAutoNum type="arabicPeriod"/>
            </a:pPr>
            <a:r>
              <a:rPr b="1" lang="en-US" sz="1800"/>
              <a:t>Temel sınıflar ve veri yapıları</a:t>
            </a:r>
            <a:r>
              <a:rPr lang="en-US" sz="1800"/>
              <a:t>: </a:t>
            </a:r>
            <a:r>
              <a:rPr lang="en-US" sz="1800">
                <a:solidFill>
                  <a:srgbClr val="188038"/>
                </a:solidFill>
              </a:rPr>
              <a:t>java.lang</a:t>
            </a:r>
            <a:r>
              <a:rPr lang="en-US" sz="1800"/>
              <a:t>, </a:t>
            </a:r>
            <a:r>
              <a:rPr lang="en-US" sz="1800">
                <a:solidFill>
                  <a:srgbClr val="188038"/>
                </a:solidFill>
              </a:rPr>
              <a:t>java.util</a:t>
            </a:r>
            <a:endParaRPr sz="1800">
              <a:solidFill>
                <a:srgbClr val="188038"/>
              </a:solidFill>
            </a:endParaRPr>
          </a:p>
          <a:p>
            <a:pPr indent="-342900" lvl="0" marL="457200" rtl="0" algn="l">
              <a:lnSpc>
                <a:spcPct val="115000"/>
              </a:lnSpc>
              <a:spcBef>
                <a:spcPts val="0"/>
              </a:spcBef>
              <a:spcAft>
                <a:spcPts val="0"/>
              </a:spcAft>
              <a:buSzPts val="1800"/>
              <a:buAutoNum type="arabicPeriod"/>
            </a:pPr>
            <a:r>
              <a:rPr b="1" lang="en-US" sz="1800"/>
              <a:t>Giriş/Çıkış (I/O) sınıfları</a:t>
            </a:r>
            <a:r>
              <a:rPr lang="en-US" sz="1800"/>
              <a:t>: </a:t>
            </a:r>
            <a:r>
              <a:rPr lang="en-US" sz="1800">
                <a:solidFill>
                  <a:srgbClr val="188038"/>
                </a:solidFill>
              </a:rPr>
              <a:t>java.io</a:t>
            </a:r>
            <a:endParaRPr sz="1800">
              <a:solidFill>
                <a:srgbClr val="188038"/>
              </a:solidFill>
            </a:endParaRPr>
          </a:p>
          <a:p>
            <a:pPr indent="-342900" lvl="0" marL="457200" rtl="0" algn="l">
              <a:lnSpc>
                <a:spcPct val="115000"/>
              </a:lnSpc>
              <a:spcBef>
                <a:spcPts val="0"/>
              </a:spcBef>
              <a:spcAft>
                <a:spcPts val="0"/>
              </a:spcAft>
              <a:buSzPts val="1800"/>
              <a:buAutoNum type="arabicPeriod"/>
            </a:pPr>
            <a:r>
              <a:rPr b="1" lang="en-US" sz="1800"/>
              <a:t>Ağ Programlama</a:t>
            </a:r>
            <a:r>
              <a:rPr lang="en-US" sz="1800"/>
              <a:t>: </a:t>
            </a:r>
            <a:r>
              <a:rPr lang="en-US" sz="1800">
                <a:solidFill>
                  <a:srgbClr val="188038"/>
                </a:solidFill>
              </a:rPr>
              <a:t>java.net</a:t>
            </a:r>
            <a:endParaRPr sz="1800">
              <a:solidFill>
                <a:srgbClr val="188038"/>
              </a:solidFill>
            </a:endParaRPr>
          </a:p>
          <a:p>
            <a:pPr indent="-342900" lvl="0" marL="457200" rtl="0" algn="l">
              <a:lnSpc>
                <a:spcPct val="115000"/>
              </a:lnSpc>
              <a:spcBef>
                <a:spcPts val="0"/>
              </a:spcBef>
              <a:spcAft>
                <a:spcPts val="0"/>
              </a:spcAft>
              <a:buSzPts val="1800"/>
              <a:buAutoNum type="arabicPeriod"/>
            </a:pPr>
            <a:r>
              <a:rPr b="1" lang="en-US" sz="1800"/>
              <a:t>Veritabanı Bağlantıları</a:t>
            </a:r>
            <a:r>
              <a:rPr lang="en-US" sz="1800"/>
              <a:t>: </a:t>
            </a:r>
            <a:r>
              <a:rPr lang="en-US" sz="1800">
                <a:solidFill>
                  <a:srgbClr val="188038"/>
                </a:solidFill>
              </a:rPr>
              <a:t>java.sql</a:t>
            </a:r>
            <a:endParaRPr sz="1800">
              <a:solidFill>
                <a:srgbClr val="188038"/>
              </a:solidFill>
            </a:endParaRPr>
          </a:p>
          <a:p>
            <a:pPr indent="-342900" lvl="0" marL="457200" rtl="0" algn="l">
              <a:lnSpc>
                <a:spcPct val="115000"/>
              </a:lnSpc>
              <a:spcBef>
                <a:spcPts val="0"/>
              </a:spcBef>
              <a:spcAft>
                <a:spcPts val="0"/>
              </a:spcAft>
              <a:buSzPts val="1800"/>
              <a:buAutoNum type="arabicPeriod"/>
            </a:pPr>
            <a:r>
              <a:rPr b="1" lang="en-US" sz="1800"/>
              <a:t>GUI (Grafiksel Kullanıcı Arayüzü) Kitaplıkları</a:t>
            </a:r>
            <a:r>
              <a:rPr lang="en-US" sz="1800"/>
              <a:t>: </a:t>
            </a:r>
            <a:r>
              <a:rPr lang="en-US" sz="1800">
                <a:solidFill>
                  <a:srgbClr val="188038"/>
                </a:solidFill>
              </a:rPr>
              <a:t>javax.swing</a:t>
            </a:r>
            <a:endParaRPr sz="1800">
              <a:solidFill>
                <a:srgbClr val="188038"/>
              </a:solidFill>
            </a:endParaRPr>
          </a:p>
          <a:p>
            <a:pPr indent="-342900" lvl="0" marL="457200" rtl="0" algn="l">
              <a:lnSpc>
                <a:spcPct val="115000"/>
              </a:lnSpc>
              <a:spcBef>
                <a:spcPts val="0"/>
              </a:spcBef>
              <a:spcAft>
                <a:spcPts val="0"/>
              </a:spcAft>
              <a:buSzPts val="1800"/>
              <a:buAutoNum type="arabicPeriod"/>
            </a:pPr>
            <a:r>
              <a:rPr b="1" lang="en-US" sz="1800"/>
              <a:t>İşlemci ve Bellek Yönetimi</a:t>
            </a:r>
            <a:r>
              <a:rPr lang="en-US" sz="1800"/>
              <a:t>: </a:t>
            </a:r>
            <a:r>
              <a:rPr lang="en-US" sz="1800">
                <a:solidFill>
                  <a:srgbClr val="188038"/>
                </a:solidFill>
              </a:rPr>
              <a:t>java.lang</a:t>
            </a:r>
            <a:r>
              <a:rPr lang="en-US" sz="1800"/>
              <a:t>, </a:t>
            </a:r>
            <a:r>
              <a:rPr lang="en-US" sz="1800">
                <a:solidFill>
                  <a:srgbClr val="188038"/>
                </a:solidFill>
              </a:rPr>
              <a:t>java.util.concurrent</a:t>
            </a:r>
            <a:endParaRPr sz="1800">
              <a:solidFill>
                <a:srgbClr val="188038"/>
              </a:solidFill>
            </a:endParaRPr>
          </a:p>
          <a:p>
            <a:pPr indent="0" lvl="0" marL="0" rtl="0" algn="l">
              <a:spcBef>
                <a:spcPts val="1200"/>
              </a:spcBef>
              <a:spcAft>
                <a:spcPts val="0"/>
              </a:spcAft>
              <a:buClr>
                <a:schemeClr val="dk1"/>
              </a:buClr>
              <a:buSzPts val="1100"/>
              <a:buNone/>
            </a:pPr>
            <a:r>
              <a:t/>
            </a:r>
            <a:endParaRPr sz="1800"/>
          </a:p>
          <a:p>
            <a:pPr indent="0" lvl="0" marL="0" rtl="0" algn="l">
              <a:spcBef>
                <a:spcPts val="1000"/>
              </a:spcBef>
              <a:spcAft>
                <a:spcPts val="0"/>
              </a:spcAft>
              <a:buClr>
                <a:schemeClr val="dk1"/>
              </a:buClr>
              <a:buSzPts val="1100"/>
              <a:buNone/>
            </a:pPr>
            <a:r>
              <a:t/>
            </a:r>
            <a:endParaRPr sz="1800"/>
          </a:p>
          <a:p>
            <a:pPr indent="0" lvl="0" marL="0" rtl="0" algn="l">
              <a:spcBef>
                <a:spcPts val="1000"/>
              </a:spcBef>
              <a:spcAft>
                <a:spcPts val="0"/>
              </a:spcAft>
              <a:buClr>
                <a:schemeClr val="dk1"/>
              </a:buClr>
              <a:buSzPts val="1100"/>
              <a:buNone/>
            </a:pPr>
            <a:r>
              <a:t/>
            </a:r>
            <a:endParaRPr sz="1800"/>
          </a:p>
          <a:p>
            <a:pPr indent="0" lvl="0" marL="0" rtl="0" algn="l">
              <a:lnSpc>
                <a:spcPct val="90000"/>
              </a:lnSpc>
              <a:spcBef>
                <a:spcPts val="1000"/>
              </a:spcBef>
              <a:spcAft>
                <a:spcPts val="0"/>
              </a:spcAft>
              <a:buClr>
                <a:schemeClr val="dk1"/>
              </a:buClr>
              <a:buSzPts val="2800"/>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ph type="ctrTitle"/>
          </p:nvPr>
        </p:nvSpPr>
        <p:spPr>
          <a:xfrm>
            <a:off x="1084243" y="3687168"/>
            <a:ext cx="10196333" cy="164284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DD7E0E"/>
              </a:buClr>
              <a:buSzPts val="6000"/>
              <a:buFont typeface="Twentieth Century"/>
              <a:buNone/>
            </a:pPr>
            <a:r>
              <a:rPr lang="en-US" sz="5400">
                <a:solidFill>
                  <a:srgbClr val="DD7E0E"/>
                </a:solidFill>
              </a:rPr>
              <a:t>Nesne Yönelimli Programlama</a:t>
            </a:r>
            <a:endParaRPr sz="5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Nesne Nedir?</a:t>
            </a:r>
            <a:endParaRPr sz="3200"/>
          </a:p>
        </p:txBody>
      </p:sp>
      <p:sp>
        <p:nvSpPr>
          <p:cNvPr id="278" name="Google Shape;278;p36"/>
          <p:cNvSpPr/>
          <p:nvPr/>
        </p:nvSpPr>
        <p:spPr>
          <a:xfrm>
            <a:off x="922111" y="1492776"/>
            <a:ext cx="10369200" cy="38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0" lang="en-US" sz="1800" u="none" cap="none" strike="noStrike">
                <a:solidFill>
                  <a:schemeClr val="dk1"/>
                </a:solidFill>
                <a:latin typeface="Avenir"/>
                <a:ea typeface="Avenir"/>
                <a:cs typeface="Avenir"/>
                <a:sym typeface="Avenir"/>
              </a:rPr>
              <a:t>Nesne niteliği ve özelliği olan, görülen, hissedilen, duyulan her şeydir.</a:t>
            </a:r>
            <a:endParaRPr sz="1800">
              <a:latin typeface="Avenir"/>
              <a:ea typeface="Avenir"/>
              <a:cs typeface="Avenir"/>
              <a:sym typeface="Avenir"/>
            </a:endParaRPr>
          </a:p>
        </p:txBody>
      </p:sp>
      <p:pic>
        <p:nvPicPr>
          <p:cNvPr descr="Görsel sonucu" id="279" name="Google Shape;279;p36"/>
          <p:cNvPicPr preferRelativeResize="0"/>
          <p:nvPr/>
        </p:nvPicPr>
        <p:blipFill rotWithShape="1">
          <a:blip r:embed="rId3">
            <a:alphaModFix/>
          </a:blip>
          <a:srcRect b="0" l="0" r="0" t="0"/>
          <a:stretch/>
        </p:blipFill>
        <p:spPr>
          <a:xfrm rot="818309">
            <a:off x="7219325" y="3240494"/>
            <a:ext cx="3945227" cy="1787681"/>
          </a:xfrm>
          <a:prstGeom prst="rect">
            <a:avLst/>
          </a:prstGeom>
          <a:noFill/>
          <a:ln>
            <a:noFill/>
          </a:ln>
        </p:spPr>
      </p:pic>
      <p:pic>
        <p:nvPicPr>
          <p:cNvPr descr="nesne nedir ile ilgili görsel sonucu" id="280" name="Google Shape;280;p36"/>
          <p:cNvPicPr preferRelativeResize="0"/>
          <p:nvPr/>
        </p:nvPicPr>
        <p:blipFill rotWithShape="1">
          <a:blip r:embed="rId4">
            <a:alphaModFix/>
          </a:blip>
          <a:srcRect b="0" l="0" r="0" t="0"/>
          <a:stretch/>
        </p:blipFill>
        <p:spPr>
          <a:xfrm>
            <a:off x="5292418" y="4120277"/>
            <a:ext cx="1628536" cy="1498253"/>
          </a:xfrm>
          <a:prstGeom prst="rect">
            <a:avLst/>
          </a:prstGeom>
          <a:noFill/>
          <a:ln>
            <a:noFill/>
          </a:ln>
        </p:spPr>
      </p:pic>
      <p:pic>
        <p:nvPicPr>
          <p:cNvPr descr="nesne nedir ile ilgili görsel sonucu" id="281" name="Google Shape;281;p36"/>
          <p:cNvPicPr preferRelativeResize="0"/>
          <p:nvPr/>
        </p:nvPicPr>
        <p:blipFill rotWithShape="1">
          <a:blip r:embed="rId5">
            <a:alphaModFix/>
          </a:blip>
          <a:srcRect b="0" l="0" r="0" t="0"/>
          <a:stretch/>
        </p:blipFill>
        <p:spPr>
          <a:xfrm rot="-607602">
            <a:off x="1230949" y="2789911"/>
            <a:ext cx="3521362" cy="198076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560"/>
              <a:buFont typeface="Twentieth Century"/>
              <a:buNone/>
            </a:pPr>
            <a:r>
              <a:rPr lang="en-US" sz="3200">
                <a:solidFill>
                  <a:srgbClr val="DD7E0E"/>
                </a:solidFill>
              </a:rPr>
              <a:t>Object </a:t>
            </a:r>
            <a:r>
              <a:rPr lang="en-US" sz="3200">
                <a:solidFill>
                  <a:srgbClr val="DD7E0E"/>
                </a:solidFill>
              </a:rPr>
              <a:t>Oriented</a:t>
            </a:r>
            <a:r>
              <a:rPr lang="en-US" sz="3200">
                <a:solidFill>
                  <a:srgbClr val="DD7E0E"/>
                </a:solidFill>
              </a:rPr>
              <a:t> Programming Nedir? </a:t>
            </a:r>
            <a:endParaRPr sz="3200"/>
          </a:p>
        </p:txBody>
      </p:sp>
      <p:sp>
        <p:nvSpPr>
          <p:cNvPr id="288" name="Google Shape;288;p37"/>
          <p:cNvSpPr/>
          <p:nvPr/>
        </p:nvSpPr>
        <p:spPr>
          <a:xfrm>
            <a:off x="911424" y="1421501"/>
            <a:ext cx="10369152" cy="39333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Object </a:t>
            </a:r>
            <a:r>
              <a:rPr lang="en-US" sz="1800">
                <a:solidFill>
                  <a:schemeClr val="dk1"/>
                </a:solidFill>
                <a:latin typeface="Avenir"/>
                <a:ea typeface="Avenir"/>
                <a:cs typeface="Avenir"/>
                <a:sym typeface="Avenir"/>
              </a:rPr>
              <a:t>Oriented</a:t>
            </a:r>
            <a:r>
              <a:rPr lang="en-US" sz="1800">
                <a:solidFill>
                  <a:schemeClr val="dk1"/>
                </a:solidFill>
                <a:latin typeface="Avenir"/>
                <a:ea typeface="Avenir"/>
                <a:cs typeface="Avenir"/>
                <a:sym typeface="Avenir"/>
              </a:rPr>
              <a:t> Programming (Nesneye Yönelik Programlama), JAVA API </a:t>
            </a:r>
            <a:endParaRPr sz="1800"/>
          </a:p>
          <a:p>
            <a:pPr indent="0" lvl="0" marL="0" marR="0" rtl="0" algn="l">
              <a:spcBef>
                <a:spcPts val="0"/>
              </a:spcBef>
              <a:spcAft>
                <a:spcPts val="0"/>
              </a:spcAft>
              <a:buNone/>
            </a:pPr>
            <a:r>
              <a:rPr lang="en-US" sz="1800">
                <a:solidFill>
                  <a:schemeClr val="dk1"/>
                </a:solidFill>
                <a:latin typeface="Avenir"/>
                <a:ea typeface="Avenir"/>
                <a:cs typeface="Avenir"/>
                <a:sym typeface="Avenir"/>
              </a:rPr>
              <a:t>tanımlı olmayan yapıları bilgisayarımızın anlayacağı bir yapıda bizlere tanımlama imkanı sağlar. </a:t>
            </a:r>
            <a:endParaRPr sz="1800"/>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Örneğin, bir Java </a:t>
            </a:r>
            <a:r>
              <a:rPr lang="en-US" sz="1800">
                <a:solidFill>
                  <a:schemeClr val="dk1"/>
                </a:solidFill>
                <a:latin typeface="Avenir"/>
                <a:ea typeface="Avenir"/>
                <a:cs typeface="Avenir"/>
                <a:sym typeface="Avenir"/>
              </a:rPr>
              <a:t>İnput</a:t>
            </a:r>
            <a:r>
              <a:rPr lang="en-US" sz="1800">
                <a:solidFill>
                  <a:schemeClr val="dk1"/>
                </a:solidFill>
                <a:latin typeface="Avenir"/>
                <a:ea typeface="Avenir"/>
                <a:cs typeface="Avenir"/>
                <a:sym typeface="Avenir"/>
              </a:rPr>
              <a:t> oluştururken </a:t>
            </a:r>
            <a:endParaRPr sz="1800"/>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rgbClr val="007DC3"/>
                </a:solidFill>
                <a:latin typeface="Avenir"/>
                <a:ea typeface="Avenir"/>
                <a:cs typeface="Avenir"/>
                <a:sym typeface="Avenir"/>
              </a:rPr>
              <a:t>Scanner s</a:t>
            </a:r>
            <a:r>
              <a:rPr lang="en-US" sz="1800">
                <a:solidFill>
                  <a:schemeClr val="dk1"/>
                </a:solidFill>
                <a:latin typeface="Avenir"/>
                <a:ea typeface="Avenir"/>
                <a:cs typeface="Avenir"/>
                <a:sym typeface="Avenir"/>
              </a:rPr>
              <a:t> = </a:t>
            </a:r>
            <a:r>
              <a:rPr lang="en-US" sz="1800">
                <a:solidFill>
                  <a:srgbClr val="0000CC"/>
                </a:solidFill>
                <a:latin typeface="Avenir"/>
                <a:ea typeface="Avenir"/>
                <a:cs typeface="Avenir"/>
                <a:sym typeface="Avenir"/>
              </a:rPr>
              <a:t>new</a:t>
            </a:r>
            <a:r>
              <a:rPr lang="en-US" sz="1800">
                <a:solidFill>
                  <a:schemeClr val="dk1"/>
                </a:solidFill>
                <a:latin typeface="Avenir"/>
                <a:ea typeface="Avenir"/>
                <a:cs typeface="Avenir"/>
                <a:sym typeface="Avenir"/>
              </a:rPr>
              <a:t> </a:t>
            </a:r>
            <a:r>
              <a:rPr lang="en-US" sz="1800">
                <a:solidFill>
                  <a:srgbClr val="007DC3"/>
                </a:solidFill>
                <a:latin typeface="Avenir"/>
                <a:ea typeface="Avenir"/>
                <a:cs typeface="Avenir"/>
                <a:sym typeface="Avenir"/>
              </a:rPr>
              <a:t>Scanner()</a:t>
            </a:r>
            <a:r>
              <a:rPr lang="en-US" sz="1800">
                <a:solidFill>
                  <a:schemeClr val="dk1"/>
                </a:solidFill>
                <a:latin typeface="Avenir"/>
                <a:ea typeface="Avenir"/>
                <a:cs typeface="Avenir"/>
                <a:sym typeface="Avenir"/>
              </a:rPr>
              <a:t>; </a:t>
            </a:r>
            <a:endParaRPr sz="1800"/>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şeklinde bir tanımlama yapıyoruz.</a:t>
            </a:r>
            <a:endParaRPr sz="1800"/>
          </a:p>
          <a:p>
            <a:pPr indent="0" lvl="0" marL="0" marR="0" rtl="0" algn="l">
              <a:spcBef>
                <a:spcPts val="0"/>
              </a:spcBef>
              <a:spcAft>
                <a:spcPts val="0"/>
              </a:spcAft>
              <a:buNone/>
            </a:pPr>
            <a:r>
              <a:rPr lang="en-US" sz="1800">
                <a:solidFill>
                  <a:schemeClr val="dk1"/>
                </a:solidFill>
                <a:latin typeface="Avenir"/>
                <a:ea typeface="Avenir"/>
                <a:cs typeface="Avenir"/>
                <a:sym typeface="Avenir"/>
              </a:rPr>
              <a:t> </a:t>
            </a:r>
            <a:endParaRPr sz="1800"/>
          </a:p>
          <a:p>
            <a:pPr indent="0" lvl="0" marL="0" marR="0" rtl="0" algn="l">
              <a:spcBef>
                <a:spcPts val="0"/>
              </a:spcBef>
              <a:spcAft>
                <a:spcPts val="0"/>
              </a:spcAft>
              <a:buNone/>
            </a:pPr>
            <a:r>
              <a:rPr lang="en-US" sz="1800">
                <a:solidFill>
                  <a:schemeClr val="dk1"/>
                </a:solidFill>
                <a:latin typeface="Avenir"/>
                <a:ea typeface="Avenir"/>
                <a:cs typeface="Avenir"/>
                <a:sym typeface="Avenir"/>
              </a:rPr>
              <a:t>Bu şekilde bir bir </a:t>
            </a:r>
            <a:r>
              <a:rPr lang="en-US" sz="1800">
                <a:solidFill>
                  <a:schemeClr val="dk1"/>
                </a:solidFill>
                <a:latin typeface="Avenir"/>
                <a:ea typeface="Avenir"/>
                <a:cs typeface="Avenir"/>
                <a:sym typeface="Avenir"/>
              </a:rPr>
              <a:t>tanım yapabilmemizin</a:t>
            </a:r>
            <a:r>
              <a:rPr lang="en-US" sz="1800">
                <a:solidFill>
                  <a:schemeClr val="dk1"/>
                </a:solidFill>
                <a:latin typeface="Avenir"/>
                <a:ea typeface="Avenir"/>
                <a:cs typeface="Avenir"/>
                <a:sym typeface="Avenir"/>
              </a:rPr>
              <a:t> nedeni, </a:t>
            </a:r>
            <a:r>
              <a:rPr lang="en-US" sz="1800">
                <a:solidFill>
                  <a:srgbClr val="DD7E0E"/>
                </a:solidFill>
                <a:latin typeface="Avenir"/>
                <a:ea typeface="Avenir"/>
                <a:cs typeface="Avenir"/>
                <a:sym typeface="Avenir"/>
              </a:rPr>
              <a:t>Scanner</a:t>
            </a:r>
            <a:r>
              <a:rPr b="1" lang="en-US" sz="1800">
                <a:solidFill>
                  <a:schemeClr val="dk1"/>
                </a:solidFill>
                <a:latin typeface="Avenir"/>
                <a:ea typeface="Avenir"/>
                <a:cs typeface="Avenir"/>
                <a:sym typeface="Avenir"/>
              </a:rPr>
              <a:t> </a:t>
            </a:r>
            <a:r>
              <a:rPr lang="en-US" sz="1800">
                <a:solidFill>
                  <a:schemeClr val="dk1"/>
                </a:solidFill>
                <a:latin typeface="Avenir"/>
                <a:ea typeface="Avenir"/>
                <a:cs typeface="Avenir"/>
                <a:sym typeface="Avenir"/>
              </a:rPr>
              <a:t>sınıfının yapısının JDK ortamında tanımlı olmasından </a:t>
            </a:r>
            <a:r>
              <a:rPr lang="en-US" sz="1800">
                <a:solidFill>
                  <a:schemeClr val="dk1"/>
                </a:solidFill>
                <a:latin typeface="Avenir"/>
                <a:ea typeface="Avenir"/>
                <a:cs typeface="Avenir"/>
                <a:sym typeface="Avenir"/>
              </a:rPr>
              <a:t>kaynaklıdır</a:t>
            </a:r>
            <a:r>
              <a:rPr lang="en-US" sz="1800">
                <a:solidFill>
                  <a:schemeClr val="dk1"/>
                </a:solidFill>
                <a:latin typeface="Avenir"/>
                <a:ea typeface="Avenir"/>
                <a:cs typeface="Avenir"/>
                <a:sym typeface="Avenir"/>
              </a:rPr>
              <a:t>.</a:t>
            </a:r>
            <a:endParaRPr sz="1800"/>
          </a:p>
          <a:p>
            <a:pPr indent="0" lvl="0" marL="0" marR="0" rtl="0" algn="l">
              <a:spcBef>
                <a:spcPts val="0"/>
              </a:spcBef>
              <a:spcAft>
                <a:spcPts val="0"/>
              </a:spcAft>
              <a:buNone/>
            </a:pPr>
            <a:r>
              <a:rPr lang="en-US" sz="1920">
                <a:solidFill>
                  <a:schemeClr val="dk1"/>
                </a:solidFill>
                <a:latin typeface="Avenir"/>
                <a:ea typeface="Avenir"/>
                <a:cs typeface="Avenir"/>
                <a:sym typeface="Avenir"/>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8"/>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OOP ile bir nesne tanımlıyoruz</a:t>
            </a:r>
            <a:endParaRPr sz="3200"/>
          </a:p>
        </p:txBody>
      </p:sp>
      <p:sp>
        <p:nvSpPr>
          <p:cNvPr id="294" name="Google Shape;294;p38"/>
          <p:cNvSpPr/>
          <p:nvPr/>
        </p:nvSpPr>
        <p:spPr>
          <a:xfrm>
            <a:off x="841778" y="1355170"/>
            <a:ext cx="10208746" cy="7571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Bir bilgisayarı nesne olarak tanımlayacak olursak nesnemizin ne gibi özellikler (attribute) taşıyacağını şu şekilde belirleyebiliriz.</a:t>
            </a:r>
            <a:endParaRPr sz="1800"/>
          </a:p>
        </p:txBody>
      </p:sp>
      <p:pic>
        <p:nvPicPr>
          <p:cNvPr id="295" name="Google Shape;295;p38"/>
          <p:cNvPicPr preferRelativeResize="0"/>
          <p:nvPr/>
        </p:nvPicPr>
        <p:blipFill rotWithShape="1">
          <a:blip r:embed="rId3">
            <a:alphaModFix/>
          </a:blip>
          <a:srcRect b="0" l="0" r="0" t="0"/>
          <a:stretch/>
        </p:blipFill>
        <p:spPr>
          <a:xfrm>
            <a:off x="2121158" y="2498170"/>
            <a:ext cx="3135214" cy="3368791"/>
          </a:xfrm>
          <a:prstGeom prst="rect">
            <a:avLst/>
          </a:prstGeom>
          <a:noFill/>
          <a:ln>
            <a:noFill/>
          </a:ln>
        </p:spPr>
      </p:pic>
      <p:sp>
        <p:nvSpPr>
          <p:cNvPr id="296" name="Google Shape;296;p38"/>
          <p:cNvSpPr/>
          <p:nvPr/>
        </p:nvSpPr>
        <p:spPr>
          <a:xfrm>
            <a:off x="6268820" y="2219266"/>
            <a:ext cx="4764941" cy="3360920"/>
          </a:xfrm>
          <a:prstGeom prst="rect">
            <a:avLst/>
          </a:prstGeom>
          <a:noFill/>
          <a:ln>
            <a:noFill/>
          </a:ln>
        </p:spPr>
        <p:txBody>
          <a:bodyPr anchorCtr="0" anchor="t" bIns="54850" lIns="109725" spcFirstLastPara="1" rIns="109725" wrap="square" tIns="54850">
            <a:noAutofit/>
          </a:bodyPr>
          <a:lstStyle/>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Ekran(Monitör)</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Anakart</a:t>
            </a:r>
            <a:endParaRPr b="1" sz="1800">
              <a:solidFill>
                <a:schemeClr val="dk1"/>
              </a:solidFill>
              <a:latin typeface="Avenir"/>
              <a:ea typeface="Avenir"/>
              <a:cs typeface="Avenir"/>
              <a:sym typeface="Avenir"/>
            </a:endParaRPr>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İşlemci</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Bellek</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Genişletme Kartı(Ekran Kartı vb. için)</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Güç Kaynağı</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Optik Sürücü</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Sabit Disk</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Klavye</a:t>
            </a:r>
            <a:endParaRPr sz="1800"/>
          </a:p>
          <a:p>
            <a:pPr indent="-541020" lvl="0" marL="548640" marR="0" rtl="0" algn="l">
              <a:spcBef>
                <a:spcPts val="0"/>
              </a:spcBef>
              <a:spcAft>
                <a:spcPts val="0"/>
              </a:spcAft>
              <a:buClr>
                <a:schemeClr val="dk1"/>
              </a:buClr>
              <a:buSzPts val="1800"/>
              <a:buFont typeface="Twentieth Century"/>
              <a:buAutoNum type="arabicPeriod"/>
            </a:pPr>
            <a:r>
              <a:rPr b="1" lang="en-US" sz="1800">
                <a:solidFill>
                  <a:schemeClr val="dk1"/>
                </a:solidFill>
                <a:latin typeface="Avenir"/>
                <a:ea typeface="Avenir"/>
                <a:cs typeface="Avenir"/>
                <a:sym typeface="Avenir"/>
              </a:rPr>
              <a:t>Fare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animEffect filter="fade" transition="in">
                                      <p:cBhvr>
                                        <p:cTn dur="1000"/>
                                        <p:tgtEl>
                                          <p:spTgt spid="2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1" st="1"/>
                                            </p:txEl>
                                          </p:spTgt>
                                        </p:tgtEl>
                                        <p:attrNameLst>
                                          <p:attrName>style.visibility</p:attrName>
                                        </p:attrNameLst>
                                      </p:cBhvr>
                                      <p:to>
                                        <p:strVal val="visible"/>
                                      </p:to>
                                    </p:set>
                                    <p:animEffect filter="fade" transition="in">
                                      <p:cBhvr>
                                        <p:cTn dur="1000"/>
                                        <p:tgtEl>
                                          <p:spTgt spid="2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2" st="2"/>
                                            </p:txEl>
                                          </p:spTgt>
                                        </p:tgtEl>
                                        <p:attrNameLst>
                                          <p:attrName>style.visibility</p:attrName>
                                        </p:attrNameLst>
                                      </p:cBhvr>
                                      <p:to>
                                        <p:strVal val="visible"/>
                                      </p:to>
                                    </p:set>
                                    <p:animEffect filter="fade" transition="in">
                                      <p:cBhvr>
                                        <p:cTn dur="1000"/>
                                        <p:tgtEl>
                                          <p:spTgt spid="2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3" st="3"/>
                                            </p:txEl>
                                          </p:spTgt>
                                        </p:tgtEl>
                                        <p:attrNameLst>
                                          <p:attrName>style.visibility</p:attrName>
                                        </p:attrNameLst>
                                      </p:cBhvr>
                                      <p:to>
                                        <p:strVal val="visible"/>
                                      </p:to>
                                    </p:set>
                                    <p:animEffect filter="fade" transition="in">
                                      <p:cBhvr>
                                        <p:cTn dur="1000"/>
                                        <p:tgtEl>
                                          <p:spTgt spid="2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4" st="4"/>
                                            </p:txEl>
                                          </p:spTgt>
                                        </p:tgtEl>
                                        <p:attrNameLst>
                                          <p:attrName>style.visibility</p:attrName>
                                        </p:attrNameLst>
                                      </p:cBhvr>
                                      <p:to>
                                        <p:strVal val="visible"/>
                                      </p:to>
                                    </p:set>
                                    <p:animEffect filter="fade" transition="in">
                                      <p:cBhvr>
                                        <p:cTn dur="1000"/>
                                        <p:tgtEl>
                                          <p:spTgt spid="2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5" st="5"/>
                                            </p:txEl>
                                          </p:spTgt>
                                        </p:tgtEl>
                                        <p:attrNameLst>
                                          <p:attrName>style.visibility</p:attrName>
                                        </p:attrNameLst>
                                      </p:cBhvr>
                                      <p:to>
                                        <p:strVal val="visible"/>
                                      </p:to>
                                    </p:set>
                                    <p:animEffect filter="fade" transition="in">
                                      <p:cBhvr>
                                        <p:cTn dur="1000"/>
                                        <p:tgtEl>
                                          <p:spTgt spid="2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6" st="6"/>
                                            </p:txEl>
                                          </p:spTgt>
                                        </p:tgtEl>
                                        <p:attrNameLst>
                                          <p:attrName>style.visibility</p:attrName>
                                        </p:attrNameLst>
                                      </p:cBhvr>
                                      <p:to>
                                        <p:strVal val="visible"/>
                                      </p:to>
                                    </p:set>
                                    <p:animEffect filter="fade" transition="in">
                                      <p:cBhvr>
                                        <p:cTn dur="1000"/>
                                        <p:tgtEl>
                                          <p:spTgt spid="2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7" st="7"/>
                                            </p:txEl>
                                          </p:spTgt>
                                        </p:tgtEl>
                                        <p:attrNameLst>
                                          <p:attrName>style.visibility</p:attrName>
                                        </p:attrNameLst>
                                      </p:cBhvr>
                                      <p:to>
                                        <p:strVal val="visible"/>
                                      </p:to>
                                    </p:set>
                                    <p:animEffect filter="fade" transition="in">
                                      <p:cBhvr>
                                        <p:cTn dur="1000"/>
                                        <p:tgtEl>
                                          <p:spTgt spid="29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8" st="8"/>
                                            </p:txEl>
                                          </p:spTgt>
                                        </p:tgtEl>
                                        <p:attrNameLst>
                                          <p:attrName>style.visibility</p:attrName>
                                        </p:attrNameLst>
                                      </p:cBhvr>
                                      <p:to>
                                        <p:strVal val="visible"/>
                                      </p:to>
                                    </p:set>
                                    <p:animEffect filter="fade" transition="in">
                                      <p:cBhvr>
                                        <p:cTn dur="1000"/>
                                        <p:tgtEl>
                                          <p:spTgt spid="29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9" st="9"/>
                                            </p:txEl>
                                          </p:spTgt>
                                        </p:tgtEl>
                                        <p:attrNameLst>
                                          <p:attrName>style.visibility</p:attrName>
                                        </p:attrNameLst>
                                      </p:cBhvr>
                                      <p:to>
                                        <p:strVal val="visible"/>
                                      </p:to>
                                    </p:set>
                                    <p:animEffect filter="fade" transition="in">
                                      <p:cBhvr>
                                        <p:cTn dur="1000"/>
                                        <p:tgtEl>
                                          <p:spTgt spid="296">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9"/>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DD7E0E"/>
              </a:buClr>
              <a:buSzPts val="4080"/>
              <a:buFont typeface="Twentieth Century"/>
              <a:buNone/>
            </a:pPr>
            <a:r>
              <a:rPr lang="en-US" sz="3200">
                <a:solidFill>
                  <a:srgbClr val="DD7E0E"/>
                </a:solidFill>
              </a:rPr>
              <a:t>Nesne Yönelimli Programlamanın Avantajları</a:t>
            </a:r>
            <a:endParaRPr sz="3200"/>
          </a:p>
        </p:txBody>
      </p:sp>
      <p:sp>
        <p:nvSpPr>
          <p:cNvPr id="303" name="Google Shape;303;p39"/>
          <p:cNvSpPr/>
          <p:nvPr/>
        </p:nvSpPr>
        <p:spPr>
          <a:xfrm>
            <a:off x="997834" y="1417639"/>
            <a:ext cx="6230280" cy="2751522"/>
          </a:xfrm>
          <a:prstGeom prst="rect">
            <a:avLst/>
          </a:prstGeom>
          <a:noFill/>
          <a:ln>
            <a:noFill/>
          </a:ln>
        </p:spPr>
        <p:txBody>
          <a:bodyPr anchorCtr="0" anchor="t" bIns="45700" lIns="91425" spcFirstLastPara="1" rIns="91425" wrap="square" tIns="45700">
            <a:noAutofit/>
          </a:bodyPr>
          <a:lstStyle/>
          <a:p>
            <a:pPr indent="-205740" lvl="0" marL="342900" marR="0" rtl="0" algn="l">
              <a:spcBef>
                <a:spcPts val="0"/>
              </a:spcBef>
              <a:spcAft>
                <a:spcPts val="0"/>
              </a:spcAft>
              <a:buClr>
                <a:schemeClr val="dk1"/>
              </a:buClr>
              <a:buSzPts val="2160"/>
              <a:buFont typeface="Noto Sans Symbols"/>
              <a:buNone/>
            </a:pPr>
            <a:r>
              <a:t/>
            </a:r>
            <a:endParaRPr sz="2160">
              <a:solidFill>
                <a:srgbClr val="DD7E0E"/>
              </a:solidFill>
              <a:latin typeface="Avenir"/>
              <a:ea typeface="Avenir"/>
              <a:cs typeface="Avenir"/>
              <a:sym typeface="Avenir"/>
            </a:endParaRPr>
          </a:p>
          <a:p>
            <a:pPr indent="-205740" lvl="0" marL="342900" marR="0" rtl="0" algn="l">
              <a:spcBef>
                <a:spcPts val="0"/>
              </a:spcBef>
              <a:spcAft>
                <a:spcPts val="0"/>
              </a:spcAft>
              <a:buClr>
                <a:schemeClr val="dk1"/>
              </a:buClr>
              <a:buSzPts val="2160"/>
              <a:buFont typeface="Noto Sans Symbols"/>
              <a:buNone/>
            </a:pPr>
            <a:r>
              <a:t/>
            </a:r>
            <a:endParaRPr sz="2160">
              <a:solidFill>
                <a:srgbClr val="DD7E0E"/>
              </a:solidFill>
              <a:latin typeface="Avenir"/>
              <a:ea typeface="Avenir"/>
              <a:cs typeface="Avenir"/>
              <a:sym typeface="Avenir"/>
            </a:endParaRPr>
          </a:p>
          <a:p>
            <a:pPr indent="-205740" lvl="0" marL="342900" marR="0" rtl="0" algn="l">
              <a:spcBef>
                <a:spcPts val="0"/>
              </a:spcBef>
              <a:spcAft>
                <a:spcPts val="0"/>
              </a:spcAft>
              <a:buClr>
                <a:schemeClr val="dk1"/>
              </a:buClr>
              <a:buSzPts val="2160"/>
              <a:buFont typeface="Noto Sans Symbols"/>
              <a:buNone/>
            </a:pPr>
            <a:r>
              <a:t/>
            </a:r>
            <a:endParaRPr sz="2160">
              <a:solidFill>
                <a:schemeClr val="dk1"/>
              </a:solidFill>
              <a:latin typeface="Avenir"/>
              <a:ea typeface="Avenir"/>
              <a:cs typeface="Avenir"/>
              <a:sym typeface="Avenir"/>
            </a:endParaRPr>
          </a:p>
          <a:p>
            <a:pPr indent="-342900" lvl="0" marL="342900" marR="0" rtl="0" algn="l">
              <a:spcBef>
                <a:spcPts val="0"/>
              </a:spcBef>
              <a:spcAft>
                <a:spcPts val="0"/>
              </a:spcAft>
              <a:buClr>
                <a:schemeClr val="dk1"/>
              </a:buClr>
              <a:buSzPts val="2160"/>
              <a:buFont typeface="Noto Sans Symbols"/>
              <a:buChar char="✔"/>
            </a:pPr>
            <a:r>
              <a:rPr lang="en-US" sz="2160">
                <a:solidFill>
                  <a:schemeClr val="dk1"/>
                </a:solidFill>
                <a:latin typeface="Avenir"/>
                <a:ea typeface="Avenir"/>
                <a:cs typeface="Avenir"/>
                <a:sym typeface="Avenir"/>
              </a:rPr>
              <a:t>Reusability( Tekrar Kullanılabilirlik)</a:t>
            </a:r>
            <a:endParaRPr/>
          </a:p>
          <a:p>
            <a:pPr indent="-205740" lvl="0" marL="342900" marR="0" rtl="0" algn="l">
              <a:spcBef>
                <a:spcPts val="0"/>
              </a:spcBef>
              <a:spcAft>
                <a:spcPts val="0"/>
              </a:spcAft>
              <a:buClr>
                <a:schemeClr val="dk1"/>
              </a:buClr>
              <a:buSzPts val="2160"/>
              <a:buFont typeface="Noto Sans Symbols"/>
              <a:buNone/>
            </a:pPr>
            <a:r>
              <a:t/>
            </a:r>
            <a:endParaRPr sz="2160">
              <a:solidFill>
                <a:schemeClr val="dk1"/>
              </a:solidFill>
              <a:latin typeface="Avenir"/>
              <a:ea typeface="Avenir"/>
              <a:cs typeface="Avenir"/>
              <a:sym typeface="Avenir"/>
            </a:endParaRPr>
          </a:p>
          <a:p>
            <a:pPr indent="-342900" lvl="0" marL="342900" marR="0" rtl="0" algn="l">
              <a:spcBef>
                <a:spcPts val="0"/>
              </a:spcBef>
              <a:spcAft>
                <a:spcPts val="0"/>
              </a:spcAft>
              <a:buClr>
                <a:schemeClr val="dk1"/>
              </a:buClr>
              <a:buSzPts val="2160"/>
              <a:buFont typeface="Noto Sans Symbols"/>
              <a:buChar char="✔"/>
            </a:pPr>
            <a:r>
              <a:rPr lang="en-US" sz="2160">
                <a:solidFill>
                  <a:schemeClr val="dk1"/>
                </a:solidFill>
                <a:latin typeface="Avenir"/>
                <a:ea typeface="Avenir"/>
                <a:cs typeface="Avenir"/>
                <a:sym typeface="Avenir"/>
              </a:rPr>
              <a:t>Extensibility( Genişletilebilirlik)</a:t>
            </a:r>
            <a:endParaRPr/>
          </a:p>
          <a:p>
            <a:pPr indent="-205740" lvl="0" marL="342900" marR="0" rtl="0" algn="l">
              <a:spcBef>
                <a:spcPts val="0"/>
              </a:spcBef>
              <a:spcAft>
                <a:spcPts val="0"/>
              </a:spcAft>
              <a:buClr>
                <a:schemeClr val="dk1"/>
              </a:buClr>
              <a:buSzPts val="2160"/>
              <a:buFont typeface="Noto Sans Symbols"/>
              <a:buNone/>
            </a:pPr>
            <a:r>
              <a:t/>
            </a:r>
            <a:endParaRPr sz="2160">
              <a:solidFill>
                <a:schemeClr val="dk1"/>
              </a:solidFill>
              <a:latin typeface="Avenir"/>
              <a:ea typeface="Avenir"/>
              <a:cs typeface="Avenir"/>
              <a:sym typeface="Avenir"/>
            </a:endParaRPr>
          </a:p>
          <a:p>
            <a:pPr indent="-342900" lvl="0" marL="342900" marR="0" rtl="0" algn="l">
              <a:spcBef>
                <a:spcPts val="0"/>
              </a:spcBef>
              <a:spcAft>
                <a:spcPts val="0"/>
              </a:spcAft>
              <a:buClr>
                <a:schemeClr val="dk1"/>
              </a:buClr>
              <a:buSzPts val="2160"/>
              <a:buFont typeface="Noto Sans Symbols"/>
              <a:buChar char="✔"/>
            </a:pPr>
            <a:r>
              <a:rPr lang="en-US" sz="2160">
                <a:solidFill>
                  <a:schemeClr val="dk1"/>
                </a:solidFill>
                <a:latin typeface="Avenir"/>
                <a:ea typeface="Avenir"/>
                <a:cs typeface="Avenir"/>
                <a:sym typeface="Avenir"/>
              </a:rPr>
              <a:t>Maintainability( Sürdürülebilirlik)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0"/>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080"/>
              <a:buFont typeface="Twentieth Century"/>
              <a:buNone/>
            </a:pPr>
            <a:r>
              <a:rPr lang="en-US" sz="3200">
                <a:solidFill>
                  <a:srgbClr val="DD7E0E"/>
                </a:solidFill>
              </a:rPr>
              <a:t>Nesne Tabanlı Programlama Dilleri Nelerdir? </a:t>
            </a:r>
            <a:endParaRPr sz="3200"/>
          </a:p>
        </p:txBody>
      </p:sp>
      <p:pic>
        <p:nvPicPr>
          <p:cNvPr descr="c# ile ilgili görsel sonucu" id="309" name="Google Shape;309;p40"/>
          <p:cNvPicPr preferRelativeResize="0"/>
          <p:nvPr/>
        </p:nvPicPr>
        <p:blipFill rotWithShape="1">
          <a:blip r:embed="rId3">
            <a:alphaModFix/>
          </a:blip>
          <a:srcRect b="15947" l="0" r="0" t="15952"/>
          <a:stretch/>
        </p:blipFill>
        <p:spPr>
          <a:xfrm>
            <a:off x="4890323" y="1966002"/>
            <a:ext cx="2544000" cy="1732500"/>
          </a:xfrm>
          <a:prstGeom prst="snip2DiagRect">
            <a:avLst>
              <a:gd fmla="val 3050" name="adj1"/>
              <a:gd fmla="val 16667" name="adj2"/>
            </a:avLst>
          </a:prstGeom>
          <a:solidFill>
            <a:srgbClr val="ECECEC"/>
          </a:solidFill>
          <a:ln cap="sq" cmpd="sng" w="88900">
            <a:solidFill>
              <a:srgbClr val="FFFFFF"/>
            </a:solidFill>
            <a:prstDash val="solid"/>
            <a:miter lim="800000"/>
            <a:headEnd len="sm" w="sm" type="none"/>
            <a:tailEnd len="sm" w="sm" type="none"/>
          </a:ln>
          <a:effectLst>
            <a:outerShdw blurRad="88900" rotWithShape="0" algn="tl">
              <a:srgbClr val="000000">
                <a:alpha val="44705"/>
              </a:srgbClr>
            </a:outerShdw>
          </a:effectLst>
        </p:spPr>
      </p:pic>
      <p:pic>
        <p:nvPicPr>
          <p:cNvPr descr="Görsel sonucu" id="310" name="Google Shape;310;p40"/>
          <p:cNvPicPr preferRelativeResize="0"/>
          <p:nvPr/>
        </p:nvPicPr>
        <p:blipFill rotWithShape="1">
          <a:blip r:embed="rId4">
            <a:alphaModFix/>
          </a:blip>
          <a:srcRect b="0" l="0" r="0" t="0"/>
          <a:stretch/>
        </p:blipFill>
        <p:spPr>
          <a:xfrm>
            <a:off x="1453196" y="1869412"/>
            <a:ext cx="1712948" cy="1925677"/>
          </a:xfrm>
          <a:prstGeom prst="rect">
            <a:avLst/>
          </a:prstGeom>
          <a:noFill/>
          <a:ln>
            <a:noFill/>
          </a:ln>
          <a:effectLst>
            <a:outerShdw blurRad="190500" rotWithShape="0" algn="tl">
              <a:srgbClr val="000000">
                <a:alpha val="69803"/>
              </a:srgbClr>
            </a:outerShdw>
          </a:effectLst>
        </p:spPr>
      </p:pic>
      <p:pic>
        <p:nvPicPr>
          <p:cNvPr descr="Görsel sonucu" id="311" name="Google Shape;311;p40"/>
          <p:cNvPicPr preferRelativeResize="0"/>
          <p:nvPr/>
        </p:nvPicPr>
        <p:blipFill rotWithShape="1">
          <a:blip r:embed="rId5">
            <a:alphaModFix/>
          </a:blip>
          <a:srcRect b="0" l="23988" r="25159" t="0"/>
          <a:stretch/>
        </p:blipFill>
        <p:spPr>
          <a:xfrm>
            <a:off x="9279123" y="2219266"/>
            <a:ext cx="1317640" cy="1554636"/>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Görsel sonucu" id="312" name="Google Shape;312;p40"/>
          <p:cNvPicPr preferRelativeResize="0"/>
          <p:nvPr/>
        </p:nvPicPr>
        <p:blipFill rotWithShape="1">
          <a:blip r:embed="rId6">
            <a:alphaModFix/>
          </a:blip>
          <a:srcRect b="0" l="11313" r="12012" t="0"/>
          <a:stretch/>
        </p:blipFill>
        <p:spPr>
          <a:xfrm>
            <a:off x="5349418" y="4478870"/>
            <a:ext cx="876854" cy="1143583"/>
          </a:xfrm>
          <a:prstGeom prst="rect">
            <a:avLst/>
          </a:prstGeom>
          <a:solidFill>
            <a:srgbClr val="ECECEC"/>
          </a:solidFill>
          <a:ln cap="sq" cmpd="sng" w="190500">
            <a:solidFill>
              <a:srgbClr val="FFFFFF"/>
            </a:solidFill>
            <a:prstDash val="solid"/>
            <a:miter lim="800000"/>
            <a:headEnd len="sm" w="sm" type="none"/>
            <a:tailEnd len="sm" w="sm" type="none"/>
          </a:ln>
          <a:effectLst>
            <a:outerShdw blurRad="65000" kx="195000" rotWithShape="0" algn="tl" dir="12900000" dist="50800" ky="145000">
              <a:srgbClr val="000000">
                <a:alpha val="29803"/>
              </a:srgbClr>
            </a:outerShdw>
          </a:effectLst>
        </p:spPr>
      </p:pic>
      <p:pic>
        <p:nvPicPr>
          <p:cNvPr descr="Dosya:PHP-logo.svg" id="313" name="Google Shape;313;p40"/>
          <p:cNvPicPr preferRelativeResize="0"/>
          <p:nvPr/>
        </p:nvPicPr>
        <p:blipFill rotWithShape="1">
          <a:blip r:embed="rId7">
            <a:alphaModFix/>
          </a:blip>
          <a:srcRect b="0" l="0" r="0" t="0"/>
          <a:stretch/>
        </p:blipFill>
        <p:spPr>
          <a:xfrm>
            <a:off x="1821119" y="4587645"/>
            <a:ext cx="1345036" cy="726433"/>
          </a:xfrm>
          <a:prstGeom prst="rect">
            <a:avLst/>
          </a:prstGeom>
          <a:noFill/>
          <a:ln>
            <a:noFill/>
          </a:ln>
          <a:effectLst>
            <a:outerShdw blurRad="190500" rotWithShape="0" algn="tl">
              <a:srgbClr val="000000">
                <a:alpha val="69803"/>
              </a:srgbClr>
            </a:outerShdw>
          </a:effectLst>
        </p:spPr>
      </p:pic>
      <p:pic>
        <p:nvPicPr>
          <p:cNvPr descr="Görsel sonucu" id="314" name="Google Shape;314;p40"/>
          <p:cNvPicPr preferRelativeResize="0"/>
          <p:nvPr/>
        </p:nvPicPr>
        <p:blipFill rotWithShape="1">
          <a:blip r:embed="rId8">
            <a:alphaModFix/>
          </a:blip>
          <a:srcRect b="0" l="0" r="0" t="0"/>
          <a:stretch/>
        </p:blipFill>
        <p:spPr>
          <a:xfrm>
            <a:off x="7737783" y="4421336"/>
            <a:ext cx="2699168" cy="1142506"/>
          </a:xfrm>
          <a:prstGeom prst="rect">
            <a:avLst/>
          </a:prstGeom>
          <a:noFill/>
          <a:ln>
            <a:noFill/>
          </a:ln>
          <a:effectLst>
            <a:outerShdw blurRad="190500" rotWithShape="0" algn="tl">
              <a:srgbClr val="000000">
                <a:alpha val="69803"/>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cxnSp>
        <p:nvCxnSpPr>
          <p:cNvPr id="320" name="Google Shape;320;p41"/>
          <p:cNvCxnSpPr/>
          <p:nvPr/>
        </p:nvCxnSpPr>
        <p:spPr>
          <a:xfrm>
            <a:off x="609600" y="5848469"/>
            <a:ext cx="10972800" cy="0"/>
          </a:xfrm>
          <a:prstGeom prst="straightConnector1">
            <a:avLst/>
          </a:prstGeom>
          <a:noFill/>
          <a:ln cap="flat" cmpd="sng" w="9525">
            <a:solidFill>
              <a:srgbClr val="D8D8D8"/>
            </a:solidFill>
            <a:prstDash val="solid"/>
            <a:miter lim="800000"/>
            <a:headEnd len="sm" w="sm" type="none"/>
            <a:tailEnd len="sm" w="sm" type="none"/>
          </a:ln>
        </p:spPr>
      </p:cxnSp>
      <p:sp>
        <p:nvSpPr>
          <p:cNvPr id="321" name="Google Shape;321;p41"/>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800"/>
              <a:buFont typeface="Twentieth Century"/>
              <a:buNone/>
            </a:pPr>
            <a:r>
              <a:rPr lang="en-US" sz="3200">
                <a:solidFill>
                  <a:srgbClr val="DD7E0E"/>
                </a:solidFill>
              </a:rPr>
              <a:t>Sınıf (Class) Nedir?</a:t>
            </a:r>
            <a:endParaRPr sz="3200">
              <a:solidFill>
                <a:srgbClr val="DD7E0E"/>
              </a:solidFill>
            </a:endParaRPr>
          </a:p>
        </p:txBody>
      </p:sp>
      <p:sp>
        <p:nvSpPr>
          <p:cNvPr id="322" name="Google Shape;322;p41"/>
          <p:cNvSpPr/>
          <p:nvPr/>
        </p:nvSpPr>
        <p:spPr>
          <a:xfrm>
            <a:off x="911425" y="1378983"/>
            <a:ext cx="9875521" cy="6832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Nesne üretmek için kullandığımız kalıplardır.</a:t>
            </a:r>
            <a:endParaRPr sz="1800">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Bilgisayar ortamında tanımlayacağımız her bir class, bizim nesneler üretmemizi sağlar. </a:t>
            </a:r>
            <a:endParaRPr sz="1800">
              <a:latin typeface="Avenir"/>
              <a:ea typeface="Avenir"/>
              <a:cs typeface="Avenir"/>
              <a:sym typeface="Avenir"/>
            </a:endParaRPr>
          </a:p>
        </p:txBody>
      </p:sp>
      <p:pic>
        <p:nvPicPr>
          <p:cNvPr id="323" name="Google Shape;323;p41"/>
          <p:cNvPicPr preferRelativeResize="0"/>
          <p:nvPr/>
        </p:nvPicPr>
        <p:blipFill rotWithShape="1">
          <a:blip r:embed="rId3">
            <a:alphaModFix/>
          </a:blip>
          <a:srcRect b="0" l="0" r="0" t="0"/>
          <a:stretch/>
        </p:blipFill>
        <p:spPr>
          <a:xfrm>
            <a:off x="914750" y="2824134"/>
            <a:ext cx="4919554" cy="3190141"/>
          </a:xfrm>
          <a:prstGeom prst="rect">
            <a:avLst/>
          </a:prstGeom>
          <a:noFill/>
          <a:ln>
            <a:noFill/>
          </a:ln>
        </p:spPr>
      </p:pic>
      <p:sp>
        <p:nvSpPr>
          <p:cNvPr id="324" name="Google Shape;324;p41"/>
          <p:cNvSpPr/>
          <p:nvPr/>
        </p:nvSpPr>
        <p:spPr>
          <a:xfrm>
            <a:off x="4022170" y="2884280"/>
            <a:ext cx="368284" cy="340044"/>
          </a:xfrm>
          <a:prstGeom prst="ellipse">
            <a:avLst/>
          </a:prstGeom>
          <a:solidFill>
            <a:schemeClr val="accent5"/>
          </a:solidFill>
          <a:ln cap="flat" cmpd="sng" w="12700">
            <a:solidFill>
              <a:srgbClr val="71618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1</a:t>
            </a:r>
            <a:endParaRPr/>
          </a:p>
        </p:txBody>
      </p:sp>
      <p:sp>
        <p:nvSpPr>
          <p:cNvPr id="325" name="Google Shape;325;p41"/>
          <p:cNvSpPr/>
          <p:nvPr/>
        </p:nvSpPr>
        <p:spPr>
          <a:xfrm>
            <a:off x="1443977" y="3615028"/>
            <a:ext cx="368284" cy="340044"/>
          </a:xfrm>
          <a:prstGeom prst="ellipse">
            <a:avLst/>
          </a:prstGeom>
          <a:solidFill>
            <a:schemeClr val="accent5"/>
          </a:solidFill>
          <a:ln cap="flat" cmpd="sng" w="12700">
            <a:solidFill>
              <a:srgbClr val="71618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2</a:t>
            </a:r>
            <a:endParaRPr/>
          </a:p>
        </p:txBody>
      </p:sp>
      <p:sp>
        <p:nvSpPr>
          <p:cNvPr id="326" name="Google Shape;326;p41"/>
          <p:cNvSpPr/>
          <p:nvPr/>
        </p:nvSpPr>
        <p:spPr>
          <a:xfrm>
            <a:off x="1423888" y="4865359"/>
            <a:ext cx="368284" cy="340044"/>
          </a:xfrm>
          <a:prstGeom prst="ellipse">
            <a:avLst/>
          </a:prstGeom>
          <a:solidFill>
            <a:schemeClr val="accent5"/>
          </a:solidFill>
          <a:ln cap="flat" cmpd="sng" w="12700">
            <a:solidFill>
              <a:srgbClr val="71618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3</a:t>
            </a:r>
            <a:endParaRPr/>
          </a:p>
        </p:txBody>
      </p:sp>
      <p:sp>
        <p:nvSpPr>
          <p:cNvPr id="327" name="Google Shape;327;p41"/>
          <p:cNvSpPr/>
          <p:nvPr/>
        </p:nvSpPr>
        <p:spPr>
          <a:xfrm>
            <a:off x="5359316" y="4336045"/>
            <a:ext cx="368284" cy="340044"/>
          </a:xfrm>
          <a:prstGeom prst="ellipse">
            <a:avLst/>
          </a:prstGeom>
          <a:solidFill>
            <a:schemeClr val="accent5"/>
          </a:solidFill>
          <a:ln cap="flat" cmpd="sng" w="12700">
            <a:solidFill>
              <a:srgbClr val="71618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4</a:t>
            </a:r>
            <a:endParaRPr/>
          </a:p>
        </p:txBody>
      </p:sp>
      <p:sp>
        <p:nvSpPr>
          <p:cNvPr id="328" name="Google Shape;328;p41"/>
          <p:cNvSpPr/>
          <p:nvPr/>
        </p:nvSpPr>
        <p:spPr>
          <a:xfrm>
            <a:off x="5219550" y="5249488"/>
            <a:ext cx="368284" cy="340044"/>
          </a:xfrm>
          <a:prstGeom prst="ellipse">
            <a:avLst/>
          </a:prstGeom>
          <a:solidFill>
            <a:schemeClr val="accent5"/>
          </a:solidFill>
          <a:ln cap="flat" cmpd="sng" w="12700">
            <a:solidFill>
              <a:srgbClr val="71618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5</a:t>
            </a:r>
            <a:endParaRPr/>
          </a:p>
        </p:txBody>
      </p:sp>
      <p:grpSp>
        <p:nvGrpSpPr>
          <p:cNvPr id="329" name="Google Shape;329;p41"/>
          <p:cNvGrpSpPr/>
          <p:nvPr/>
        </p:nvGrpSpPr>
        <p:grpSpPr>
          <a:xfrm>
            <a:off x="7318439" y="2779274"/>
            <a:ext cx="2828152" cy="2280997"/>
            <a:chOff x="0" y="0"/>
            <a:chExt cx="2828152" cy="2280997"/>
          </a:xfrm>
        </p:grpSpPr>
        <p:sp>
          <p:nvSpPr>
            <p:cNvPr id="330" name="Google Shape;330;p41"/>
            <p:cNvSpPr/>
            <p:nvPr/>
          </p:nvSpPr>
          <p:spPr>
            <a:xfrm>
              <a:off x="0" y="0"/>
              <a:ext cx="2280997" cy="2280997"/>
            </a:xfrm>
            <a:prstGeom prst="triangle">
              <a:avLst>
                <a:gd fmla="val 50000" name="adj"/>
              </a:avLst>
            </a:prstGeom>
            <a:solidFill>
              <a:srgbClr val="A5B4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1"/>
            <p:cNvSpPr/>
            <p:nvPr/>
          </p:nvSpPr>
          <p:spPr>
            <a:xfrm>
              <a:off x="1345504" y="228322"/>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1"/>
            <p:cNvSpPr txBox="1"/>
            <p:nvPr/>
          </p:nvSpPr>
          <p:spPr>
            <a:xfrm>
              <a:off x="1361336" y="244154"/>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1 – Gövde - Şase</a:t>
              </a:r>
              <a:endParaRPr/>
            </a:p>
          </p:txBody>
        </p:sp>
        <p:sp>
          <p:nvSpPr>
            <p:cNvPr id="333" name="Google Shape;333;p41"/>
            <p:cNvSpPr/>
            <p:nvPr/>
          </p:nvSpPr>
          <p:spPr>
            <a:xfrm>
              <a:off x="1345504" y="593192"/>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1"/>
            <p:cNvSpPr txBox="1"/>
            <p:nvPr/>
          </p:nvSpPr>
          <p:spPr>
            <a:xfrm>
              <a:off x="1361336" y="609024"/>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2 - Motor</a:t>
              </a:r>
              <a:endParaRPr/>
            </a:p>
          </p:txBody>
        </p:sp>
        <p:sp>
          <p:nvSpPr>
            <p:cNvPr id="335" name="Google Shape;335;p41"/>
            <p:cNvSpPr/>
            <p:nvPr/>
          </p:nvSpPr>
          <p:spPr>
            <a:xfrm>
              <a:off x="1345504" y="958063"/>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1"/>
            <p:cNvSpPr txBox="1"/>
            <p:nvPr/>
          </p:nvSpPr>
          <p:spPr>
            <a:xfrm>
              <a:off x="1361336" y="973895"/>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3 – Radyatör</a:t>
              </a:r>
              <a:endParaRPr/>
            </a:p>
          </p:txBody>
        </p:sp>
        <p:sp>
          <p:nvSpPr>
            <p:cNvPr id="337" name="Google Shape;337;p41"/>
            <p:cNvSpPr/>
            <p:nvPr/>
          </p:nvSpPr>
          <p:spPr>
            <a:xfrm>
              <a:off x="1345504" y="1322933"/>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1"/>
            <p:cNvSpPr txBox="1"/>
            <p:nvPr/>
          </p:nvSpPr>
          <p:spPr>
            <a:xfrm>
              <a:off x="1361336" y="1338765"/>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4 – Aks</a:t>
              </a:r>
              <a:endParaRPr/>
            </a:p>
          </p:txBody>
        </p:sp>
        <p:sp>
          <p:nvSpPr>
            <p:cNvPr id="339" name="Google Shape;339;p41"/>
            <p:cNvSpPr/>
            <p:nvPr/>
          </p:nvSpPr>
          <p:spPr>
            <a:xfrm>
              <a:off x="1345504" y="1687804"/>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1"/>
            <p:cNvSpPr txBox="1"/>
            <p:nvPr/>
          </p:nvSpPr>
          <p:spPr>
            <a:xfrm>
              <a:off x="1361336" y="1703636"/>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5 – Diğer Parçalar</a:t>
              </a:r>
              <a:endParaRPr/>
            </a:p>
          </p:txBody>
        </p:sp>
      </p:grpSp>
      <p:sp>
        <p:nvSpPr>
          <p:cNvPr id="341" name="Google Shape;341;p41"/>
          <p:cNvSpPr txBox="1"/>
          <p:nvPr/>
        </p:nvSpPr>
        <p:spPr>
          <a:xfrm rot="-5400000">
            <a:off x="7652534" y="3876971"/>
            <a:ext cx="1415772" cy="5355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80">
                <a:solidFill>
                  <a:schemeClr val="lt1"/>
                </a:solidFill>
                <a:latin typeface="Avenir"/>
                <a:ea typeface="Avenir"/>
                <a:cs typeface="Avenir"/>
                <a:sym typeface="Avenir"/>
              </a:rPr>
              <a:t>ARABA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2"/>
          <p:cNvSpPr txBox="1"/>
          <p:nvPr>
            <p:ph type="title"/>
          </p:nvPr>
        </p:nvSpPr>
        <p:spPr>
          <a:xfrm>
            <a:off x="825015" y="274339"/>
            <a:ext cx="9875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Access Modifiers</a:t>
            </a:r>
            <a:endParaRPr sz="3200">
              <a:solidFill>
                <a:srgbClr val="DD7E0E"/>
              </a:solidFill>
            </a:endParaRPr>
          </a:p>
        </p:txBody>
      </p:sp>
      <p:sp>
        <p:nvSpPr>
          <p:cNvPr id="347" name="Google Shape;347;p42"/>
          <p:cNvSpPr/>
          <p:nvPr/>
        </p:nvSpPr>
        <p:spPr>
          <a:xfrm>
            <a:off x="825016" y="1417341"/>
            <a:ext cx="10714800" cy="60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Erişim belirteçi anlamına gelen Access Modifiers, classlar, metotlar ve değişken gibi yapıların erişim durumlarını belirler. </a:t>
            </a:r>
            <a:endParaRPr sz="1800"/>
          </a:p>
        </p:txBody>
      </p:sp>
      <p:grpSp>
        <p:nvGrpSpPr>
          <p:cNvPr id="348" name="Google Shape;348;p42"/>
          <p:cNvGrpSpPr/>
          <p:nvPr/>
        </p:nvGrpSpPr>
        <p:grpSpPr>
          <a:xfrm>
            <a:off x="2726026" y="2219266"/>
            <a:ext cx="5558068" cy="3858432"/>
            <a:chOff x="0" y="0"/>
            <a:chExt cx="5558068" cy="3858432"/>
          </a:xfrm>
        </p:grpSpPr>
        <p:sp>
          <p:nvSpPr>
            <p:cNvPr id="349" name="Google Shape;349;p42"/>
            <p:cNvSpPr/>
            <p:nvPr/>
          </p:nvSpPr>
          <p:spPr>
            <a:xfrm rot="5400000">
              <a:off x="-212555" y="212555"/>
              <a:ext cx="1417033" cy="991923"/>
            </a:xfrm>
            <a:prstGeom prst="chevron">
              <a:avLst>
                <a:gd fmla="val 50000" name="adj"/>
              </a:avLst>
            </a:prstGeom>
            <a:solidFill>
              <a:srgbClr val="A5B492"/>
            </a:solidFill>
            <a:ln cap="flat" cmpd="sng" w="9525">
              <a:solidFill>
                <a:srgbClr val="A5B49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2"/>
            <p:cNvSpPr txBox="1"/>
            <p:nvPr/>
          </p:nvSpPr>
          <p:spPr>
            <a:xfrm>
              <a:off x="1" y="495962"/>
              <a:ext cx="991923" cy="42511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lt1"/>
                </a:buClr>
                <a:buSzPts val="1200"/>
                <a:buFont typeface="Avenir"/>
                <a:buNone/>
              </a:pPr>
              <a:r>
                <a:rPr b="1" lang="en-US" sz="1200">
                  <a:solidFill>
                    <a:schemeClr val="lt1"/>
                  </a:solidFill>
                  <a:latin typeface="Avenir"/>
                  <a:ea typeface="Avenir"/>
                  <a:cs typeface="Avenir"/>
                  <a:sym typeface="Avenir"/>
                </a:rPr>
                <a:t>Private</a:t>
              </a:r>
              <a:endParaRPr sz="1200">
                <a:solidFill>
                  <a:schemeClr val="lt1"/>
                </a:solidFill>
                <a:latin typeface="Avenir"/>
                <a:ea typeface="Avenir"/>
                <a:cs typeface="Avenir"/>
                <a:sym typeface="Avenir"/>
              </a:endParaRPr>
            </a:p>
          </p:txBody>
        </p:sp>
        <p:sp>
          <p:nvSpPr>
            <p:cNvPr id="351" name="Google Shape;351;p42"/>
            <p:cNvSpPr/>
            <p:nvPr/>
          </p:nvSpPr>
          <p:spPr>
            <a:xfrm rot="5400000">
              <a:off x="2814460" y="-1821814"/>
              <a:ext cx="921071" cy="4566145"/>
            </a:xfrm>
            <a:prstGeom prst="round2SameRect">
              <a:avLst>
                <a:gd fmla="val 16667" name="adj1"/>
                <a:gd fmla="val 0" name="adj2"/>
              </a:avLst>
            </a:prstGeom>
            <a:solidFill>
              <a:schemeClr val="lt1">
                <a:alpha val="89803"/>
              </a:schemeClr>
            </a:solidFill>
            <a:ln cap="flat" cmpd="sng" w="9525">
              <a:solidFill>
                <a:srgbClr val="A5B49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2"/>
            <p:cNvSpPr txBox="1"/>
            <p:nvPr/>
          </p:nvSpPr>
          <p:spPr>
            <a:xfrm>
              <a:off x="991924" y="45685"/>
              <a:ext cx="4521182" cy="831145"/>
            </a:xfrm>
            <a:prstGeom prst="rect">
              <a:avLst/>
            </a:prstGeom>
            <a:noFill/>
            <a:ln>
              <a:noFill/>
            </a:ln>
          </p:spPr>
          <p:txBody>
            <a:bodyPr anchorCtr="0" anchor="ctr" bIns="9525" lIns="106675" spcFirstLastPara="1" rIns="9525" wrap="square" tIns="9525">
              <a:noAutofit/>
            </a:bodyPr>
            <a:lstStyle/>
            <a:p>
              <a:pPr indent="-114300" lvl="1" marL="114300" marR="0" rtl="0" algn="l">
                <a:lnSpc>
                  <a:spcPct val="90000"/>
                </a:lnSpc>
                <a:spcBef>
                  <a:spcPts val="0"/>
                </a:spcBef>
                <a:spcAft>
                  <a:spcPts val="0"/>
                </a:spcAft>
                <a:buClr>
                  <a:schemeClr val="dk1"/>
                </a:buClr>
                <a:buSzPts val="1500"/>
                <a:buFont typeface="Avenir"/>
                <a:buChar char="•"/>
              </a:pPr>
              <a:r>
                <a:rPr b="0" i="0" lang="en-US" sz="1500" u="none" cap="none" strike="noStrike">
                  <a:solidFill>
                    <a:schemeClr val="dk1"/>
                  </a:solidFill>
                  <a:latin typeface="Avenir"/>
                  <a:ea typeface="Avenir"/>
                  <a:cs typeface="Avenir"/>
                  <a:sym typeface="Avenir"/>
                </a:rPr>
                <a:t> Bu erişim belirteci ile tanımlanan öğeler sadece tanımlandıkları sınıf (class) ya da yapı (struct) içinde erişilebilirler. En kısıtlayıcı belirteçtir. </a:t>
              </a:r>
              <a:endParaRPr/>
            </a:p>
          </p:txBody>
        </p:sp>
        <p:sp>
          <p:nvSpPr>
            <p:cNvPr id="353" name="Google Shape;353;p42"/>
            <p:cNvSpPr/>
            <p:nvPr/>
          </p:nvSpPr>
          <p:spPr>
            <a:xfrm rot="5400000">
              <a:off x="-212555" y="1433616"/>
              <a:ext cx="1417033" cy="991923"/>
            </a:xfrm>
            <a:prstGeom prst="chevron">
              <a:avLst>
                <a:gd fmla="val 50000" name="adj"/>
              </a:avLst>
            </a:prstGeom>
            <a:solidFill>
              <a:srgbClr val="A5B492"/>
            </a:solidFill>
            <a:ln cap="flat" cmpd="sng" w="9525">
              <a:solidFill>
                <a:srgbClr val="A5B49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2"/>
            <p:cNvSpPr txBox="1"/>
            <p:nvPr/>
          </p:nvSpPr>
          <p:spPr>
            <a:xfrm>
              <a:off x="1" y="1717023"/>
              <a:ext cx="991923" cy="42511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lt1"/>
                </a:buClr>
                <a:buSzPts val="1200"/>
                <a:buFont typeface="Avenir"/>
                <a:buNone/>
              </a:pPr>
              <a:r>
                <a:rPr b="1" lang="en-US" sz="1200">
                  <a:solidFill>
                    <a:schemeClr val="lt1"/>
                  </a:solidFill>
                  <a:latin typeface="Avenir"/>
                  <a:ea typeface="Avenir"/>
                  <a:cs typeface="Avenir"/>
                  <a:sym typeface="Avenir"/>
                </a:rPr>
                <a:t>Public</a:t>
              </a:r>
              <a:endParaRPr b="1" sz="1200">
                <a:solidFill>
                  <a:schemeClr val="lt1"/>
                </a:solidFill>
                <a:latin typeface="Avenir"/>
                <a:ea typeface="Avenir"/>
                <a:cs typeface="Avenir"/>
                <a:sym typeface="Avenir"/>
              </a:endParaRPr>
            </a:p>
          </p:txBody>
        </p:sp>
        <p:sp>
          <p:nvSpPr>
            <p:cNvPr id="355" name="Google Shape;355;p42"/>
            <p:cNvSpPr/>
            <p:nvPr/>
          </p:nvSpPr>
          <p:spPr>
            <a:xfrm rot="5400000">
              <a:off x="2814460" y="-601475"/>
              <a:ext cx="921071" cy="4566145"/>
            </a:xfrm>
            <a:prstGeom prst="round2SameRect">
              <a:avLst>
                <a:gd fmla="val 16667" name="adj1"/>
                <a:gd fmla="val 0" name="adj2"/>
              </a:avLst>
            </a:prstGeom>
            <a:solidFill>
              <a:schemeClr val="lt1">
                <a:alpha val="89803"/>
              </a:schemeClr>
            </a:solidFill>
            <a:ln cap="flat" cmpd="sng" w="9525">
              <a:solidFill>
                <a:srgbClr val="A5B49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2"/>
            <p:cNvSpPr txBox="1"/>
            <p:nvPr/>
          </p:nvSpPr>
          <p:spPr>
            <a:xfrm>
              <a:off x="991924" y="1266024"/>
              <a:ext cx="4521182" cy="831145"/>
            </a:xfrm>
            <a:prstGeom prst="rect">
              <a:avLst/>
            </a:prstGeom>
            <a:noFill/>
            <a:ln>
              <a:noFill/>
            </a:ln>
          </p:spPr>
          <p:txBody>
            <a:bodyPr anchorCtr="0" anchor="ctr" bIns="9525" lIns="106675" spcFirstLastPara="1" rIns="9525" wrap="square" tIns="9525">
              <a:noAutofit/>
            </a:bodyPr>
            <a:lstStyle/>
            <a:p>
              <a:pPr indent="-114300" lvl="1" marL="114300" marR="0" rtl="0" algn="l">
                <a:lnSpc>
                  <a:spcPct val="90000"/>
                </a:lnSpc>
                <a:spcBef>
                  <a:spcPts val="0"/>
                </a:spcBef>
                <a:spcAft>
                  <a:spcPts val="0"/>
                </a:spcAft>
                <a:buClr>
                  <a:schemeClr val="dk1"/>
                </a:buClr>
                <a:buSzPts val="1500"/>
                <a:buFont typeface="Avenir"/>
                <a:buChar char="•"/>
              </a:pPr>
              <a:r>
                <a:rPr b="0" i="0" lang="en-US" sz="1500" u="none" cap="none" strike="noStrike">
                  <a:solidFill>
                    <a:schemeClr val="dk1"/>
                  </a:solidFill>
                  <a:latin typeface="Avenir"/>
                  <a:ea typeface="Avenir"/>
                  <a:cs typeface="Avenir"/>
                  <a:sym typeface="Avenir"/>
                </a:rPr>
                <a:t>Public olarak tanımlanan öğeler aynı projeden ya da kendisini referans olarak gösteren diğer projeler tarafından erişilebilirler. </a:t>
              </a:r>
              <a:endParaRPr/>
            </a:p>
          </p:txBody>
        </p:sp>
        <p:sp>
          <p:nvSpPr>
            <p:cNvPr id="357" name="Google Shape;357;p42"/>
            <p:cNvSpPr/>
            <p:nvPr/>
          </p:nvSpPr>
          <p:spPr>
            <a:xfrm rot="5400000">
              <a:off x="-212555" y="2653954"/>
              <a:ext cx="1417033" cy="991923"/>
            </a:xfrm>
            <a:prstGeom prst="chevron">
              <a:avLst>
                <a:gd fmla="val 50000" name="adj"/>
              </a:avLst>
            </a:prstGeom>
            <a:solidFill>
              <a:srgbClr val="A5B492"/>
            </a:solidFill>
            <a:ln cap="flat" cmpd="sng" w="9525">
              <a:solidFill>
                <a:srgbClr val="A5B49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2"/>
            <p:cNvSpPr txBox="1"/>
            <p:nvPr/>
          </p:nvSpPr>
          <p:spPr>
            <a:xfrm>
              <a:off x="1" y="2937361"/>
              <a:ext cx="991923" cy="425110"/>
            </a:xfrm>
            <a:prstGeom prst="rect">
              <a:avLst/>
            </a:prstGeom>
            <a:noFill/>
            <a:ln>
              <a:noFill/>
            </a:ln>
          </p:spPr>
          <p:txBody>
            <a:bodyPr anchorCtr="0" anchor="ctr" bIns="5700" lIns="5700" spcFirstLastPara="1" rIns="5700" wrap="square" tIns="5700">
              <a:noAutofit/>
            </a:bodyPr>
            <a:lstStyle/>
            <a:p>
              <a:pPr indent="0" lvl="0" marL="0" marR="0" rtl="0" algn="ctr">
                <a:lnSpc>
                  <a:spcPct val="90000"/>
                </a:lnSpc>
                <a:spcBef>
                  <a:spcPts val="0"/>
                </a:spcBef>
                <a:spcAft>
                  <a:spcPts val="0"/>
                </a:spcAft>
                <a:buClr>
                  <a:schemeClr val="lt1"/>
                </a:buClr>
                <a:buSzPts val="900"/>
                <a:buFont typeface="Avenir"/>
                <a:buNone/>
              </a:pPr>
              <a:r>
                <a:rPr lang="en-US" sz="900">
                  <a:solidFill>
                    <a:schemeClr val="lt1"/>
                  </a:solidFill>
                  <a:latin typeface="Avenir"/>
                  <a:ea typeface="Avenir"/>
                  <a:cs typeface="Avenir"/>
                  <a:sym typeface="Avenir"/>
                </a:rPr>
                <a:t>Protected</a:t>
              </a:r>
              <a:endParaRPr sz="900">
                <a:solidFill>
                  <a:schemeClr val="lt1"/>
                </a:solidFill>
                <a:latin typeface="Avenir"/>
                <a:ea typeface="Avenir"/>
                <a:cs typeface="Avenir"/>
                <a:sym typeface="Avenir"/>
              </a:endParaRPr>
            </a:p>
          </p:txBody>
        </p:sp>
        <p:sp>
          <p:nvSpPr>
            <p:cNvPr id="359" name="Google Shape;359;p42"/>
            <p:cNvSpPr/>
            <p:nvPr/>
          </p:nvSpPr>
          <p:spPr>
            <a:xfrm rot="5400000">
              <a:off x="2814460" y="618863"/>
              <a:ext cx="921071" cy="4566145"/>
            </a:xfrm>
            <a:prstGeom prst="round2SameRect">
              <a:avLst>
                <a:gd fmla="val 16667" name="adj1"/>
                <a:gd fmla="val 0" name="adj2"/>
              </a:avLst>
            </a:prstGeom>
            <a:solidFill>
              <a:schemeClr val="lt1">
                <a:alpha val="89803"/>
              </a:schemeClr>
            </a:solidFill>
            <a:ln cap="flat" cmpd="sng" w="9525">
              <a:solidFill>
                <a:srgbClr val="A5B49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2"/>
            <p:cNvSpPr txBox="1"/>
            <p:nvPr/>
          </p:nvSpPr>
          <p:spPr>
            <a:xfrm>
              <a:off x="991924" y="2486363"/>
              <a:ext cx="4521182" cy="831145"/>
            </a:xfrm>
            <a:prstGeom prst="rect">
              <a:avLst/>
            </a:prstGeom>
            <a:noFill/>
            <a:ln>
              <a:noFill/>
            </a:ln>
          </p:spPr>
          <p:txBody>
            <a:bodyPr anchorCtr="0" anchor="ctr" bIns="9525" lIns="106675" spcFirstLastPara="1" rIns="9525" wrap="square" tIns="9525">
              <a:noAutofit/>
            </a:bodyPr>
            <a:lstStyle/>
            <a:p>
              <a:pPr indent="-114300" lvl="1" marL="114300" marR="0" rtl="0" algn="l">
                <a:lnSpc>
                  <a:spcPct val="90000"/>
                </a:lnSpc>
                <a:spcBef>
                  <a:spcPts val="0"/>
                </a:spcBef>
                <a:spcAft>
                  <a:spcPts val="0"/>
                </a:spcAft>
                <a:buClr>
                  <a:schemeClr val="dk1"/>
                </a:buClr>
                <a:buSzPts val="1500"/>
                <a:buFont typeface="Avenir"/>
                <a:buChar char="•"/>
              </a:pPr>
              <a:r>
                <a:rPr b="0" i="0" lang="en-US" sz="1500" u="none" cap="none" strike="noStrike">
                  <a:solidFill>
                    <a:schemeClr val="dk1"/>
                  </a:solidFill>
                  <a:latin typeface="Avenir"/>
                  <a:ea typeface="Avenir"/>
                  <a:cs typeface="Avenir"/>
                  <a:sym typeface="Avenir"/>
                </a:rPr>
                <a:t> Bu şekilde tanımlanan öğeler, tanımlandıkları sınıf (class) ya da yapı (struct) veya bu sınıflardan türetilmiş diğer sınıflar içerisinden erişilebilirler.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3"/>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Attribute - Özellik</a:t>
            </a:r>
            <a:endParaRPr sz="3200"/>
          </a:p>
        </p:txBody>
      </p:sp>
      <p:sp>
        <p:nvSpPr>
          <p:cNvPr id="366" name="Google Shape;366;p43"/>
          <p:cNvSpPr/>
          <p:nvPr/>
        </p:nvSpPr>
        <p:spPr>
          <a:xfrm>
            <a:off x="912372" y="1419621"/>
            <a:ext cx="10670028" cy="182819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Attribute </a:t>
            </a:r>
            <a:r>
              <a:rPr lang="en-US" sz="1800">
                <a:solidFill>
                  <a:schemeClr val="dk1"/>
                </a:solidFill>
                <a:latin typeface="Avenir"/>
                <a:ea typeface="Avenir"/>
                <a:cs typeface="Avenir"/>
                <a:sym typeface="Avenir"/>
              </a:rPr>
              <a:t> Class içerisinde oluşturulan, dışarıya kapalı değişkenlerdir.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b="1" lang="en-US" sz="1800">
                <a:solidFill>
                  <a:schemeClr val="dk1"/>
                </a:solidFill>
                <a:latin typeface="Avenir"/>
                <a:ea typeface="Avenir"/>
                <a:cs typeface="Avenir"/>
                <a:sym typeface="Avenir"/>
              </a:rPr>
              <a:t>Attribute </a:t>
            </a:r>
            <a:r>
              <a:rPr lang="en-US" sz="1800">
                <a:solidFill>
                  <a:schemeClr val="dk1"/>
                </a:solidFill>
                <a:latin typeface="Avenir"/>
                <a:ea typeface="Avenir"/>
                <a:cs typeface="Avenir"/>
                <a:sym typeface="Avenir"/>
              </a:rPr>
              <a:t>değer aktarmak için </a:t>
            </a:r>
            <a:r>
              <a:rPr b="1" lang="en-US" sz="1900">
                <a:solidFill>
                  <a:schemeClr val="dk1"/>
                </a:solidFill>
                <a:latin typeface="Avenir"/>
                <a:ea typeface="Avenir"/>
                <a:cs typeface="Avenir"/>
                <a:sym typeface="Avenir"/>
              </a:rPr>
              <a:t>setter</a:t>
            </a:r>
            <a:r>
              <a:rPr lang="en-US" sz="1800">
                <a:solidFill>
                  <a:schemeClr val="dk1"/>
                </a:solidFill>
                <a:latin typeface="Avenir"/>
                <a:ea typeface="Avenir"/>
                <a:cs typeface="Avenir"/>
                <a:sym typeface="Avenir"/>
              </a:rPr>
              <a:t>, attribute dan değer okumak için </a:t>
            </a:r>
            <a:r>
              <a:rPr b="1" lang="en-US" sz="1900">
                <a:solidFill>
                  <a:schemeClr val="dk1"/>
                </a:solidFill>
                <a:latin typeface="Avenir"/>
                <a:ea typeface="Avenir"/>
                <a:cs typeface="Avenir"/>
                <a:sym typeface="Avenir"/>
              </a:rPr>
              <a:t>getter </a:t>
            </a:r>
            <a:r>
              <a:rPr lang="en-US" sz="1800">
                <a:solidFill>
                  <a:schemeClr val="dk1"/>
                </a:solidFill>
                <a:latin typeface="Avenir"/>
                <a:ea typeface="Avenir"/>
                <a:cs typeface="Avenir"/>
                <a:sym typeface="Avenir"/>
              </a:rPr>
              <a:t>method kullanılır.</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680">
              <a:solidFill>
                <a:schemeClr val="dk1"/>
              </a:solidFill>
              <a:latin typeface="Avenir"/>
              <a:ea typeface="Avenir"/>
              <a:cs typeface="Avenir"/>
              <a:sym typeface="Avenir"/>
            </a:endParaRPr>
          </a:p>
        </p:txBody>
      </p:sp>
      <p:pic>
        <p:nvPicPr>
          <p:cNvPr descr="A screenshot of a computer program&#10;&#10;Description automatically generated" id="367" name="Google Shape;367;p43"/>
          <p:cNvPicPr preferRelativeResize="0"/>
          <p:nvPr/>
        </p:nvPicPr>
        <p:blipFill rotWithShape="1">
          <a:blip r:embed="rId3">
            <a:alphaModFix/>
          </a:blip>
          <a:srcRect b="0" l="0" r="0" t="0"/>
          <a:stretch/>
        </p:blipFill>
        <p:spPr>
          <a:xfrm>
            <a:off x="1022713" y="3107146"/>
            <a:ext cx="3528060" cy="2849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4"/>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Constructor - Yapıcı Metot</a:t>
            </a:r>
            <a:endParaRPr sz="3200">
              <a:solidFill>
                <a:srgbClr val="DD7E0E"/>
              </a:solidFill>
            </a:endParaRPr>
          </a:p>
        </p:txBody>
      </p:sp>
      <p:sp>
        <p:nvSpPr>
          <p:cNvPr id="374" name="Google Shape;374;p44"/>
          <p:cNvSpPr/>
          <p:nvPr/>
        </p:nvSpPr>
        <p:spPr>
          <a:xfrm>
            <a:off x="782841" y="1423462"/>
            <a:ext cx="10497600" cy="60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Constructor, yapılandırıcı metot olarak kullanılır. Bir </a:t>
            </a:r>
            <a:r>
              <a:rPr lang="en-US" sz="1800">
                <a:solidFill>
                  <a:schemeClr val="dk1"/>
                </a:solidFill>
                <a:latin typeface="Avenir"/>
                <a:ea typeface="Avenir"/>
                <a:cs typeface="Avenir"/>
                <a:sym typeface="Avenir"/>
              </a:rPr>
              <a:t>classtan</a:t>
            </a:r>
            <a:r>
              <a:rPr lang="en-US" sz="1800">
                <a:solidFill>
                  <a:schemeClr val="dk1"/>
                </a:solidFill>
                <a:latin typeface="Avenir"/>
                <a:ea typeface="Avenir"/>
                <a:cs typeface="Avenir"/>
                <a:sym typeface="Avenir"/>
              </a:rPr>
              <a:t> instance alındığında ilk çalışan olan </a:t>
            </a:r>
            <a:r>
              <a:rPr lang="en-US" sz="1800">
                <a:solidFill>
                  <a:schemeClr val="dk1"/>
                </a:solidFill>
                <a:latin typeface="Avenir"/>
                <a:ea typeface="Avenir"/>
                <a:cs typeface="Avenir"/>
                <a:sym typeface="Avenir"/>
              </a:rPr>
              <a:t>metottur</a:t>
            </a:r>
            <a:r>
              <a:rPr lang="en-US" sz="1800">
                <a:solidFill>
                  <a:schemeClr val="dk1"/>
                </a:solidFill>
                <a:latin typeface="Avenir"/>
                <a:ea typeface="Avenir"/>
                <a:cs typeface="Avenir"/>
                <a:sym typeface="Avenir"/>
              </a:rPr>
              <a:t>.</a:t>
            </a:r>
            <a:endParaRPr sz="1800"/>
          </a:p>
        </p:txBody>
      </p:sp>
      <p:pic>
        <p:nvPicPr>
          <p:cNvPr descr="OOP Constructor ile ilgili görsel sonucu" id="375" name="Google Shape;375;p44"/>
          <p:cNvPicPr preferRelativeResize="0"/>
          <p:nvPr/>
        </p:nvPicPr>
        <p:blipFill rotWithShape="1">
          <a:blip r:embed="rId3">
            <a:alphaModFix/>
          </a:blip>
          <a:srcRect b="0" l="0" r="0" t="0"/>
          <a:stretch/>
        </p:blipFill>
        <p:spPr>
          <a:xfrm>
            <a:off x="8376411" y="2390732"/>
            <a:ext cx="2559427" cy="2530990"/>
          </a:xfrm>
          <a:prstGeom prst="rect">
            <a:avLst/>
          </a:prstGeom>
          <a:noFill/>
          <a:ln>
            <a:noFill/>
          </a:ln>
        </p:spPr>
      </p:pic>
      <p:pic>
        <p:nvPicPr>
          <p:cNvPr descr="A screenshot of a computer code&#10;&#10;Description automatically generated" id="376" name="Google Shape;376;p44"/>
          <p:cNvPicPr preferRelativeResize="0"/>
          <p:nvPr/>
        </p:nvPicPr>
        <p:blipFill rotWithShape="1">
          <a:blip r:embed="rId4">
            <a:alphaModFix/>
          </a:blip>
          <a:srcRect b="0" l="0" r="0" t="0"/>
          <a:stretch/>
        </p:blipFill>
        <p:spPr>
          <a:xfrm>
            <a:off x="1048839" y="2664279"/>
            <a:ext cx="4869180" cy="2400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5"/>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Instance Nedir?</a:t>
            </a:r>
            <a:endParaRPr sz="3200"/>
          </a:p>
        </p:txBody>
      </p:sp>
      <p:sp>
        <p:nvSpPr>
          <p:cNvPr id="382" name="Google Shape;382;p45"/>
          <p:cNvSpPr/>
          <p:nvPr/>
        </p:nvSpPr>
        <p:spPr>
          <a:xfrm>
            <a:off x="912372" y="1419620"/>
            <a:ext cx="10670028" cy="8679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JAVA</a:t>
            </a:r>
            <a:r>
              <a:rPr lang="en-US" sz="1800">
                <a:solidFill>
                  <a:schemeClr val="dk1"/>
                </a:solidFill>
                <a:latin typeface="Avenir"/>
                <a:ea typeface="Avenir"/>
                <a:cs typeface="Avenir"/>
                <a:sym typeface="Avenir"/>
              </a:rPr>
              <a:t> Ortamında bir nesne oluşturma işlemine </a:t>
            </a:r>
            <a:r>
              <a:rPr b="1" lang="en-US" sz="1800">
                <a:solidFill>
                  <a:srgbClr val="DD7E0E"/>
                </a:solidFill>
                <a:latin typeface="Avenir"/>
                <a:ea typeface="Avenir"/>
                <a:cs typeface="Avenir"/>
                <a:sym typeface="Avenir"/>
              </a:rPr>
              <a:t>instance</a:t>
            </a:r>
            <a:r>
              <a:rPr lang="en-US" sz="1800">
                <a:solidFill>
                  <a:schemeClr val="dk1"/>
                </a:solidFill>
                <a:latin typeface="Avenir"/>
                <a:ea typeface="Avenir"/>
                <a:cs typeface="Avenir"/>
                <a:sym typeface="Avenir"/>
              </a:rPr>
              <a:t> almak denir.</a:t>
            </a:r>
            <a:endParaRPr sz="1800">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RAM üzerinde oluşturduğumuz bir nesneye, nesneyi oluşturduğumuz sınıftaki tüm özellikleri aktarmak olarak tanımlayabiliriz. </a:t>
            </a:r>
            <a:endParaRPr sz="1800">
              <a:latin typeface="Avenir"/>
              <a:ea typeface="Avenir"/>
              <a:cs typeface="Avenir"/>
              <a:sym typeface="Avenir"/>
            </a:endParaRPr>
          </a:p>
        </p:txBody>
      </p:sp>
      <p:grpSp>
        <p:nvGrpSpPr>
          <p:cNvPr id="383" name="Google Shape;383;p45"/>
          <p:cNvGrpSpPr/>
          <p:nvPr/>
        </p:nvGrpSpPr>
        <p:grpSpPr>
          <a:xfrm>
            <a:off x="1168720" y="2478495"/>
            <a:ext cx="2828152" cy="2280997"/>
            <a:chOff x="0" y="0"/>
            <a:chExt cx="2828152" cy="2280997"/>
          </a:xfrm>
        </p:grpSpPr>
        <p:sp>
          <p:nvSpPr>
            <p:cNvPr id="384" name="Google Shape;384;p45"/>
            <p:cNvSpPr/>
            <p:nvPr/>
          </p:nvSpPr>
          <p:spPr>
            <a:xfrm>
              <a:off x="0" y="0"/>
              <a:ext cx="2280997" cy="2280997"/>
            </a:xfrm>
            <a:prstGeom prst="triangle">
              <a:avLst>
                <a:gd fmla="val 50000" name="adj"/>
              </a:avLst>
            </a:prstGeom>
            <a:solidFill>
              <a:srgbClr val="A5B4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5"/>
            <p:cNvSpPr/>
            <p:nvPr/>
          </p:nvSpPr>
          <p:spPr>
            <a:xfrm>
              <a:off x="1345504" y="228322"/>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5"/>
            <p:cNvSpPr txBox="1"/>
            <p:nvPr/>
          </p:nvSpPr>
          <p:spPr>
            <a:xfrm>
              <a:off x="1361336" y="244154"/>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1 – Gövde - Şase</a:t>
              </a:r>
              <a:endParaRPr/>
            </a:p>
          </p:txBody>
        </p:sp>
        <p:sp>
          <p:nvSpPr>
            <p:cNvPr id="387" name="Google Shape;387;p45"/>
            <p:cNvSpPr/>
            <p:nvPr/>
          </p:nvSpPr>
          <p:spPr>
            <a:xfrm>
              <a:off x="1345504" y="593192"/>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5"/>
            <p:cNvSpPr txBox="1"/>
            <p:nvPr/>
          </p:nvSpPr>
          <p:spPr>
            <a:xfrm>
              <a:off x="1361336" y="609024"/>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2 - Motor</a:t>
              </a:r>
              <a:endParaRPr/>
            </a:p>
          </p:txBody>
        </p:sp>
        <p:sp>
          <p:nvSpPr>
            <p:cNvPr id="389" name="Google Shape;389;p45"/>
            <p:cNvSpPr/>
            <p:nvPr/>
          </p:nvSpPr>
          <p:spPr>
            <a:xfrm>
              <a:off x="1345504" y="958063"/>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5"/>
            <p:cNvSpPr txBox="1"/>
            <p:nvPr/>
          </p:nvSpPr>
          <p:spPr>
            <a:xfrm>
              <a:off x="1361336" y="973895"/>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3 – Radyatör</a:t>
              </a:r>
              <a:endParaRPr/>
            </a:p>
          </p:txBody>
        </p:sp>
        <p:sp>
          <p:nvSpPr>
            <p:cNvPr id="391" name="Google Shape;391;p45"/>
            <p:cNvSpPr/>
            <p:nvPr/>
          </p:nvSpPr>
          <p:spPr>
            <a:xfrm>
              <a:off x="1345504" y="1322933"/>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5"/>
            <p:cNvSpPr txBox="1"/>
            <p:nvPr/>
          </p:nvSpPr>
          <p:spPr>
            <a:xfrm>
              <a:off x="1361336" y="1338765"/>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4 – Aks</a:t>
              </a:r>
              <a:endParaRPr/>
            </a:p>
          </p:txBody>
        </p:sp>
        <p:sp>
          <p:nvSpPr>
            <p:cNvPr id="393" name="Google Shape;393;p45"/>
            <p:cNvSpPr/>
            <p:nvPr/>
          </p:nvSpPr>
          <p:spPr>
            <a:xfrm>
              <a:off x="1345504" y="1687804"/>
              <a:ext cx="1482648" cy="324329"/>
            </a:xfrm>
            <a:prstGeom prst="roundRect">
              <a:avLst>
                <a:gd fmla="val 16667"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5"/>
            <p:cNvSpPr txBox="1"/>
            <p:nvPr/>
          </p:nvSpPr>
          <p:spPr>
            <a:xfrm>
              <a:off x="1361336" y="1703636"/>
              <a:ext cx="1450984" cy="292665"/>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dk1"/>
                </a:buClr>
                <a:buSzPts val="1300"/>
                <a:buFont typeface="Avenir"/>
                <a:buNone/>
              </a:pPr>
              <a:r>
                <a:rPr lang="en-US" sz="1300">
                  <a:solidFill>
                    <a:schemeClr val="dk1"/>
                  </a:solidFill>
                  <a:latin typeface="Avenir"/>
                  <a:ea typeface="Avenir"/>
                  <a:cs typeface="Avenir"/>
                  <a:sym typeface="Avenir"/>
                </a:rPr>
                <a:t>5 – Diğer Parçalar</a:t>
              </a:r>
              <a:endParaRPr/>
            </a:p>
          </p:txBody>
        </p:sp>
      </p:grpSp>
      <p:sp>
        <p:nvSpPr>
          <p:cNvPr id="395" name="Google Shape;395;p45"/>
          <p:cNvSpPr txBox="1"/>
          <p:nvPr/>
        </p:nvSpPr>
        <p:spPr>
          <a:xfrm rot="-5400000">
            <a:off x="1502815" y="3576192"/>
            <a:ext cx="1415772" cy="5355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80">
                <a:solidFill>
                  <a:schemeClr val="lt1"/>
                </a:solidFill>
                <a:latin typeface="Avenir"/>
                <a:ea typeface="Avenir"/>
                <a:cs typeface="Avenir"/>
                <a:sym typeface="Avenir"/>
              </a:rPr>
              <a:t>ARABA</a:t>
            </a:r>
            <a:endParaRPr/>
          </a:p>
        </p:txBody>
      </p:sp>
      <p:sp>
        <p:nvSpPr>
          <p:cNvPr id="396" name="Google Shape;396;p45"/>
          <p:cNvSpPr txBox="1"/>
          <p:nvPr/>
        </p:nvSpPr>
        <p:spPr>
          <a:xfrm>
            <a:off x="5724935" y="4387349"/>
            <a:ext cx="4971361" cy="4985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40">
                <a:solidFill>
                  <a:srgbClr val="DD7E0E"/>
                </a:solidFill>
                <a:latin typeface="Avenir"/>
                <a:ea typeface="Avenir"/>
                <a:cs typeface="Avenir"/>
                <a:sym typeface="Avenir"/>
              </a:rPr>
              <a:t>Araba</a:t>
            </a:r>
            <a:r>
              <a:rPr lang="en-US" sz="2640">
                <a:solidFill>
                  <a:schemeClr val="dk1"/>
                </a:solidFill>
                <a:latin typeface="Avenir"/>
                <a:ea typeface="Avenir"/>
                <a:cs typeface="Avenir"/>
                <a:sym typeface="Avenir"/>
              </a:rPr>
              <a:t> otomobil = </a:t>
            </a:r>
            <a:r>
              <a:rPr lang="en-US" sz="2640">
                <a:solidFill>
                  <a:srgbClr val="0000CC"/>
                </a:solidFill>
                <a:latin typeface="Avenir"/>
                <a:ea typeface="Avenir"/>
                <a:cs typeface="Avenir"/>
                <a:sym typeface="Avenir"/>
              </a:rPr>
              <a:t>new</a:t>
            </a:r>
            <a:r>
              <a:rPr lang="en-US" sz="2640">
                <a:solidFill>
                  <a:schemeClr val="dk1"/>
                </a:solidFill>
                <a:latin typeface="Avenir"/>
                <a:ea typeface="Avenir"/>
                <a:cs typeface="Avenir"/>
                <a:sym typeface="Avenir"/>
              </a:rPr>
              <a:t> </a:t>
            </a:r>
            <a:r>
              <a:rPr lang="en-US" sz="2640">
                <a:solidFill>
                  <a:srgbClr val="DD7E0E"/>
                </a:solidFill>
                <a:latin typeface="Avenir"/>
                <a:ea typeface="Avenir"/>
                <a:cs typeface="Avenir"/>
                <a:sym typeface="Avenir"/>
              </a:rPr>
              <a:t>Araba</a:t>
            </a:r>
            <a:r>
              <a:rPr lang="en-US" sz="2640">
                <a:solidFill>
                  <a:schemeClr val="dk1"/>
                </a:solidFill>
                <a:latin typeface="Avenir"/>
                <a:ea typeface="Avenir"/>
                <a:cs typeface="Avenir"/>
                <a:sym typeface="Avenir"/>
              </a:rPr>
              <a:t>();</a:t>
            </a:r>
            <a:endParaRPr/>
          </a:p>
        </p:txBody>
      </p:sp>
      <p:sp>
        <p:nvSpPr>
          <p:cNvPr id="397" name="Google Shape;397;p45"/>
          <p:cNvSpPr txBox="1"/>
          <p:nvPr/>
        </p:nvSpPr>
        <p:spPr>
          <a:xfrm>
            <a:off x="5724935" y="2802004"/>
            <a:ext cx="50118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Daha önceden oluşturduğumuz Araba Class ımızdan </a:t>
            </a:r>
            <a:endParaRPr sz="1800"/>
          </a:p>
          <a:p>
            <a:pPr indent="0" lvl="0" marL="0" marR="0" rtl="0" algn="l">
              <a:spcBef>
                <a:spcPts val="0"/>
              </a:spcBef>
              <a:spcAft>
                <a:spcPts val="0"/>
              </a:spcAft>
              <a:buNone/>
            </a:pPr>
            <a:r>
              <a:rPr lang="en-US" sz="1800">
                <a:solidFill>
                  <a:schemeClr val="dk1"/>
                </a:solidFill>
                <a:latin typeface="Avenir"/>
                <a:ea typeface="Avenir"/>
                <a:cs typeface="Avenir"/>
                <a:sym typeface="Avenir"/>
              </a:rPr>
              <a:t>yeni bir nesne yaratmak için </a:t>
            </a:r>
            <a:r>
              <a:rPr b="1" lang="en-US" sz="1800">
                <a:solidFill>
                  <a:srgbClr val="DD7E0E"/>
                </a:solidFill>
                <a:latin typeface="Avenir"/>
                <a:ea typeface="Avenir"/>
                <a:cs typeface="Avenir"/>
                <a:sym typeface="Avenir"/>
              </a:rPr>
              <a:t>instance</a:t>
            </a:r>
            <a:r>
              <a:rPr lang="en-US" sz="1800">
                <a:solidFill>
                  <a:schemeClr val="dk1"/>
                </a:solidFill>
                <a:latin typeface="Avenir"/>
                <a:ea typeface="Avenir"/>
                <a:cs typeface="Avenir"/>
                <a:sym typeface="Avenir"/>
              </a:rPr>
              <a:t> alıyoruz.</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6"/>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Referans ve Value Tipler</a:t>
            </a:r>
            <a:endParaRPr sz="3200"/>
          </a:p>
        </p:txBody>
      </p:sp>
      <p:sp>
        <p:nvSpPr>
          <p:cNvPr id="404" name="Google Shape;404;p46"/>
          <p:cNvSpPr/>
          <p:nvPr/>
        </p:nvSpPr>
        <p:spPr>
          <a:xfrm>
            <a:off x="782850" y="1423449"/>
            <a:ext cx="10697400" cy="4157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DD7E0E"/>
                </a:solidFill>
                <a:latin typeface="Avenir"/>
                <a:ea typeface="Avenir"/>
                <a:cs typeface="Avenir"/>
                <a:sym typeface="Avenir"/>
              </a:rPr>
              <a:t>Value Type  </a:t>
            </a:r>
            <a:r>
              <a:rPr lang="en-US" sz="1800">
                <a:solidFill>
                  <a:schemeClr val="dk1"/>
                </a:solidFill>
                <a:latin typeface="Avenir"/>
                <a:ea typeface="Avenir"/>
                <a:cs typeface="Avenir"/>
                <a:sym typeface="Avenir"/>
              </a:rPr>
              <a:t>RAM üzerinde ki STACK alanında yaşarlar. STACK alanında açılan yerde doğrudan değişken içerisindeki bilgi tutulur. Int,bool, double, float vb. değerler STACK alanında saklanmaktadır.</a:t>
            </a:r>
            <a:endParaRPr sz="1800">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rgbClr val="0000CC"/>
                </a:solidFill>
                <a:latin typeface="Avenir"/>
                <a:ea typeface="Avenir"/>
                <a:cs typeface="Avenir"/>
                <a:sym typeface="Avenir"/>
              </a:rPr>
              <a:t>int</a:t>
            </a:r>
            <a:r>
              <a:rPr lang="en-US" sz="1800">
                <a:solidFill>
                  <a:schemeClr val="dk1"/>
                </a:solidFill>
                <a:latin typeface="Avenir"/>
                <a:ea typeface="Avenir"/>
                <a:cs typeface="Avenir"/>
                <a:sym typeface="Avenir"/>
              </a:rPr>
              <a:t> sayi = 5 ;</a:t>
            </a:r>
            <a:endParaRPr sz="1800">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İfadesinde, STACK bölümünde sayi isminde bir alan açıyoruz. Bu alan içerisinde 5 sayısını tutuyoruz. Value Type değişkenlerde bilginin kendisi tutulur.  </a:t>
            </a:r>
            <a:endParaRPr sz="1800">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b="1" lang="en-US" sz="1800">
                <a:solidFill>
                  <a:srgbClr val="DD7E0E"/>
                </a:solidFill>
                <a:latin typeface="Avenir"/>
                <a:ea typeface="Avenir"/>
                <a:cs typeface="Avenir"/>
                <a:sym typeface="Avenir"/>
              </a:rPr>
              <a:t>Referans Type </a:t>
            </a:r>
            <a:r>
              <a:rPr lang="en-US" sz="1800">
                <a:solidFill>
                  <a:schemeClr val="dk1"/>
                </a:solidFill>
                <a:latin typeface="Avenir"/>
                <a:ea typeface="Avenir"/>
                <a:cs typeface="Avenir"/>
                <a:sym typeface="Avenir"/>
              </a:rPr>
              <a:t>ise değişken RAM’in HEAP alanında yaşar. String, diziler ve classlar RAM’in Referans Tipleri arasındadır. Referans tiplerinin değerleri </a:t>
            </a:r>
            <a:r>
              <a:rPr b="1" lang="en-US" sz="1800">
                <a:solidFill>
                  <a:srgbClr val="DD7E0E"/>
                </a:solidFill>
                <a:latin typeface="Avenir"/>
                <a:ea typeface="Avenir"/>
                <a:cs typeface="Avenir"/>
                <a:sym typeface="Avenir"/>
              </a:rPr>
              <a:t>HEAP </a:t>
            </a:r>
            <a:r>
              <a:rPr lang="en-US" sz="1800">
                <a:solidFill>
                  <a:schemeClr val="dk1"/>
                </a:solidFill>
                <a:latin typeface="Avenir"/>
                <a:ea typeface="Avenir"/>
                <a:cs typeface="Avenir"/>
                <a:sym typeface="Avenir"/>
              </a:rPr>
              <a:t>alanında tutulurken, </a:t>
            </a:r>
            <a:r>
              <a:rPr b="1" lang="en-US" sz="1800">
                <a:solidFill>
                  <a:srgbClr val="DD7E0E"/>
                </a:solidFill>
                <a:latin typeface="Avenir"/>
                <a:ea typeface="Avenir"/>
                <a:cs typeface="Avenir"/>
                <a:sym typeface="Avenir"/>
              </a:rPr>
              <a:t>STACK </a:t>
            </a:r>
            <a:r>
              <a:rPr lang="en-US" sz="1800">
                <a:solidFill>
                  <a:schemeClr val="dk1"/>
                </a:solidFill>
                <a:latin typeface="Avenir"/>
                <a:ea typeface="Avenir"/>
                <a:cs typeface="Avenir"/>
                <a:sym typeface="Avenir"/>
              </a:rPr>
              <a:t>alanında, değeri işaret eden bir adres bulunur. Biz veriyi okumak istediğimizde, STACK üzerinde değeri işaret eden referans adresinden, </a:t>
            </a:r>
            <a:r>
              <a:rPr lang="en-US" sz="1800">
                <a:solidFill>
                  <a:schemeClr val="dk1"/>
                </a:solidFill>
                <a:latin typeface="Avenir"/>
                <a:ea typeface="Avenir"/>
                <a:cs typeface="Avenir"/>
                <a:sym typeface="Avenir"/>
              </a:rPr>
              <a:t>HEAP de</a:t>
            </a:r>
            <a:r>
              <a:rPr lang="en-US" sz="1800">
                <a:solidFill>
                  <a:schemeClr val="dk1"/>
                </a:solidFill>
                <a:latin typeface="Avenir"/>
                <a:ea typeface="Avenir"/>
                <a:cs typeface="Avenir"/>
                <a:sym typeface="Avenir"/>
              </a:rPr>
              <a:t> verinin tutulduğu alana giderek veriye ulaşabiliriz.</a:t>
            </a:r>
            <a:endParaRPr sz="1800">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 </a:t>
            </a:r>
            <a:endParaRPr sz="1800">
              <a:latin typeface="Avenir"/>
              <a:ea typeface="Avenir"/>
              <a:cs typeface="Avenir"/>
              <a:sym typeface="Avenir"/>
            </a:endParaRPr>
          </a:p>
          <a:p>
            <a:pPr indent="0" lvl="0" marL="0" marR="0" rtl="0" algn="l">
              <a:spcBef>
                <a:spcPts val="0"/>
              </a:spcBef>
              <a:spcAft>
                <a:spcPts val="0"/>
              </a:spcAft>
              <a:buNone/>
            </a:pPr>
            <a:r>
              <a:rPr lang="en-US" sz="1440">
                <a:solidFill>
                  <a:schemeClr val="dk1"/>
                </a:solidFill>
                <a:latin typeface="Avenir"/>
                <a:ea typeface="Avenir"/>
                <a:cs typeface="Avenir"/>
                <a:sym typeface="Avenir"/>
              </a:rPr>
              <a:t> </a:t>
            </a:r>
            <a:endParaRPr/>
          </a:p>
          <a:p>
            <a:pPr indent="0" lvl="0" marL="0" marR="0" rtl="0" algn="l">
              <a:spcBef>
                <a:spcPts val="0"/>
              </a:spcBef>
              <a:spcAft>
                <a:spcPts val="0"/>
              </a:spcAft>
              <a:buNone/>
            </a:pPr>
            <a:r>
              <a:rPr lang="en-US" sz="1440">
                <a:solidFill>
                  <a:schemeClr val="dk1"/>
                </a:solidFill>
                <a:latin typeface="Avenir"/>
                <a:ea typeface="Avenir"/>
                <a:cs typeface="Avenir"/>
                <a:sym typeface="Avenir"/>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7"/>
          <p:cNvSpPr/>
          <p:nvPr/>
        </p:nvSpPr>
        <p:spPr>
          <a:xfrm>
            <a:off x="2833389" y="1081563"/>
            <a:ext cx="2734627" cy="3547586"/>
          </a:xfrm>
          <a:prstGeom prst="rect">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320">
              <a:solidFill>
                <a:schemeClr val="lt1"/>
              </a:solidFill>
              <a:latin typeface="Avenir"/>
              <a:ea typeface="Avenir"/>
              <a:cs typeface="Avenir"/>
              <a:sym typeface="Avenir"/>
            </a:endParaRPr>
          </a:p>
        </p:txBody>
      </p:sp>
      <p:sp>
        <p:nvSpPr>
          <p:cNvPr id="410" name="Google Shape;410;p47"/>
          <p:cNvSpPr/>
          <p:nvPr/>
        </p:nvSpPr>
        <p:spPr>
          <a:xfrm>
            <a:off x="6697504" y="1081563"/>
            <a:ext cx="2734627" cy="3547586"/>
          </a:xfrm>
          <a:prstGeom prst="rect">
            <a:avLst/>
          </a:prstGeom>
          <a:solidFill>
            <a:srgbClr val="7153A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411" name="Google Shape;411;p47"/>
          <p:cNvSpPr txBox="1"/>
          <p:nvPr/>
        </p:nvSpPr>
        <p:spPr>
          <a:xfrm>
            <a:off x="3599854" y="1371600"/>
            <a:ext cx="1459231" cy="7017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960">
                <a:solidFill>
                  <a:schemeClr val="lt1"/>
                </a:solidFill>
                <a:latin typeface="Avenir"/>
                <a:ea typeface="Avenir"/>
                <a:cs typeface="Avenir"/>
                <a:sym typeface="Avenir"/>
              </a:rPr>
              <a:t>Stack</a:t>
            </a:r>
            <a:endParaRPr sz="3960">
              <a:solidFill>
                <a:schemeClr val="lt1"/>
              </a:solidFill>
              <a:latin typeface="Avenir"/>
              <a:ea typeface="Avenir"/>
              <a:cs typeface="Avenir"/>
              <a:sym typeface="Avenir"/>
            </a:endParaRPr>
          </a:p>
        </p:txBody>
      </p:sp>
      <p:sp>
        <p:nvSpPr>
          <p:cNvPr id="412" name="Google Shape;412;p47"/>
          <p:cNvSpPr txBox="1"/>
          <p:nvPr/>
        </p:nvSpPr>
        <p:spPr>
          <a:xfrm>
            <a:off x="7421105" y="1371599"/>
            <a:ext cx="1529464" cy="7017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960">
                <a:solidFill>
                  <a:schemeClr val="lt1"/>
                </a:solidFill>
                <a:latin typeface="Avenir"/>
                <a:ea typeface="Avenir"/>
                <a:cs typeface="Avenir"/>
                <a:sym typeface="Avenir"/>
              </a:rPr>
              <a:t>Heap</a:t>
            </a:r>
            <a:endParaRPr/>
          </a:p>
        </p:txBody>
      </p:sp>
      <p:sp>
        <p:nvSpPr>
          <p:cNvPr id="413" name="Google Shape;413;p47"/>
          <p:cNvSpPr/>
          <p:nvPr/>
        </p:nvSpPr>
        <p:spPr>
          <a:xfrm>
            <a:off x="3094849" y="2318145"/>
            <a:ext cx="2211706" cy="537210"/>
          </a:xfrm>
          <a:prstGeom prst="flowChartProcess">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520">
                <a:solidFill>
                  <a:schemeClr val="dk1"/>
                </a:solidFill>
                <a:latin typeface="Avenir"/>
                <a:ea typeface="Avenir"/>
                <a:cs typeface="Avenir"/>
                <a:sym typeface="Avenir"/>
              </a:rPr>
              <a:t>Value Types</a:t>
            </a:r>
            <a:endParaRPr/>
          </a:p>
        </p:txBody>
      </p:sp>
      <p:sp>
        <p:nvSpPr>
          <p:cNvPr id="414" name="Google Shape;414;p47"/>
          <p:cNvSpPr/>
          <p:nvPr/>
        </p:nvSpPr>
        <p:spPr>
          <a:xfrm>
            <a:off x="3094850" y="2976797"/>
            <a:ext cx="2211706" cy="897974"/>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dk1"/>
                </a:solidFill>
                <a:latin typeface="Avenir"/>
                <a:ea typeface="Avenir"/>
                <a:cs typeface="Avenir"/>
                <a:sym typeface="Avenir"/>
              </a:rPr>
              <a:t>Pointers to the Reference Type</a:t>
            </a:r>
            <a:endParaRPr/>
          </a:p>
        </p:txBody>
      </p:sp>
      <p:sp>
        <p:nvSpPr>
          <p:cNvPr id="415" name="Google Shape;415;p47"/>
          <p:cNvSpPr/>
          <p:nvPr/>
        </p:nvSpPr>
        <p:spPr>
          <a:xfrm>
            <a:off x="6958963" y="2318145"/>
            <a:ext cx="2211706" cy="537210"/>
          </a:xfrm>
          <a:prstGeom prst="flowChartProcess">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dk1"/>
                </a:solidFill>
                <a:latin typeface="Avenir"/>
                <a:ea typeface="Avenir"/>
                <a:cs typeface="Avenir"/>
                <a:sym typeface="Avenir"/>
              </a:rPr>
              <a:t>Reference Types</a:t>
            </a:r>
            <a:endParaRPr/>
          </a:p>
        </p:txBody>
      </p:sp>
      <p:sp>
        <p:nvSpPr>
          <p:cNvPr id="416" name="Google Shape;416;p47"/>
          <p:cNvSpPr/>
          <p:nvPr/>
        </p:nvSpPr>
        <p:spPr>
          <a:xfrm rot="-1273166">
            <a:off x="5330947" y="3099679"/>
            <a:ext cx="1613486" cy="233305"/>
          </a:xfrm>
          <a:prstGeom prst="leftArrow">
            <a:avLst>
              <a:gd fmla="val 50000" name="adj1"/>
              <a:gd fmla="val 50000" name="adj2"/>
            </a:avLst>
          </a:prstGeom>
          <a:solidFill>
            <a:schemeClr val="dk1"/>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8"/>
          <p:cNvSpPr/>
          <p:nvPr/>
        </p:nvSpPr>
        <p:spPr>
          <a:xfrm>
            <a:off x="1482910" y="1801306"/>
            <a:ext cx="2592000" cy="520862"/>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byte</a:t>
            </a:r>
            <a:endParaRPr/>
          </a:p>
        </p:txBody>
      </p:sp>
      <p:sp>
        <p:nvSpPr>
          <p:cNvPr id="422" name="Google Shape;422;p48"/>
          <p:cNvSpPr/>
          <p:nvPr/>
        </p:nvSpPr>
        <p:spPr>
          <a:xfrm>
            <a:off x="1482910" y="2478423"/>
            <a:ext cx="2592000" cy="520800"/>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short</a:t>
            </a:r>
            <a:endParaRPr/>
          </a:p>
        </p:txBody>
      </p:sp>
      <p:sp>
        <p:nvSpPr>
          <p:cNvPr id="423" name="Google Shape;423;p48"/>
          <p:cNvSpPr/>
          <p:nvPr/>
        </p:nvSpPr>
        <p:spPr>
          <a:xfrm>
            <a:off x="1482910" y="3168565"/>
            <a:ext cx="2592000" cy="520800"/>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int</a:t>
            </a:r>
            <a:endParaRPr/>
          </a:p>
        </p:txBody>
      </p:sp>
      <p:sp>
        <p:nvSpPr>
          <p:cNvPr id="424" name="Google Shape;424;p48"/>
          <p:cNvSpPr/>
          <p:nvPr/>
        </p:nvSpPr>
        <p:spPr>
          <a:xfrm>
            <a:off x="1482904" y="3858731"/>
            <a:ext cx="2592000" cy="520800"/>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long</a:t>
            </a:r>
            <a:endParaRPr/>
          </a:p>
        </p:txBody>
      </p:sp>
      <p:sp>
        <p:nvSpPr>
          <p:cNvPr id="425" name="Google Shape;425;p48"/>
          <p:cNvSpPr/>
          <p:nvPr/>
        </p:nvSpPr>
        <p:spPr>
          <a:xfrm>
            <a:off x="4797316" y="1801336"/>
            <a:ext cx="2592000" cy="520800"/>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float</a:t>
            </a:r>
            <a:endParaRPr/>
          </a:p>
        </p:txBody>
      </p:sp>
      <p:sp>
        <p:nvSpPr>
          <p:cNvPr id="426" name="Google Shape;426;p48"/>
          <p:cNvSpPr/>
          <p:nvPr/>
        </p:nvSpPr>
        <p:spPr>
          <a:xfrm>
            <a:off x="4797316" y="2478400"/>
            <a:ext cx="2592000" cy="520800"/>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double</a:t>
            </a:r>
            <a:endParaRPr/>
          </a:p>
        </p:txBody>
      </p:sp>
      <p:sp>
        <p:nvSpPr>
          <p:cNvPr id="427" name="Google Shape;427;p48"/>
          <p:cNvSpPr/>
          <p:nvPr/>
        </p:nvSpPr>
        <p:spPr>
          <a:xfrm>
            <a:off x="8111754" y="2572436"/>
            <a:ext cx="2592000" cy="520800"/>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struct</a:t>
            </a:r>
            <a:endParaRPr/>
          </a:p>
        </p:txBody>
      </p:sp>
      <p:sp>
        <p:nvSpPr>
          <p:cNvPr id="428" name="Google Shape;428;p48"/>
          <p:cNvSpPr/>
          <p:nvPr/>
        </p:nvSpPr>
        <p:spPr>
          <a:xfrm>
            <a:off x="8111731" y="1801306"/>
            <a:ext cx="2592000" cy="520862"/>
          </a:xfrm>
          <a:prstGeom prst="flowChartAlternateProcess">
            <a:avLst/>
          </a:prstGeom>
          <a:solidFill>
            <a:srgbClr val="C000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enum</a:t>
            </a:r>
            <a:endParaRPr/>
          </a:p>
        </p:txBody>
      </p:sp>
      <p:sp>
        <p:nvSpPr>
          <p:cNvPr id="429" name="Google Shape;429;p48"/>
          <p:cNvSpPr/>
          <p:nvPr/>
        </p:nvSpPr>
        <p:spPr>
          <a:xfrm>
            <a:off x="1482909" y="1092940"/>
            <a:ext cx="9220822" cy="552113"/>
          </a:xfrm>
          <a:prstGeom prst="rect">
            <a:avLst/>
          </a:prstGeom>
          <a:solidFill>
            <a:srgbClr val="C00000"/>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40">
                <a:solidFill>
                  <a:schemeClr val="lt1"/>
                </a:solidFill>
                <a:latin typeface="Avenir"/>
                <a:ea typeface="Avenir"/>
                <a:cs typeface="Avenir"/>
                <a:sym typeface="Avenir"/>
              </a:rPr>
              <a:t>Primitive</a:t>
            </a:r>
            <a:r>
              <a:rPr lang="en-US" sz="3240">
                <a:solidFill>
                  <a:schemeClr val="lt1"/>
                </a:solidFill>
                <a:latin typeface="Avenir"/>
                <a:ea typeface="Avenir"/>
                <a:cs typeface="Avenir"/>
                <a:sym typeface="Avenir"/>
              </a:rPr>
              <a:t> </a:t>
            </a:r>
            <a:r>
              <a:rPr lang="en-US" sz="3240">
                <a:solidFill>
                  <a:schemeClr val="lt1"/>
                </a:solidFill>
                <a:latin typeface="Avenir"/>
                <a:ea typeface="Avenir"/>
                <a:cs typeface="Avenir"/>
                <a:sym typeface="Avenir"/>
              </a:rPr>
              <a:t>Types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9"/>
          <p:cNvSpPr/>
          <p:nvPr/>
        </p:nvSpPr>
        <p:spPr>
          <a:xfrm>
            <a:off x="1482909" y="1801306"/>
            <a:ext cx="9220822" cy="520862"/>
          </a:xfrm>
          <a:prstGeom prst="flowChartAlternateProcess">
            <a:avLst/>
          </a:prstGeom>
          <a:solidFill>
            <a:srgbClr val="7153A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string</a:t>
            </a:r>
            <a:endParaRPr/>
          </a:p>
        </p:txBody>
      </p:sp>
      <p:sp>
        <p:nvSpPr>
          <p:cNvPr id="435" name="Google Shape;435;p49"/>
          <p:cNvSpPr/>
          <p:nvPr/>
        </p:nvSpPr>
        <p:spPr>
          <a:xfrm>
            <a:off x="1482909" y="1092940"/>
            <a:ext cx="9220822" cy="552113"/>
          </a:xfrm>
          <a:prstGeom prst="rect">
            <a:avLst/>
          </a:prstGeom>
          <a:solidFill>
            <a:srgbClr val="7153A0"/>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40">
                <a:solidFill>
                  <a:schemeClr val="lt1"/>
                </a:solidFill>
                <a:latin typeface="Avenir"/>
                <a:ea typeface="Avenir"/>
                <a:cs typeface="Avenir"/>
                <a:sym typeface="Avenir"/>
              </a:rPr>
              <a:t>Reference Types</a:t>
            </a:r>
            <a:endParaRPr/>
          </a:p>
        </p:txBody>
      </p:sp>
      <p:sp>
        <p:nvSpPr>
          <p:cNvPr id="436" name="Google Shape;436;p49"/>
          <p:cNvSpPr/>
          <p:nvPr/>
        </p:nvSpPr>
        <p:spPr>
          <a:xfrm>
            <a:off x="1482909" y="2478423"/>
            <a:ext cx="9220822" cy="520862"/>
          </a:xfrm>
          <a:prstGeom prst="flowChartAlternateProcess">
            <a:avLst/>
          </a:prstGeom>
          <a:solidFill>
            <a:srgbClr val="7153A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60">
                <a:solidFill>
                  <a:schemeClr val="lt1"/>
                </a:solidFill>
                <a:latin typeface="Avenir"/>
                <a:ea typeface="Avenir"/>
                <a:cs typeface="Avenir"/>
                <a:sym typeface="Avenir"/>
              </a:rPr>
              <a:t>class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0"/>
          <p:cNvSpPr/>
          <p:nvPr/>
        </p:nvSpPr>
        <p:spPr>
          <a:xfrm>
            <a:off x="1659854" y="896864"/>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442" name="Google Shape;442;p50"/>
          <p:cNvSpPr/>
          <p:nvPr/>
        </p:nvSpPr>
        <p:spPr>
          <a:xfrm>
            <a:off x="6291943" y="896864"/>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443" name="Google Shape;443;p50"/>
          <p:cNvSpPr/>
          <p:nvPr/>
        </p:nvSpPr>
        <p:spPr>
          <a:xfrm>
            <a:off x="5457227" y="900781"/>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44" name="Google Shape;444;p50"/>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45" name="Google Shape;445;p50"/>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46" name="Google Shape;446;p50"/>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47" name="Google Shape;447;p50"/>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48" name="Google Shape;448;p50"/>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49" name="Google Shape;449;p50"/>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50" name="Google Shape;450;p50"/>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51" name="Google Shape;451;p50"/>
          <p:cNvSpPr/>
          <p:nvPr/>
        </p:nvSpPr>
        <p:spPr>
          <a:xfrm>
            <a:off x="5457227" y="4067226"/>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52" name="Google Shape;452;p50"/>
          <p:cNvSpPr/>
          <p:nvPr/>
        </p:nvSpPr>
        <p:spPr>
          <a:xfrm>
            <a:off x="5457227" y="446303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53" name="Google Shape;453;p50"/>
          <p:cNvSpPr/>
          <p:nvPr/>
        </p:nvSpPr>
        <p:spPr>
          <a:xfrm>
            <a:off x="5457227" y="485883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54" name="Google Shape;454;p50"/>
          <p:cNvSpPr/>
          <p:nvPr/>
        </p:nvSpPr>
        <p:spPr>
          <a:xfrm>
            <a:off x="5457227" y="5254643"/>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1"/>
          <p:cNvSpPr/>
          <p:nvPr/>
        </p:nvSpPr>
        <p:spPr>
          <a:xfrm>
            <a:off x="1659854" y="896864"/>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460" name="Google Shape;460;p51"/>
          <p:cNvSpPr/>
          <p:nvPr/>
        </p:nvSpPr>
        <p:spPr>
          <a:xfrm>
            <a:off x="6291943" y="896864"/>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461" name="Google Shape;461;p51"/>
          <p:cNvSpPr/>
          <p:nvPr/>
        </p:nvSpPr>
        <p:spPr>
          <a:xfrm>
            <a:off x="5457227" y="900781"/>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62" name="Google Shape;462;p51"/>
          <p:cNvSpPr/>
          <p:nvPr/>
        </p:nvSpPr>
        <p:spPr>
          <a:xfrm>
            <a:off x="1659854" y="4164929"/>
            <a:ext cx="8825266" cy="4212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463" name="Google Shape;463;p51"/>
          <p:cNvSpPr/>
          <p:nvPr/>
        </p:nvSpPr>
        <p:spPr>
          <a:xfrm>
            <a:off x="1659854" y="4264208"/>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a:t>
            </a:r>
            <a:endParaRPr/>
          </a:p>
          <a:p>
            <a:pPr indent="0" lvl="0" marL="0" marR="0" rtl="0" algn="l">
              <a:spcBef>
                <a:spcPts val="0"/>
              </a:spcBef>
              <a:spcAft>
                <a:spcPts val="0"/>
              </a:spcAft>
              <a:buNone/>
            </a:pPr>
            <a:r>
              <a:t/>
            </a:r>
            <a:endParaRPr sz="1264">
              <a:solidFill>
                <a:srgbClr val="00FF00"/>
              </a:solidFill>
              <a:latin typeface="Avenir"/>
              <a:ea typeface="Avenir"/>
              <a:cs typeface="Avenir"/>
              <a:sym typeface="Avenir"/>
            </a:endParaRPr>
          </a:p>
          <a:p>
            <a:pPr indent="0" lvl="0" marL="0" marR="0" rtl="0" algn="l">
              <a:spcBef>
                <a:spcPts val="0"/>
              </a:spcBef>
              <a:spcAft>
                <a:spcPts val="0"/>
              </a:spcAft>
              <a:buNone/>
            </a:pPr>
            <a:r>
              <a:t/>
            </a:r>
            <a:endParaRPr sz="1264">
              <a:solidFill>
                <a:srgbClr val="00FF00"/>
              </a:solidFill>
              <a:latin typeface="Avenir"/>
              <a:ea typeface="Avenir"/>
              <a:cs typeface="Avenir"/>
              <a:sym typeface="Aveni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t/>
            </a:r>
            <a:endParaRPr sz="1264">
              <a:solidFill>
                <a:srgbClr val="00FF00"/>
              </a:solidFill>
              <a:latin typeface="Avenir"/>
              <a:ea typeface="Avenir"/>
              <a:cs typeface="Avenir"/>
              <a:sym typeface="Avenir"/>
            </a:endParaRPr>
          </a:p>
          <a:p>
            <a:pPr indent="0" lvl="0" marL="0" marR="0" rtl="0" algn="l">
              <a:spcBef>
                <a:spcPts val="0"/>
              </a:spcBef>
              <a:spcAft>
                <a:spcPts val="0"/>
              </a:spcAft>
              <a:buNone/>
            </a:pPr>
            <a:r>
              <a:t/>
            </a:r>
            <a:endParaRPr sz="1264">
              <a:solidFill>
                <a:srgbClr val="00FF00"/>
              </a:solidFill>
              <a:latin typeface="Avenir"/>
              <a:ea typeface="Avenir"/>
              <a:cs typeface="Avenir"/>
              <a:sym typeface="Avenir"/>
            </a:endParaRPr>
          </a:p>
        </p:txBody>
      </p:sp>
      <p:sp>
        <p:nvSpPr>
          <p:cNvPr id="464" name="Google Shape;464;p51"/>
          <p:cNvSpPr txBox="1"/>
          <p:nvPr/>
        </p:nvSpPr>
        <p:spPr>
          <a:xfrm>
            <a:off x="1562160" y="3385261"/>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465" name="Google Shape;465;p51"/>
          <p:cNvSpPr/>
          <p:nvPr/>
        </p:nvSpPr>
        <p:spPr>
          <a:xfrm>
            <a:off x="1996320" y="338526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a:t>
            </a:r>
            <a:endParaRPr/>
          </a:p>
        </p:txBody>
      </p:sp>
      <p:sp>
        <p:nvSpPr>
          <p:cNvPr id="466" name="Google Shape;466;p51"/>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67" name="Google Shape;467;p51"/>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68" name="Google Shape;468;p51"/>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69" name="Google Shape;469;p51"/>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70" name="Google Shape;470;p51"/>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71" name="Google Shape;471;p51"/>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72" name="Google Shape;472;p51"/>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2"/>
          <p:cNvSpPr/>
          <p:nvPr/>
        </p:nvSpPr>
        <p:spPr>
          <a:xfrm>
            <a:off x="1659854" y="896868"/>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479" name="Google Shape;479;p52"/>
          <p:cNvSpPr/>
          <p:nvPr/>
        </p:nvSpPr>
        <p:spPr>
          <a:xfrm>
            <a:off x="6291943" y="896868"/>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480" name="Google Shape;480;p52"/>
          <p:cNvSpPr/>
          <p:nvPr/>
        </p:nvSpPr>
        <p:spPr>
          <a:xfrm>
            <a:off x="5457227" y="90078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81" name="Google Shape;481;p52"/>
          <p:cNvSpPr/>
          <p:nvPr/>
        </p:nvSpPr>
        <p:spPr>
          <a:xfrm>
            <a:off x="1659852" y="4166100"/>
            <a:ext cx="8825760" cy="4212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482" name="Google Shape;482;p52"/>
          <p:cNvSpPr/>
          <p:nvPr/>
        </p:nvSpPr>
        <p:spPr>
          <a:xfrm>
            <a:off x="1659854" y="4263300"/>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 = null;</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p.Name = ‘Ali’</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rPr lang="en-US" sz="1264">
                <a:solidFill>
                  <a:srgbClr val="FF0000"/>
                </a:solidFill>
                <a:latin typeface="Avenir"/>
                <a:ea typeface="Avenir"/>
                <a:cs typeface="Avenir"/>
                <a:sym typeface="Avenir"/>
              </a:rPr>
              <a:t>Runtime exception : NullReferenceException:</a:t>
            </a:r>
            <a:endParaRPr/>
          </a:p>
          <a:p>
            <a:pPr indent="0" lvl="0" marL="0" marR="0" rtl="0" algn="l">
              <a:spcBef>
                <a:spcPts val="0"/>
              </a:spcBef>
              <a:spcAft>
                <a:spcPts val="0"/>
              </a:spcAft>
              <a:buNone/>
            </a:pPr>
            <a:r>
              <a:rPr lang="en-US" sz="1264">
                <a:solidFill>
                  <a:srgbClr val="FF0000"/>
                </a:solidFill>
                <a:latin typeface="Avenir"/>
                <a:ea typeface="Avenir"/>
                <a:cs typeface="Avenir"/>
                <a:sym typeface="Avenir"/>
              </a:rPr>
              <a:t>Object reference not set to an instance of an object</a:t>
            </a:r>
            <a:endParaRPr/>
          </a:p>
        </p:txBody>
      </p:sp>
      <p:sp>
        <p:nvSpPr>
          <p:cNvPr id="483" name="Google Shape;483;p52"/>
          <p:cNvSpPr txBox="1"/>
          <p:nvPr/>
        </p:nvSpPr>
        <p:spPr>
          <a:xfrm>
            <a:off x="1562160" y="3385261"/>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484" name="Google Shape;484;p52"/>
          <p:cNvSpPr/>
          <p:nvPr/>
        </p:nvSpPr>
        <p:spPr>
          <a:xfrm>
            <a:off x="1996320" y="338526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0x000000</a:t>
            </a:r>
            <a:endParaRPr/>
          </a:p>
        </p:txBody>
      </p:sp>
      <p:sp>
        <p:nvSpPr>
          <p:cNvPr id="485" name="Google Shape;485;p52"/>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86" name="Google Shape;486;p52"/>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87" name="Google Shape;487;p52"/>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88" name="Google Shape;488;p52"/>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89" name="Google Shape;489;p52"/>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90" name="Google Shape;490;p52"/>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91" name="Google Shape;491;p52"/>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3"/>
          <p:cNvSpPr/>
          <p:nvPr/>
        </p:nvSpPr>
        <p:spPr>
          <a:xfrm>
            <a:off x="1659854" y="896890"/>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497" name="Google Shape;497;p53"/>
          <p:cNvSpPr/>
          <p:nvPr/>
        </p:nvSpPr>
        <p:spPr>
          <a:xfrm>
            <a:off x="6291943" y="896890"/>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498" name="Google Shape;498;p53"/>
          <p:cNvSpPr/>
          <p:nvPr/>
        </p:nvSpPr>
        <p:spPr>
          <a:xfrm>
            <a:off x="5457227" y="900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499" name="Google Shape;499;p53"/>
          <p:cNvSpPr/>
          <p:nvPr/>
        </p:nvSpPr>
        <p:spPr>
          <a:xfrm>
            <a:off x="1659853" y="4166102"/>
            <a:ext cx="8825267" cy="41147"/>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500" name="Google Shape;500;p53"/>
          <p:cNvSpPr/>
          <p:nvPr/>
        </p:nvSpPr>
        <p:spPr>
          <a:xfrm>
            <a:off x="1659854" y="4263300"/>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new Person();</a:t>
            </a:r>
            <a:endParaRPr/>
          </a:p>
          <a:p>
            <a:pPr indent="0" lvl="0" marL="0" marR="0" rtl="0" algn="l">
              <a:spcBef>
                <a:spcPts val="0"/>
              </a:spcBef>
              <a:spcAft>
                <a:spcPts val="0"/>
              </a:spcAft>
              <a:buNone/>
            </a:pPr>
            <a:r>
              <a:t/>
            </a:r>
            <a:endParaRPr sz="1264">
              <a:solidFill>
                <a:srgbClr val="00FF00"/>
              </a:solidFill>
              <a:latin typeface="Avenir"/>
              <a:ea typeface="Avenir"/>
              <a:cs typeface="Avenir"/>
              <a:sym typeface="Aveni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t/>
            </a:r>
            <a:endParaRPr sz="1264">
              <a:solidFill>
                <a:srgbClr val="FF0000"/>
              </a:solidFill>
              <a:latin typeface="Avenir"/>
              <a:ea typeface="Avenir"/>
              <a:cs typeface="Avenir"/>
              <a:sym typeface="Avenir"/>
            </a:endParaRPr>
          </a:p>
        </p:txBody>
      </p:sp>
      <p:sp>
        <p:nvSpPr>
          <p:cNvPr id="501" name="Google Shape;501;p53"/>
          <p:cNvSpPr/>
          <p:nvPr/>
        </p:nvSpPr>
        <p:spPr>
          <a:xfrm>
            <a:off x="6300760" y="1629569"/>
            <a:ext cx="1724053" cy="1183646"/>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null</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0</a:t>
            </a:r>
            <a:endParaRPr/>
          </a:p>
        </p:txBody>
      </p:sp>
      <p:sp>
        <p:nvSpPr>
          <p:cNvPr id="502" name="Google Shape;502;p53"/>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03" name="Google Shape;503;p53"/>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04" name="Google Shape;504;p53"/>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05" name="Google Shape;505;p53"/>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06" name="Google Shape;506;p53"/>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07" name="Google Shape;507;p53"/>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08" name="Google Shape;508;p53"/>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4"/>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14" name="Google Shape;514;p54"/>
          <p:cNvSpPr/>
          <p:nvPr/>
        </p:nvSpPr>
        <p:spPr>
          <a:xfrm>
            <a:off x="1659854" y="896882"/>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515" name="Google Shape;515;p54"/>
          <p:cNvSpPr/>
          <p:nvPr/>
        </p:nvSpPr>
        <p:spPr>
          <a:xfrm>
            <a:off x="6291943" y="896882"/>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516" name="Google Shape;516;p54"/>
          <p:cNvSpPr/>
          <p:nvPr/>
        </p:nvSpPr>
        <p:spPr>
          <a:xfrm>
            <a:off x="5457227" y="90080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17" name="Google Shape;517;p54"/>
          <p:cNvSpPr/>
          <p:nvPr/>
        </p:nvSpPr>
        <p:spPr>
          <a:xfrm>
            <a:off x="1659854" y="4166102"/>
            <a:ext cx="8825266" cy="41147"/>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518" name="Google Shape;518;p54"/>
          <p:cNvSpPr/>
          <p:nvPr/>
        </p:nvSpPr>
        <p:spPr>
          <a:xfrm>
            <a:off x="1659854" y="4263300"/>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new  Person();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t/>
            </a:r>
            <a:endParaRPr sz="1264">
              <a:solidFill>
                <a:srgbClr val="FF0000"/>
              </a:solidFill>
              <a:latin typeface="Avenir"/>
              <a:ea typeface="Avenir"/>
              <a:cs typeface="Avenir"/>
              <a:sym typeface="Avenir"/>
            </a:endParaRPr>
          </a:p>
        </p:txBody>
      </p:sp>
      <p:sp>
        <p:nvSpPr>
          <p:cNvPr id="519" name="Google Shape;519;p54"/>
          <p:cNvSpPr/>
          <p:nvPr/>
        </p:nvSpPr>
        <p:spPr>
          <a:xfrm>
            <a:off x="6300760" y="1629561"/>
            <a:ext cx="1724053" cy="1183646"/>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null</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0</a:t>
            </a:r>
            <a:endParaRPr/>
          </a:p>
        </p:txBody>
      </p:sp>
      <p:sp>
        <p:nvSpPr>
          <p:cNvPr id="520" name="Google Shape;520;p54"/>
          <p:cNvSpPr txBox="1"/>
          <p:nvPr/>
        </p:nvSpPr>
        <p:spPr>
          <a:xfrm>
            <a:off x="1562160" y="3385261"/>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521" name="Google Shape;521;p54"/>
          <p:cNvSpPr/>
          <p:nvPr/>
        </p:nvSpPr>
        <p:spPr>
          <a:xfrm>
            <a:off x="1996320" y="338526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a:t>
            </a:r>
            <a:endParaRPr/>
          </a:p>
        </p:txBody>
      </p:sp>
      <p:cxnSp>
        <p:nvCxnSpPr>
          <p:cNvPr id="522" name="Google Shape;522;p54"/>
          <p:cNvCxnSpPr/>
          <p:nvPr/>
        </p:nvCxnSpPr>
        <p:spPr>
          <a:xfrm flipH="1" rot="10800000">
            <a:off x="2936163" y="2319447"/>
            <a:ext cx="3225300" cy="3026700"/>
          </a:xfrm>
          <a:prstGeom prst="curvedConnector3">
            <a:avLst>
              <a:gd fmla="val 50002" name="adj1"/>
            </a:avLst>
          </a:prstGeom>
          <a:noFill/>
          <a:ln cap="flat" cmpd="sng" w="38100">
            <a:solidFill>
              <a:srgbClr val="0070C0"/>
            </a:solidFill>
            <a:prstDash val="solid"/>
            <a:miter lim="800000"/>
            <a:headEnd len="sm" w="sm" type="none"/>
            <a:tailEnd len="med" w="med" type="triangle"/>
          </a:ln>
          <a:effectLst>
            <a:outerShdw blurRad="50800" rotWithShape="0" algn="tl" dir="2700000" dist="38100">
              <a:srgbClr val="000000">
                <a:alpha val="40000"/>
              </a:srgbClr>
            </a:outerShdw>
          </a:effectLst>
        </p:spPr>
      </p:cxnSp>
      <p:cxnSp>
        <p:nvCxnSpPr>
          <p:cNvPr id="523" name="Google Shape;523;p54"/>
          <p:cNvCxnSpPr/>
          <p:nvPr/>
        </p:nvCxnSpPr>
        <p:spPr>
          <a:xfrm rot="-5400000">
            <a:off x="2450602" y="4052538"/>
            <a:ext cx="1044900" cy="931800"/>
          </a:xfrm>
          <a:prstGeom prst="bentConnector3">
            <a:avLst>
              <a:gd fmla="val 50004" name="adj1"/>
            </a:avLst>
          </a:prstGeom>
          <a:noFill/>
          <a:ln cap="flat" cmpd="sng" w="38100">
            <a:solidFill>
              <a:srgbClr val="0070C0"/>
            </a:solidFill>
            <a:prstDash val="solid"/>
            <a:miter lim="800000"/>
            <a:headEnd len="sm" w="sm" type="none"/>
            <a:tailEnd len="med" w="med" type="triangle"/>
          </a:ln>
          <a:effectLst>
            <a:outerShdw blurRad="50800" rotWithShape="0" algn="tl" dir="2700000" dist="38100">
              <a:srgbClr val="000000">
                <a:alpha val="40000"/>
              </a:srgbClr>
            </a:outerShdw>
          </a:effectLst>
        </p:spPr>
      </p:cxnSp>
      <p:sp>
        <p:nvSpPr>
          <p:cNvPr id="524" name="Google Shape;524;p54"/>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25" name="Google Shape;525;p54"/>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26" name="Google Shape;526;p54"/>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27" name="Google Shape;527;p54"/>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28" name="Google Shape;528;p54"/>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29" name="Google Shape;529;p54"/>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5"/>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35" name="Google Shape;535;p55"/>
          <p:cNvSpPr/>
          <p:nvPr/>
        </p:nvSpPr>
        <p:spPr>
          <a:xfrm>
            <a:off x="1659854" y="896880"/>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536" name="Google Shape;536;p55"/>
          <p:cNvSpPr/>
          <p:nvPr/>
        </p:nvSpPr>
        <p:spPr>
          <a:xfrm>
            <a:off x="6291943" y="896880"/>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537" name="Google Shape;537;p55"/>
          <p:cNvSpPr/>
          <p:nvPr/>
        </p:nvSpPr>
        <p:spPr>
          <a:xfrm>
            <a:off x="5457227" y="9007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38" name="Google Shape;538;p55"/>
          <p:cNvSpPr/>
          <p:nvPr/>
        </p:nvSpPr>
        <p:spPr>
          <a:xfrm>
            <a:off x="1659854" y="4166102"/>
            <a:ext cx="8825266" cy="41147"/>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539" name="Google Shape;539;p55"/>
          <p:cNvSpPr/>
          <p:nvPr/>
        </p:nvSpPr>
        <p:spPr>
          <a:xfrm>
            <a:off x="1659854" y="4263300"/>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  =  new Person ();</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t/>
            </a:r>
            <a:endParaRPr sz="1264">
              <a:solidFill>
                <a:srgbClr val="FF0000"/>
              </a:solidFill>
              <a:latin typeface="Avenir"/>
              <a:ea typeface="Avenir"/>
              <a:cs typeface="Avenir"/>
              <a:sym typeface="Avenir"/>
            </a:endParaRPr>
          </a:p>
        </p:txBody>
      </p:sp>
      <p:sp>
        <p:nvSpPr>
          <p:cNvPr id="540" name="Google Shape;540;p55"/>
          <p:cNvSpPr/>
          <p:nvPr/>
        </p:nvSpPr>
        <p:spPr>
          <a:xfrm>
            <a:off x="6300760" y="1629558"/>
            <a:ext cx="1724053" cy="1183646"/>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null</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0</a:t>
            </a:r>
            <a:endParaRPr/>
          </a:p>
        </p:txBody>
      </p:sp>
      <p:sp>
        <p:nvSpPr>
          <p:cNvPr id="541" name="Google Shape;541;p55"/>
          <p:cNvSpPr txBox="1"/>
          <p:nvPr/>
        </p:nvSpPr>
        <p:spPr>
          <a:xfrm>
            <a:off x="1562160" y="3385261"/>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542" name="Google Shape;542;p55"/>
          <p:cNvSpPr/>
          <p:nvPr/>
        </p:nvSpPr>
        <p:spPr>
          <a:xfrm>
            <a:off x="1996320" y="338526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0x123456</a:t>
            </a:r>
            <a:endParaRPr/>
          </a:p>
        </p:txBody>
      </p:sp>
      <p:sp>
        <p:nvSpPr>
          <p:cNvPr id="543" name="Google Shape;543;p55"/>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44" name="Google Shape;544;p55"/>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45" name="Google Shape;545;p55"/>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46" name="Google Shape;546;p55"/>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47" name="Google Shape;547;p55"/>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48" name="Google Shape;548;p55"/>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cxnSp>
        <p:nvCxnSpPr>
          <p:cNvPr id="549" name="Google Shape;549;p55"/>
          <p:cNvCxnSpPr/>
          <p:nvPr/>
        </p:nvCxnSpPr>
        <p:spPr>
          <a:xfrm flipH="1" rot="10800000">
            <a:off x="4063536" y="2021700"/>
            <a:ext cx="2067300" cy="1583100"/>
          </a:xfrm>
          <a:prstGeom prst="curvedConnector3">
            <a:avLst>
              <a:gd fmla="val 50000" name="adj1"/>
            </a:avLst>
          </a:prstGeom>
          <a:noFill/>
          <a:ln cap="flat" cmpd="sng" w="44450">
            <a:solidFill>
              <a:schemeClr val="accent5"/>
            </a:solidFill>
            <a:prstDash val="solid"/>
            <a:miter lim="800000"/>
            <a:headEnd len="sm" w="sm" type="none"/>
            <a:tailEnd len="med" w="med" type="triangle"/>
          </a:ln>
          <a:effectLst>
            <a:outerShdw blurRad="50800" rotWithShape="0" algn="tl" dir="2700000" dist="38100">
              <a:srgbClr val="000000">
                <a:alpha val="40000"/>
              </a:srgbClr>
            </a:outerShdw>
          </a:effectLst>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6"/>
          <p:cNvSpPr/>
          <p:nvPr/>
        </p:nvSpPr>
        <p:spPr>
          <a:xfrm>
            <a:off x="1659854" y="896889"/>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555" name="Google Shape;555;p56"/>
          <p:cNvSpPr/>
          <p:nvPr/>
        </p:nvSpPr>
        <p:spPr>
          <a:xfrm>
            <a:off x="6291943" y="896889"/>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556" name="Google Shape;556;p56"/>
          <p:cNvSpPr/>
          <p:nvPr/>
        </p:nvSpPr>
        <p:spPr>
          <a:xfrm>
            <a:off x="5457227" y="900806"/>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57" name="Google Shape;557;p56"/>
          <p:cNvSpPr/>
          <p:nvPr/>
        </p:nvSpPr>
        <p:spPr>
          <a:xfrm>
            <a:off x="1659854" y="4166102"/>
            <a:ext cx="8825266" cy="41147"/>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558" name="Google Shape;558;p56"/>
          <p:cNvSpPr/>
          <p:nvPr/>
        </p:nvSpPr>
        <p:spPr>
          <a:xfrm>
            <a:off x="1659854" y="4263300"/>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  =  new  Person();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p.Name  =  ‘’Ali’’  </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t/>
            </a:r>
            <a:endParaRPr sz="1264">
              <a:solidFill>
                <a:srgbClr val="FF0000"/>
              </a:solidFill>
              <a:latin typeface="Avenir"/>
              <a:ea typeface="Avenir"/>
              <a:cs typeface="Avenir"/>
              <a:sym typeface="Avenir"/>
            </a:endParaRPr>
          </a:p>
        </p:txBody>
      </p:sp>
      <p:sp>
        <p:nvSpPr>
          <p:cNvPr id="559" name="Google Shape;559;p56"/>
          <p:cNvSpPr/>
          <p:nvPr/>
        </p:nvSpPr>
        <p:spPr>
          <a:xfrm>
            <a:off x="6300761" y="1629567"/>
            <a:ext cx="1364099" cy="1183646"/>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null</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0</a:t>
            </a:r>
            <a:endParaRPr/>
          </a:p>
        </p:txBody>
      </p:sp>
      <p:sp>
        <p:nvSpPr>
          <p:cNvPr id="560" name="Google Shape;560;p56"/>
          <p:cNvSpPr txBox="1"/>
          <p:nvPr/>
        </p:nvSpPr>
        <p:spPr>
          <a:xfrm>
            <a:off x="1562160" y="3385261"/>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561" name="Google Shape;561;p56"/>
          <p:cNvSpPr/>
          <p:nvPr/>
        </p:nvSpPr>
        <p:spPr>
          <a:xfrm>
            <a:off x="1996320" y="338526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0x123456</a:t>
            </a:r>
            <a:endParaRPr/>
          </a:p>
        </p:txBody>
      </p:sp>
      <p:sp>
        <p:nvSpPr>
          <p:cNvPr id="562" name="Google Shape;562;p56"/>
          <p:cNvSpPr/>
          <p:nvPr/>
        </p:nvSpPr>
        <p:spPr>
          <a:xfrm>
            <a:off x="8387299" y="2153440"/>
            <a:ext cx="2097822" cy="1183646"/>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String</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char[] = ‘’Ali’’</a:t>
            </a:r>
            <a:endParaRPr/>
          </a:p>
        </p:txBody>
      </p:sp>
      <p:cxnSp>
        <p:nvCxnSpPr>
          <p:cNvPr id="563" name="Google Shape;563;p56"/>
          <p:cNvCxnSpPr/>
          <p:nvPr/>
        </p:nvCxnSpPr>
        <p:spPr>
          <a:xfrm flipH="1" rot="-5400000">
            <a:off x="7687726" y="2214078"/>
            <a:ext cx="654900" cy="615600"/>
          </a:xfrm>
          <a:prstGeom prst="bentConnector3">
            <a:avLst>
              <a:gd fmla="val 0" name="adj1"/>
            </a:avLst>
          </a:prstGeom>
          <a:noFill/>
          <a:ln cap="flat" cmpd="sng" w="41275">
            <a:solidFill>
              <a:srgbClr val="0070C0"/>
            </a:solidFill>
            <a:prstDash val="solid"/>
            <a:miter lim="800000"/>
            <a:headEnd len="sm" w="sm" type="none"/>
            <a:tailEnd len="med" w="med" type="triangle"/>
          </a:ln>
          <a:effectLst>
            <a:outerShdw blurRad="50800" rotWithShape="0" algn="tl" dir="2700000" dist="38100">
              <a:srgbClr val="000000">
                <a:alpha val="40000"/>
              </a:srgbClr>
            </a:outerShdw>
          </a:effectLst>
        </p:spPr>
      </p:cxnSp>
      <p:sp>
        <p:nvSpPr>
          <p:cNvPr id="564" name="Google Shape;564;p56"/>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65" name="Google Shape;565;p56"/>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66" name="Google Shape;566;p56"/>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67" name="Google Shape;567;p56"/>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68" name="Google Shape;568;p56"/>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69" name="Google Shape;569;p56"/>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70" name="Google Shape;570;p56"/>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cxnSp>
        <p:nvCxnSpPr>
          <p:cNvPr id="571" name="Google Shape;571;p56"/>
          <p:cNvCxnSpPr/>
          <p:nvPr/>
        </p:nvCxnSpPr>
        <p:spPr>
          <a:xfrm flipH="1" rot="10800000">
            <a:off x="4063536" y="2021700"/>
            <a:ext cx="2067300" cy="1583100"/>
          </a:xfrm>
          <a:prstGeom prst="curvedConnector3">
            <a:avLst>
              <a:gd fmla="val 50000" name="adj1"/>
            </a:avLst>
          </a:prstGeom>
          <a:noFill/>
          <a:ln cap="flat" cmpd="sng" w="44450">
            <a:solidFill>
              <a:schemeClr val="accent5"/>
            </a:solidFill>
            <a:prstDash val="solid"/>
            <a:miter lim="800000"/>
            <a:headEnd len="sm" w="sm" type="none"/>
            <a:tailEnd len="med" w="med" type="triangle"/>
          </a:ln>
          <a:effectLst>
            <a:outerShdw blurRad="50800" rotWithShape="0" algn="tl" dir="2700000" dist="38100">
              <a:srgbClr val="000000">
                <a:alpha val="40000"/>
              </a:srgbClr>
            </a:outerShdw>
          </a:effectLst>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7"/>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78" name="Google Shape;578;p57"/>
          <p:cNvSpPr/>
          <p:nvPr/>
        </p:nvSpPr>
        <p:spPr>
          <a:xfrm>
            <a:off x="1659854" y="896889"/>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579" name="Google Shape;579;p57"/>
          <p:cNvSpPr/>
          <p:nvPr/>
        </p:nvSpPr>
        <p:spPr>
          <a:xfrm>
            <a:off x="6291943" y="896889"/>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580" name="Google Shape;580;p57"/>
          <p:cNvSpPr/>
          <p:nvPr/>
        </p:nvSpPr>
        <p:spPr>
          <a:xfrm>
            <a:off x="5457227" y="900806"/>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81" name="Google Shape;581;p57"/>
          <p:cNvSpPr/>
          <p:nvPr/>
        </p:nvSpPr>
        <p:spPr>
          <a:xfrm>
            <a:off x="1659854" y="4166102"/>
            <a:ext cx="8825266" cy="41147"/>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582" name="Google Shape;582;p57"/>
          <p:cNvSpPr/>
          <p:nvPr/>
        </p:nvSpPr>
        <p:spPr>
          <a:xfrm>
            <a:off x="1659854" y="4263300"/>
            <a:ext cx="8825266" cy="1944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  =  new  Person (‘’’Ali’’ , 20);</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  =  new  Person (‘’Ahmet’ , 40);</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t/>
            </a:r>
            <a:endParaRPr sz="1264">
              <a:solidFill>
                <a:srgbClr val="FF0000"/>
              </a:solidFill>
              <a:latin typeface="Avenir"/>
              <a:ea typeface="Avenir"/>
              <a:cs typeface="Avenir"/>
              <a:sym typeface="Avenir"/>
            </a:endParaRPr>
          </a:p>
        </p:txBody>
      </p:sp>
      <p:sp>
        <p:nvSpPr>
          <p:cNvPr id="583" name="Google Shape;583;p57"/>
          <p:cNvSpPr/>
          <p:nvPr/>
        </p:nvSpPr>
        <p:spPr>
          <a:xfrm>
            <a:off x="6300760" y="1629567"/>
            <a:ext cx="2388811" cy="1029430"/>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‘’Ali’’</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20</a:t>
            </a:r>
            <a:endParaRPr/>
          </a:p>
        </p:txBody>
      </p:sp>
      <p:sp>
        <p:nvSpPr>
          <p:cNvPr id="584" name="Google Shape;584;p57"/>
          <p:cNvSpPr txBox="1"/>
          <p:nvPr/>
        </p:nvSpPr>
        <p:spPr>
          <a:xfrm>
            <a:off x="1562276" y="3383988"/>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585" name="Google Shape;585;p57"/>
          <p:cNvSpPr/>
          <p:nvPr/>
        </p:nvSpPr>
        <p:spPr>
          <a:xfrm>
            <a:off x="1996291" y="3383987"/>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0x123456</a:t>
            </a:r>
            <a:endParaRPr/>
          </a:p>
        </p:txBody>
      </p:sp>
      <p:cxnSp>
        <p:nvCxnSpPr>
          <p:cNvPr id="586" name="Google Shape;586;p57"/>
          <p:cNvCxnSpPr/>
          <p:nvPr/>
        </p:nvCxnSpPr>
        <p:spPr>
          <a:xfrm flipH="1" rot="10800000">
            <a:off x="3959245" y="3374556"/>
            <a:ext cx="2113200" cy="200700"/>
          </a:xfrm>
          <a:prstGeom prst="curvedConnector3">
            <a:avLst>
              <a:gd fmla="val 50000" name="adj1"/>
            </a:avLst>
          </a:prstGeom>
          <a:noFill/>
          <a:ln cap="flat" cmpd="sng" w="44450">
            <a:solidFill>
              <a:schemeClr val="accent5"/>
            </a:solidFill>
            <a:prstDash val="solid"/>
            <a:miter lim="800000"/>
            <a:headEnd len="sm" w="sm" type="none"/>
            <a:tailEnd len="med" w="med" type="triangle"/>
          </a:ln>
          <a:effectLst>
            <a:outerShdw blurRad="50800" rotWithShape="0" algn="tl" dir="2700000" dist="38100">
              <a:srgbClr val="000000">
                <a:alpha val="40000"/>
              </a:srgbClr>
            </a:outerShdw>
          </a:effectLst>
        </p:spPr>
      </p:cxnSp>
      <p:sp>
        <p:nvSpPr>
          <p:cNvPr id="587" name="Google Shape;587;p57"/>
          <p:cNvSpPr/>
          <p:nvPr/>
        </p:nvSpPr>
        <p:spPr>
          <a:xfrm>
            <a:off x="6300760" y="2813214"/>
            <a:ext cx="2388811" cy="1029430"/>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‘’Ahmet’’</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40</a:t>
            </a:r>
            <a:endParaRPr/>
          </a:p>
        </p:txBody>
      </p:sp>
      <p:sp>
        <p:nvSpPr>
          <p:cNvPr id="588" name="Google Shape;588;p57"/>
          <p:cNvSpPr txBox="1"/>
          <p:nvPr/>
        </p:nvSpPr>
        <p:spPr>
          <a:xfrm>
            <a:off x="8726974" y="1728784"/>
            <a:ext cx="2032463" cy="6759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64">
                <a:solidFill>
                  <a:srgbClr val="FF0000"/>
                </a:solidFill>
                <a:latin typeface="Avenir"/>
                <a:ea typeface="Avenir"/>
                <a:cs typeface="Avenir"/>
                <a:sym typeface="Avenir"/>
              </a:rPr>
              <a:t>Garbage Collector Will Scan and Remove The Unreferenced </a:t>
            </a:r>
            <a:endParaRPr sz="1264">
              <a:solidFill>
                <a:srgbClr val="FF0000"/>
              </a:solidFill>
              <a:latin typeface="Avenir"/>
              <a:ea typeface="Avenir"/>
              <a:cs typeface="Avenir"/>
              <a:sym typeface="Avenir"/>
            </a:endParaRPr>
          </a:p>
        </p:txBody>
      </p:sp>
      <p:sp>
        <p:nvSpPr>
          <p:cNvPr id="589" name="Google Shape;589;p57"/>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90" name="Google Shape;590;p57"/>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91" name="Google Shape;591;p57"/>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92" name="Google Shape;592;p57"/>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93" name="Google Shape;593;p57"/>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594" name="Google Shape;594;p57"/>
          <p:cNvSpPr/>
          <p:nvPr/>
        </p:nvSpPr>
        <p:spPr>
          <a:xfrm>
            <a:off x="5457227" y="3671420"/>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xEl>
                                              <p:pRg end="0" st="0"/>
                                            </p:txEl>
                                          </p:spTgt>
                                        </p:tgtEl>
                                        <p:attrNameLst>
                                          <p:attrName>style.visibility</p:attrName>
                                        </p:attrNameLst>
                                      </p:cBhvr>
                                      <p:to>
                                        <p:strVal val="visible"/>
                                      </p:to>
                                    </p:set>
                                    <p:animEffect filter="fade" transition="in">
                                      <p:cBhvr>
                                        <p:cTn dur="1000"/>
                                        <p:tgtEl>
                                          <p:spTgt spid="58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8"/>
          <p:cNvSpPr/>
          <p:nvPr/>
        </p:nvSpPr>
        <p:spPr>
          <a:xfrm>
            <a:off x="5457227" y="3275615"/>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601" name="Google Shape;601;p58"/>
          <p:cNvSpPr/>
          <p:nvPr/>
        </p:nvSpPr>
        <p:spPr>
          <a:xfrm>
            <a:off x="1659854" y="896889"/>
            <a:ext cx="3009682"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STACK</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(Local Variables)</a:t>
            </a:r>
            <a:endParaRPr/>
          </a:p>
        </p:txBody>
      </p:sp>
      <p:sp>
        <p:nvSpPr>
          <p:cNvPr id="602" name="Google Shape;602;p58"/>
          <p:cNvSpPr/>
          <p:nvPr/>
        </p:nvSpPr>
        <p:spPr>
          <a:xfrm>
            <a:off x="6291943" y="896889"/>
            <a:ext cx="4193178" cy="666205"/>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HEAP</a:t>
            </a:r>
            <a:endParaRPr/>
          </a:p>
          <a:p>
            <a:pPr indent="0" lvl="0" marL="0" marR="0" rtl="0" algn="ctr">
              <a:spcBef>
                <a:spcPts val="0"/>
              </a:spcBef>
              <a:spcAft>
                <a:spcPts val="0"/>
              </a:spcAft>
              <a:buNone/>
            </a:pPr>
            <a:r>
              <a:rPr lang="en-US" sz="1264">
                <a:solidFill>
                  <a:schemeClr val="lt1"/>
                </a:solidFill>
                <a:latin typeface="Avenir"/>
                <a:ea typeface="Avenir"/>
                <a:cs typeface="Avenir"/>
                <a:sym typeface="Avenir"/>
              </a:rPr>
              <a:t>(Instance of Classes)</a:t>
            </a:r>
            <a:endParaRPr/>
          </a:p>
        </p:txBody>
      </p:sp>
      <p:sp>
        <p:nvSpPr>
          <p:cNvPr id="603" name="Google Shape;603;p58"/>
          <p:cNvSpPr/>
          <p:nvPr/>
        </p:nvSpPr>
        <p:spPr>
          <a:xfrm>
            <a:off x="5457227" y="900806"/>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604" name="Google Shape;604;p58"/>
          <p:cNvSpPr/>
          <p:nvPr/>
        </p:nvSpPr>
        <p:spPr>
          <a:xfrm>
            <a:off x="1659854" y="3929188"/>
            <a:ext cx="8825266" cy="41147"/>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4">
              <a:solidFill>
                <a:schemeClr val="lt1"/>
              </a:solidFill>
              <a:latin typeface="Avenir"/>
              <a:ea typeface="Avenir"/>
              <a:cs typeface="Avenir"/>
              <a:sym typeface="Avenir"/>
            </a:endParaRPr>
          </a:p>
        </p:txBody>
      </p:sp>
      <p:sp>
        <p:nvSpPr>
          <p:cNvPr id="605" name="Google Shape;605;p58"/>
          <p:cNvSpPr/>
          <p:nvPr/>
        </p:nvSpPr>
        <p:spPr>
          <a:xfrm>
            <a:off x="1659854" y="4028404"/>
            <a:ext cx="8825266" cy="217889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64">
              <a:solidFill>
                <a:srgbClr val="00FF00"/>
              </a:solidFill>
              <a:latin typeface="Avenir"/>
              <a:ea typeface="Avenir"/>
              <a:cs typeface="Avenir"/>
              <a:sym typeface="Aveni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Static  void  Main()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  =  CreatePerson(); </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static  Person  CreatePerson()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Person person  =  new  Person (‘’Ali’’ ,  20);</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     return person;</a:t>
            </a:r>
            <a:endParaRPr/>
          </a:p>
          <a:p>
            <a:pPr indent="0" lvl="0" marL="0" marR="0" rtl="0" algn="l">
              <a:spcBef>
                <a:spcPts val="0"/>
              </a:spcBef>
              <a:spcAft>
                <a:spcPts val="0"/>
              </a:spcAft>
              <a:buNone/>
            </a:pPr>
            <a:r>
              <a:rPr lang="en-US" sz="1264">
                <a:solidFill>
                  <a:srgbClr val="00FF00"/>
                </a:solidFill>
                <a:latin typeface="Avenir"/>
                <a:ea typeface="Avenir"/>
                <a:cs typeface="Avenir"/>
                <a:sym typeface="Avenir"/>
              </a:rPr>
              <a:t>}</a:t>
            </a:r>
            <a:endParaRPr sz="1264">
              <a:solidFill>
                <a:srgbClr val="FF0000"/>
              </a:solidFill>
              <a:latin typeface="Avenir"/>
              <a:ea typeface="Avenir"/>
              <a:cs typeface="Avenir"/>
              <a:sym typeface="Avenir"/>
            </a:endParaRPr>
          </a:p>
          <a:p>
            <a:pPr indent="0" lvl="0" marL="0" marR="0" rtl="0" algn="l">
              <a:spcBef>
                <a:spcPts val="0"/>
              </a:spcBef>
              <a:spcAft>
                <a:spcPts val="0"/>
              </a:spcAft>
              <a:buNone/>
            </a:pPr>
            <a:r>
              <a:t/>
            </a:r>
            <a:endParaRPr sz="1264">
              <a:solidFill>
                <a:srgbClr val="FF0000"/>
              </a:solidFill>
              <a:latin typeface="Avenir"/>
              <a:ea typeface="Avenir"/>
              <a:cs typeface="Avenir"/>
              <a:sym typeface="Avenir"/>
            </a:endParaRPr>
          </a:p>
        </p:txBody>
      </p:sp>
      <p:sp>
        <p:nvSpPr>
          <p:cNvPr id="606" name="Google Shape;606;p58"/>
          <p:cNvSpPr txBox="1"/>
          <p:nvPr/>
        </p:nvSpPr>
        <p:spPr>
          <a:xfrm>
            <a:off x="1562276" y="3383988"/>
            <a:ext cx="389850"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a:t>
            </a:r>
            <a:endParaRPr/>
          </a:p>
        </p:txBody>
      </p:sp>
      <p:sp>
        <p:nvSpPr>
          <p:cNvPr id="607" name="Google Shape;607;p58"/>
          <p:cNvSpPr/>
          <p:nvPr/>
        </p:nvSpPr>
        <p:spPr>
          <a:xfrm>
            <a:off x="2804160" y="3374016"/>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a:t>
            </a:r>
            <a:endParaRPr/>
          </a:p>
        </p:txBody>
      </p:sp>
      <p:sp>
        <p:nvSpPr>
          <p:cNvPr id="608" name="Google Shape;608;p58"/>
          <p:cNvSpPr/>
          <p:nvPr/>
        </p:nvSpPr>
        <p:spPr>
          <a:xfrm>
            <a:off x="5457227" y="1296587"/>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609" name="Google Shape;609;p58"/>
          <p:cNvSpPr/>
          <p:nvPr/>
        </p:nvSpPr>
        <p:spPr>
          <a:xfrm>
            <a:off x="5457227" y="1692392"/>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610" name="Google Shape;610;p58"/>
          <p:cNvSpPr/>
          <p:nvPr/>
        </p:nvSpPr>
        <p:spPr>
          <a:xfrm>
            <a:off x="5457227" y="2088198"/>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611" name="Google Shape;611;p58"/>
          <p:cNvSpPr/>
          <p:nvPr/>
        </p:nvSpPr>
        <p:spPr>
          <a:xfrm>
            <a:off x="5457227" y="2484004"/>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sp>
        <p:nvSpPr>
          <p:cNvPr id="612" name="Google Shape;612;p58"/>
          <p:cNvSpPr/>
          <p:nvPr/>
        </p:nvSpPr>
        <p:spPr>
          <a:xfrm>
            <a:off x="5457227" y="2879809"/>
            <a:ext cx="47026" cy="329184"/>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264">
              <a:solidFill>
                <a:schemeClr val="lt1"/>
              </a:solidFill>
              <a:latin typeface="Avenir"/>
              <a:ea typeface="Avenir"/>
              <a:cs typeface="Avenir"/>
              <a:sym typeface="Avenir"/>
            </a:endParaRPr>
          </a:p>
        </p:txBody>
      </p:sp>
      <p:cxnSp>
        <p:nvCxnSpPr>
          <p:cNvPr id="613" name="Google Shape;613;p58"/>
          <p:cNvCxnSpPr/>
          <p:nvPr/>
        </p:nvCxnSpPr>
        <p:spPr>
          <a:xfrm>
            <a:off x="1659853" y="3321218"/>
            <a:ext cx="3009960" cy="0"/>
          </a:xfrm>
          <a:prstGeom prst="straightConnector1">
            <a:avLst/>
          </a:prstGeom>
          <a:noFill/>
          <a:ln cap="flat" cmpd="sng" w="19050">
            <a:solidFill>
              <a:srgbClr val="0070C0"/>
            </a:solidFill>
            <a:prstDash val="dash"/>
            <a:miter lim="800000"/>
            <a:headEnd len="sm" w="sm" type="none"/>
            <a:tailEnd len="sm" w="sm" type="none"/>
          </a:ln>
        </p:spPr>
      </p:cxnSp>
      <p:sp>
        <p:nvSpPr>
          <p:cNvPr id="614" name="Google Shape;614;p58"/>
          <p:cNvSpPr/>
          <p:nvPr/>
        </p:nvSpPr>
        <p:spPr>
          <a:xfrm>
            <a:off x="2804160" y="278400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a:t>
            </a:r>
            <a:endParaRPr/>
          </a:p>
        </p:txBody>
      </p:sp>
      <p:sp>
        <p:nvSpPr>
          <p:cNvPr id="615" name="Google Shape;615;p58"/>
          <p:cNvSpPr txBox="1"/>
          <p:nvPr/>
        </p:nvSpPr>
        <p:spPr>
          <a:xfrm>
            <a:off x="1562277" y="2742505"/>
            <a:ext cx="1218603" cy="4801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20">
                <a:solidFill>
                  <a:schemeClr val="dk1"/>
                </a:solidFill>
                <a:latin typeface="Avenir"/>
                <a:ea typeface="Avenir"/>
                <a:cs typeface="Avenir"/>
                <a:sym typeface="Avenir"/>
              </a:rPr>
              <a:t>person</a:t>
            </a:r>
            <a:endParaRPr/>
          </a:p>
        </p:txBody>
      </p:sp>
      <p:sp>
        <p:nvSpPr>
          <p:cNvPr id="616" name="Google Shape;616;p58"/>
          <p:cNvSpPr/>
          <p:nvPr/>
        </p:nvSpPr>
        <p:spPr>
          <a:xfrm>
            <a:off x="2801034" y="2784000"/>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0x123456</a:t>
            </a:r>
            <a:endParaRPr/>
          </a:p>
        </p:txBody>
      </p:sp>
      <p:sp>
        <p:nvSpPr>
          <p:cNvPr id="617" name="Google Shape;617;p58"/>
          <p:cNvSpPr/>
          <p:nvPr/>
        </p:nvSpPr>
        <p:spPr>
          <a:xfrm>
            <a:off x="6291943" y="1658153"/>
            <a:ext cx="2963946" cy="1020940"/>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264">
                <a:solidFill>
                  <a:schemeClr val="lt1"/>
                </a:solidFill>
                <a:latin typeface="Avenir"/>
                <a:ea typeface="Avenir"/>
                <a:cs typeface="Avenir"/>
                <a:sym typeface="Avenir"/>
              </a:rPr>
              <a:t>    Person</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Name = ‘’Bilge Adam’’</a:t>
            </a:r>
            <a:endParaRPr/>
          </a:p>
          <a:p>
            <a:pPr indent="0" lvl="0" marL="0" marR="0" rtl="0" algn="l">
              <a:spcBef>
                <a:spcPts val="0"/>
              </a:spcBef>
              <a:spcAft>
                <a:spcPts val="0"/>
              </a:spcAft>
              <a:buNone/>
            </a:pPr>
            <a:r>
              <a:rPr lang="en-US" sz="1264">
                <a:solidFill>
                  <a:schemeClr val="lt1"/>
                </a:solidFill>
                <a:latin typeface="Avenir"/>
                <a:ea typeface="Avenir"/>
                <a:cs typeface="Avenir"/>
                <a:sym typeface="Avenir"/>
              </a:rPr>
              <a:t>    Age = 20</a:t>
            </a:r>
            <a:endParaRPr/>
          </a:p>
        </p:txBody>
      </p:sp>
      <p:cxnSp>
        <p:nvCxnSpPr>
          <p:cNvPr id="618" name="Google Shape;618;p58"/>
          <p:cNvCxnSpPr/>
          <p:nvPr/>
        </p:nvCxnSpPr>
        <p:spPr>
          <a:xfrm flipH="1" rot="10800000">
            <a:off x="4792744" y="2073680"/>
            <a:ext cx="1393200" cy="939600"/>
          </a:xfrm>
          <a:prstGeom prst="curvedConnector3">
            <a:avLst>
              <a:gd fmla="val 50000" name="adj1"/>
            </a:avLst>
          </a:prstGeom>
          <a:noFill/>
          <a:ln cap="flat" cmpd="sng" w="44450">
            <a:solidFill>
              <a:schemeClr val="accent5"/>
            </a:solidFill>
            <a:prstDash val="solid"/>
            <a:miter lim="800000"/>
            <a:headEnd len="sm" w="sm" type="none"/>
            <a:tailEnd len="med" w="med" type="triangle"/>
          </a:ln>
          <a:effectLst>
            <a:outerShdw blurRad="50800" rotWithShape="0" algn="tl" dir="2700000" dist="38100">
              <a:srgbClr val="000000">
                <a:alpha val="40000"/>
              </a:srgbClr>
            </a:outerShdw>
          </a:effectLst>
        </p:spPr>
      </p:cxnSp>
      <p:sp>
        <p:nvSpPr>
          <p:cNvPr id="619" name="Google Shape;619;p58"/>
          <p:cNvSpPr/>
          <p:nvPr/>
        </p:nvSpPr>
        <p:spPr>
          <a:xfrm>
            <a:off x="2802427" y="3374016"/>
            <a:ext cx="1865376" cy="458657"/>
          </a:xfrm>
          <a:prstGeom prst="rect">
            <a:avLst/>
          </a:prstGeom>
          <a:solidFill>
            <a:schemeClr val="accent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64">
                <a:solidFill>
                  <a:schemeClr val="lt1"/>
                </a:solidFill>
                <a:latin typeface="Avenir"/>
                <a:ea typeface="Avenir"/>
                <a:cs typeface="Avenir"/>
                <a:sym typeface="Avenir"/>
              </a:rPr>
              <a:t>0x123456</a:t>
            </a:r>
            <a:endParaRPr/>
          </a:p>
        </p:txBody>
      </p:sp>
      <p:cxnSp>
        <p:nvCxnSpPr>
          <p:cNvPr id="620" name="Google Shape;620;p58"/>
          <p:cNvCxnSpPr/>
          <p:nvPr/>
        </p:nvCxnSpPr>
        <p:spPr>
          <a:xfrm rot="-5400000">
            <a:off x="4792294" y="2211149"/>
            <a:ext cx="1394100" cy="1393200"/>
          </a:xfrm>
          <a:prstGeom prst="curvedConnector3">
            <a:avLst>
              <a:gd fmla="val 50000" name="adj1"/>
            </a:avLst>
          </a:prstGeom>
          <a:noFill/>
          <a:ln cap="flat" cmpd="sng" w="44450">
            <a:solidFill>
              <a:schemeClr val="accent5"/>
            </a:solidFill>
            <a:prstDash val="solid"/>
            <a:miter lim="800000"/>
            <a:headEnd len="sm" w="sm" type="none"/>
            <a:tailEnd len="med" w="med" type="triangle"/>
          </a:ln>
          <a:effectLst>
            <a:outerShdw blurRad="50800" rotWithShape="0" algn="tl" dir="2700000" dist="38100">
              <a:srgbClr val="000000">
                <a:alpha val="40000"/>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1000"/>
                                        <p:tgtEl>
                                          <p:spTgt spid="614"/>
                                        </p:tgtEl>
                                      </p:cBhvr>
                                    </p:animEffect>
                                  </p:childTnLst>
                                </p:cTn>
                              </p:par>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par>
                                <p:cTn fill="hold" nodeType="with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par>
                                <p:cTn fill="hold" nodeType="with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par>
                                <p:cTn fill="hold" nodeType="withEffect" presetClass="exit" presetID="10" presetSubtype="0">
                                  <p:stCondLst>
                                    <p:cond delay="0"/>
                                  </p:stCondLst>
                                  <p:childTnLst>
                                    <p:animEffect filter="fade" transition="out">
                                      <p:cBhvr>
                                        <p:cTn dur="500"/>
                                        <p:tgtEl>
                                          <p:spTgt spid="615"/>
                                        </p:tgtEl>
                                      </p:cBhvr>
                                    </p:animEffect>
                                    <p:set>
                                      <p:cBhvr>
                                        <p:cTn dur="1" fill="hold">
                                          <p:stCondLst>
                                            <p:cond delay="500"/>
                                          </p:stCondLst>
                                        </p:cTn>
                                        <p:tgtEl>
                                          <p:spTgt spid="6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07"/>
                                        </p:tgtEl>
                                      </p:cBhvr>
                                    </p:animEffect>
                                    <p:set>
                                      <p:cBhvr>
                                        <p:cTn dur="1" fill="hold">
                                          <p:stCondLst>
                                            <p:cond delay="500"/>
                                          </p:stCondLst>
                                        </p:cTn>
                                        <p:tgtEl>
                                          <p:spTgt spid="6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16"/>
                                        </p:tgtEl>
                                      </p:cBhvr>
                                    </p:animEffect>
                                    <p:set>
                                      <p:cBhvr>
                                        <p:cTn dur="1" fill="hold">
                                          <p:stCondLst>
                                            <p:cond delay="500"/>
                                          </p:stCondLst>
                                        </p:cTn>
                                        <p:tgtEl>
                                          <p:spTgt spid="61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18"/>
                                        </p:tgtEl>
                                      </p:cBhvr>
                                    </p:animEffect>
                                    <p:set>
                                      <p:cBhvr>
                                        <p:cTn dur="1" fill="hold">
                                          <p:stCondLst>
                                            <p:cond delay="500"/>
                                          </p:stCondLst>
                                        </p:cTn>
                                        <p:tgtEl>
                                          <p:spTgt spid="61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14"/>
                                        </p:tgtEl>
                                      </p:cBhvr>
                                    </p:animEffect>
                                    <p:set>
                                      <p:cBhvr>
                                        <p:cTn dur="1" fill="hold">
                                          <p:stCondLst>
                                            <p:cond delay="500"/>
                                          </p:stCondLst>
                                        </p:cTn>
                                        <p:tgtEl>
                                          <p:spTgt spid="61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13"/>
                                        </p:tgtEl>
                                      </p:cBhvr>
                                    </p:animEffect>
                                    <p:set>
                                      <p:cBhvr>
                                        <p:cTn dur="1" fill="hold">
                                          <p:stCondLst>
                                            <p:cond delay="500"/>
                                          </p:stCondLst>
                                        </p:cTn>
                                        <p:tgtEl>
                                          <p:spTgt spid="61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9"/>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OOP ilkeleri</a:t>
            </a:r>
            <a:endParaRPr sz="3200"/>
          </a:p>
        </p:txBody>
      </p:sp>
      <p:grpSp>
        <p:nvGrpSpPr>
          <p:cNvPr id="626" name="Google Shape;626;p59"/>
          <p:cNvGrpSpPr/>
          <p:nvPr/>
        </p:nvGrpSpPr>
        <p:grpSpPr>
          <a:xfrm>
            <a:off x="-1576324" y="749742"/>
            <a:ext cx="9338428" cy="6049800"/>
            <a:chOff x="-5080036" y="-778247"/>
            <a:chExt cx="9338428" cy="6049800"/>
          </a:xfrm>
        </p:grpSpPr>
        <p:sp>
          <p:nvSpPr>
            <p:cNvPr id="627" name="Google Shape;627;p59"/>
            <p:cNvSpPr/>
            <p:nvPr/>
          </p:nvSpPr>
          <p:spPr>
            <a:xfrm>
              <a:off x="-5080036" y="-778247"/>
              <a:ext cx="6049800" cy="6049800"/>
            </a:xfrm>
            <a:prstGeom prst="blockArc">
              <a:avLst>
                <a:gd fmla="val 18900000" name="adj1"/>
                <a:gd fmla="val 2700000" name="adj2"/>
                <a:gd fmla="val 357" name="adj3"/>
              </a:avLst>
            </a:prstGeom>
            <a:noFill/>
            <a:ln cap="flat" cmpd="sng" w="12700">
              <a:solidFill>
                <a:srgbClr val="F2A34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9"/>
            <p:cNvSpPr/>
            <p:nvPr/>
          </p:nvSpPr>
          <p:spPr>
            <a:xfrm>
              <a:off x="507783" y="345444"/>
              <a:ext cx="3750600" cy="691200"/>
            </a:xfrm>
            <a:prstGeom prst="rect">
              <a:avLst/>
            </a:prstGeom>
            <a:solidFill>
              <a:srgbClr val="F2A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9"/>
            <p:cNvSpPr txBox="1"/>
            <p:nvPr/>
          </p:nvSpPr>
          <p:spPr>
            <a:xfrm>
              <a:off x="507783" y="345444"/>
              <a:ext cx="3750600" cy="691200"/>
            </a:xfrm>
            <a:prstGeom prst="rect">
              <a:avLst/>
            </a:prstGeom>
            <a:noFill/>
            <a:ln>
              <a:noFill/>
            </a:ln>
          </p:spPr>
          <p:txBody>
            <a:bodyPr anchorCtr="0" anchor="ctr" bIns="81275" lIns="548675" spcFirstLastPara="1" rIns="81275" wrap="square" tIns="81275">
              <a:noAutofit/>
            </a:bodyPr>
            <a:lstStyle/>
            <a:p>
              <a:pPr indent="0" lvl="0" marL="0" marR="0" rtl="0" algn="l">
                <a:lnSpc>
                  <a:spcPct val="90000"/>
                </a:lnSpc>
                <a:spcBef>
                  <a:spcPts val="0"/>
                </a:spcBef>
                <a:spcAft>
                  <a:spcPts val="0"/>
                </a:spcAft>
                <a:buClr>
                  <a:schemeClr val="lt1"/>
                </a:buClr>
                <a:buSzPts val="3200"/>
                <a:buFont typeface="Avenir"/>
                <a:buNone/>
              </a:pPr>
              <a:r>
                <a:rPr lang="en-US" sz="3200" u="none" strike="noStrike">
                  <a:solidFill>
                    <a:schemeClr val="lt1"/>
                  </a:solidFill>
                  <a:latin typeface="Avenir"/>
                  <a:ea typeface="Avenir"/>
                  <a:cs typeface="Avenir"/>
                  <a:sym typeface="Avenir"/>
                </a:rPr>
                <a:t>Encapsulation</a:t>
              </a:r>
              <a:endParaRPr sz="3200">
                <a:solidFill>
                  <a:schemeClr val="lt1"/>
                </a:solidFill>
                <a:latin typeface="Avenir"/>
                <a:ea typeface="Avenir"/>
                <a:cs typeface="Avenir"/>
                <a:sym typeface="Avenir"/>
              </a:endParaRPr>
            </a:p>
          </p:txBody>
        </p:sp>
        <p:sp>
          <p:nvSpPr>
            <p:cNvPr id="630" name="Google Shape;630;p59"/>
            <p:cNvSpPr/>
            <p:nvPr/>
          </p:nvSpPr>
          <p:spPr>
            <a:xfrm>
              <a:off x="75752" y="259038"/>
              <a:ext cx="864000" cy="864000"/>
            </a:xfrm>
            <a:prstGeom prst="ellipse">
              <a:avLst/>
            </a:prstGeom>
            <a:solidFill>
              <a:schemeClr val="lt1"/>
            </a:solidFill>
            <a:ln cap="flat" cmpd="sng" w="9525">
              <a:solidFill>
                <a:srgbClr val="F2A34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9"/>
            <p:cNvSpPr/>
            <p:nvPr/>
          </p:nvSpPr>
          <p:spPr>
            <a:xfrm>
              <a:off x="904092" y="1382498"/>
              <a:ext cx="3354300" cy="691200"/>
            </a:xfrm>
            <a:prstGeom prst="rect">
              <a:avLst/>
            </a:prstGeom>
            <a:solidFill>
              <a:srgbClr val="E6B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9"/>
            <p:cNvSpPr txBox="1"/>
            <p:nvPr/>
          </p:nvSpPr>
          <p:spPr>
            <a:xfrm>
              <a:off x="904092" y="1382498"/>
              <a:ext cx="3354300" cy="691200"/>
            </a:xfrm>
            <a:prstGeom prst="rect">
              <a:avLst/>
            </a:prstGeom>
            <a:noFill/>
            <a:ln>
              <a:noFill/>
            </a:ln>
          </p:spPr>
          <p:txBody>
            <a:bodyPr anchorCtr="0" anchor="ctr" bIns="81275" lIns="548675" spcFirstLastPara="1" rIns="81275" wrap="square" tIns="81275">
              <a:noAutofit/>
            </a:bodyPr>
            <a:lstStyle/>
            <a:p>
              <a:pPr indent="0" lvl="0" marL="0" marR="0" rtl="0" algn="l">
                <a:lnSpc>
                  <a:spcPct val="90000"/>
                </a:lnSpc>
                <a:spcBef>
                  <a:spcPts val="0"/>
                </a:spcBef>
                <a:spcAft>
                  <a:spcPts val="0"/>
                </a:spcAft>
                <a:buClr>
                  <a:schemeClr val="lt1"/>
                </a:buClr>
                <a:buSzPts val="3200"/>
                <a:buFont typeface="Avenir"/>
                <a:buNone/>
              </a:pPr>
              <a:r>
                <a:rPr lang="en-US" sz="3200">
                  <a:solidFill>
                    <a:schemeClr val="lt1"/>
                  </a:solidFill>
                  <a:latin typeface="Avenir"/>
                  <a:ea typeface="Avenir"/>
                  <a:cs typeface="Avenir"/>
                  <a:sym typeface="Avenir"/>
                </a:rPr>
                <a:t>İnheritance</a:t>
              </a:r>
              <a:endParaRPr sz="3200">
                <a:solidFill>
                  <a:schemeClr val="lt1"/>
                </a:solidFill>
                <a:latin typeface="Avenir"/>
                <a:ea typeface="Avenir"/>
                <a:cs typeface="Avenir"/>
                <a:sym typeface="Avenir"/>
              </a:endParaRPr>
            </a:p>
          </p:txBody>
        </p:sp>
        <p:sp>
          <p:nvSpPr>
            <p:cNvPr id="633" name="Google Shape;633;p59"/>
            <p:cNvSpPr/>
            <p:nvPr/>
          </p:nvSpPr>
          <p:spPr>
            <a:xfrm>
              <a:off x="472061" y="1296092"/>
              <a:ext cx="864000" cy="864000"/>
            </a:xfrm>
            <a:prstGeom prst="ellipse">
              <a:avLst/>
            </a:prstGeom>
            <a:solidFill>
              <a:schemeClr val="lt1"/>
            </a:solidFill>
            <a:ln cap="flat" cmpd="sng" w="9525">
              <a:solidFill>
                <a:srgbClr val="E6BB27"/>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9"/>
            <p:cNvSpPr/>
            <p:nvPr/>
          </p:nvSpPr>
          <p:spPr>
            <a:xfrm>
              <a:off x="904092" y="2419551"/>
              <a:ext cx="3354300" cy="691200"/>
            </a:xfrm>
            <a:prstGeom prst="rect">
              <a:avLst/>
            </a:prstGeom>
            <a:solidFill>
              <a:srgbClr val="CF92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9"/>
            <p:cNvSpPr txBox="1"/>
            <p:nvPr/>
          </p:nvSpPr>
          <p:spPr>
            <a:xfrm>
              <a:off x="904092" y="2419551"/>
              <a:ext cx="3354300" cy="691200"/>
            </a:xfrm>
            <a:prstGeom prst="rect">
              <a:avLst/>
            </a:prstGeom>
            <a:noFill/>
            <a:ln>
              <a:noFill/>
            </a:ln>
          </p:spPr>
          <p:txBody>
            <a:bodyPr anchorCtr="0" anchor="ctr" bIns="81275" lIns="548675" spcFirstLastPara="1" rIns="81275" wrap="square" tIns="81275">
              <a:noAutofit/>
            </a:bodyPr>
            <a:lstStyle/>
            <a:p>
              <a:pPr indent="0" lvl="0" marL="0" marR="0" rtl="0" algn="l">
                <a:lnSpc>
                  <a:spcPct val="90000"/>
                </a:lnSpc>
                <a:spcBef>
                  <a:spcPts val="0"/>
                </a:spcBef>
                <a:spcAft>
                  <a:spcPts val="0"/>
                </a:spcAft>
                <a:buClr>
                  <a:schemeClr val="lt1"/>
                </a:buClr>
                <a:buSzPts val="3200"/>
                <a:buFont typeface="Avenir"/>
                <a:buNone/>
              </a:pPr>
              <a:r>
                <a:rPr lang="en-US" sz="3200">
                  <a:solidFill>
                    <a:schemeClr val="lt1"/>
                  </a:solidFill>
                  <a:latin typeface="Avenir"/>
                  <a:ea typeface="Avenir"/>
                  <a:cs typeface="Avenir"/>
                  <a:sym typeface="Avenir"/>
                </a:rPr>
                <a:t>Polymorphism</a:t>
              </a:r>
              <a:endParaRPr sz="3200">
                <a:solidFill>
                  <a:schemeClr val="lt1"/>
                </a:solidFill>
                <a:latin typeface="Avenir"/>
                <a:ea typeface="Avenir"/>
                <a:cs typeface="Avenir"/>
                <a:sym typeface="Avenir"/>
              </a:endParaRPr>
            </a:p>
          </p:txBody>
        </p:sp>
        <p:sp>
          <p:nvSpPr>
            <p:cNvPr id="636" name="Google Shape;636;p59"/>
            <p:cNvSpPr/>
            <p:nvPr/>
          </p:nvSpPr>
          <p:spPr>
            <a:xfrm>
              <a:off x="472061" y="2333145"/>
              <a:ext cx="864000" cy="864000"/>
            </a:xfrm>
            <a:prstGeom prst="ellipse">
              <a:avLst/>
            </a:prstGeom>
            <a:solidFill>
              <a:schemeClr val="lt1"/>
            </a:solidFill>
            <a:ln cap="flat" cmpd="sng" w="9525">
              <a:solidFill>
                <a:srgbClr val="CF92A7"/>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9"/>
            <p:cNvSpPr/>
            <p:nvPr/>
          </p:nvSpPr>
          <p:spPr>
            <a:xfrm>
              <a:off x="507783" y="3456605"/>
              <a:ext cx="3750600" cy="691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9"/>
            <p:cNvSpPr txBox="1"/>
            <p:nvPr/>
          </p:nvSpPr>
          <p:spPr>
            <a:xfrm>
              <a:off x="507783" y="3456605"/>
              <a:ext cx="3750600" cy="691200"/>
            </a:xfrm>
            <a:prstGeom prst="rect">
              <a:avLst/>
            </a:prstGeom>
            <a:noFill/>
            <a:ln>
              <a:noFill/>
            </a:ln>
          </p:spPr>
          <p:txBody>
            <a:bodyPr anchorCtr="0" anchor="ctr" bIns="81275" lIns="548675" spcFirstLastPara="1" rIns="81275" wrap="square" tIns="81275">
              <a:noAutofit/>
            </a:bodyPr>
            <a:lstStyle/>
            <a:p>
              <a:pPr indent="0" lvl="0" marL="0" marR="0" rtl="0" algn="l">
                <a:lnSpc>
                  <a:spcPct val="90000"/>
                </a:lnSpc>
                <a:spcBef>
                  <a:spcPts val="0"/>
                </a:spcBef>
                <a:spcAft>
                  <a:spcPts val="0"/>
                </a:spcAft>
                <a:buClr>
                  <a:schemeClr val="lt1"/>
                </a:buClr>
                <a:buSzPts val="3200"/>
                <a:buFont typeface="Avenir"/>
                <a:buNone/>
              </a:pPr>
              <a:r>
                <a:rPr lang="en-US" sz="3200">
                  <a:solidFill>
                    <a:schemeClr val="lt1"/>
                  </a:solidFill>
                  <a:latin typeface="Avenir"/>
                  <a:ea typeface="Avenir"/>
                  <a:cs typeface="Avenir"/>
                  <a:sym typeface="Avenir"/>
                </a:rPr>
                <a:t>Abstraction</a:t>
              </a:r>
              <a:endParaRPr sz="3200">
                <a:solidFill>
                  <a:schemeClr val="lt1"/>
                </a:solidFill>
                <a:latin typeface="Avenir"/>
                <a:ea typeface="Avenir"/>
                <a:cs typeface="Avenir"/>
                <a:sym typeface="Avenir"/>
              </a:endParaRPr>
            </a:p>
          </p:txBody>
        </p:sp>
        <p:sp>
          <p:nvSpPr>
            <p:cNvPr id="639" name="Google Shape;639;p59"/>
            <p:cNvSpPr/>
            <p:nvPr/>
          </p:nvSpPr>
          <p:spPr>
            <a:xfrm>
              <a:off x="75752" y="3370198"/>
              <a:ext cx="864000" cy="864000"/>
            </a:xfrm>
            <a:prstGeom prst="ellipse">
              <a:avLst/>
            </a:prstGeom>
            <a:solidFill>
              <a:schemeClr val="lt1"/>
            </a:solidFill>
            <a:ln cap="flat" cmpd="sng" w="9525">
              <a:solidFill>
                <a:schemeClr val="accent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0"/>
          <p:cNvSpPr txBox="1"/>
          <p:nvPr>
            <p:ph type="title"/>
          </p:nvPr>
        </p:nvSpPr>
        <p:spPr>
          <a:xfrm>
            <a:off x="943800" y="303164"/>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Encapsulation</a:t>
            </a:r>
            <a:endParaRPr sz="3200">
              <a:solidFill>
                <a:srgbClr val="DD7E0E"/>
              </a:solidFill>
            </a:endParaRPr>
          </a:p>
        </p:txBody>
      </p:sp>
      <p:sp>
        <p:nvSpPr>
          <p:cNvPr id="645" name="Google Shape;645;p60"/>
          <p:cNvSpPr/>
          <p:nvPr/>
        </p:nvSpPr>
        <p:spPr>
          <a:xfrm>
            <a:off x="943798" y="1304750"/>
            <a:ext cx="10163959" cy="9233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Nesne yönelimli programlamanın bir prensibidir ve bir sınıfın verilerini (alanlarını) ve işlevlerini (metotlarını) bir arada tutarak gizlemesini ve korumasını sağlar. Bu, verilerin doğrudan erişimine karşı koruma sağlayarak sınıfın tutarlılığını ve güvenliğini sağlar.</a:t>
            </a:r>
            <a:endParaRPr sz="1800"/>
          </a:p>
        </p:txBody>
      </p:sp>
      <p:pic>
        <p:nvPicPr>
          <p:cNvPr descr="Encapsulation ile ilgili görsel sonucu" id="646" name="Google Shape;646;p60"/>
          <p:cNvPicPr preferRelativeResize="0"/>
          <p:nvPr/>
        </p:nvPicPr>
        <p:blipFill rotWithShape="1">
          <a:blip r:embed="rId3">
            <a:alphaModFix/>
          </a:blip>
          <a:srcRect b="0" l="0" r="0" t="0"/>
          <a:stretch/>
        </p:blipFill>
        <p:spPr>
          <a:xfrm>
            <a:off x="2711191" y="2781877"/>
            <a:ext cx="6210460" cy="23126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500"/>
                                        <p:tgtEl>
                                          <p:spTgt spid="6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5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1"/>
          <p:cNvSpPr txBox="1"/>
          <p:nvPr>
            <p:ph type="title"/>
          </p:nvPr>
        </p:nvSpPr>
        <p:spPr>
          <a:xfrm>
            <a:off x="937525"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Inheritance</a:t>
            </a:r>
            <a:endParaRPr sz="3200">
              <a:solidFill>
                <a:srgbClr val="DD7E0E"/>
              </a:solidFill>
            </a:endParaRPr>
          </a:p>
        </p:txBody>
      </p:sp>
      <p:sp>
        <p:nvSpPr>
          <p:cNvPr id="652" name="Google Shape;652;p61"/>
          <p:cNvSpPr/>
          <p:nvPr/>
        </p:nvSpPr>
        <p:spPr>
          <a:xfrm>
            <a:off x="825710" y="1323744"/>
            <a:ext cx="10454866" cy="9233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Bir sınıfın başka bir sınıftan özelliklerini ve davranışlarını devralmasıdır. Java'nın nesne yönelimli programlama (OOP) özelliklerinden biridir ve kodun tekrar kullanılabilirliğini, genişletilebilirliğini ve sürdürülebilirliğini artırmak için kullanılır.</a:t>
            </a:r>
            <a:endParaRPr sz="1680">
              <a:solidFill>
                <a:schemeClr val="dk1"/>
              </a:solidFill>
              <a:latin typeface="Avenir"/>
              <a:ea typeface="Avenir"/>
              <a:cs typeface="Avenir"/>
              <a:sym typeface="Avenir"/>
            </a:endParaRPr>
          </a:p>
        </p:txBody>
      </p:sp>
      <p:pic>
        <p:nvPicPr>
          <p:cNvPr descr="A diagram of different animals&#10;&#10;Description automatically generated" id="653" name="Google Shape;653;p61"/>
          <p:cNvPicPr preferRelativeResize="0"/>
          <p:nvPr/>
        </p:nvPicPr>
        <p:blipFill rotWithShape="1">
          <a:blip r:embed="rId3">
            <a:alphaModFix/>
          </a:blip>
          <a:srcRect b="0" l="0" r="0" t="0"/>
          <a:stretch/>
        </p:blipFill>
        <p:spPr>
          <a:xfrm>
            <a:off x="3014589" y="2466743"/>
            <a:ext cx="5663898" cy="3900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62"/>
          <p:cNvSpPr txBox="1"/>
          <p:nvPr>
            <p:ph type="title"/>
          </p:nvPr>
        </p:nvSpPr>
        <p:spPr>
          <a:xfrm>
            <a:off x="1051600" y="33168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Polymorphism</a:t>
            </a:r>
            <a:endParaRPr sz="3200">
              <a:solidFill>
                <a:srgbClr val="DD7E0E"/>
              </a:solidFill>
            </a:endParaRPr>
          </a:p>
        </p:txBody>
      </p:sp>
      <p:sp>
        <p:nvSpPr>
          <p:cNvPr id="659" name="Google Shape;659;p62"/>
          <p:cNvSpPr/>
          <p:nvPr/>
        </p:nvSpPr>
        <p:spPr>
          <a:xfrm>
            <a:off x="985249" y="1474700"/>
            <a:ext cx="10423800" cy="86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Bir nesnenin farklı şekillerde </a:t>
            </a:r>
            <a:r>
              <a:rPr lang="en-US" sz="1800">
                <a:solidFill>
                  <a:schemeClr val="dk1"/>
                </a:solidFill>
                <a:latin typeface="Avenir"/>
                <a:ea typeface="Avenir"/>
                <a:cs typeface="Avenir"/>
                <a:sym typeface="Avenir"/>
              </a:rPr>
              <a:t>davranma bilmesini</a:t>
            </a:r>
            <a:r>
              <a:rPr lang="en-US" sz="1800">
                <a:solidFill>
                  <a:schemeClr val="dk1"/>
                </a:solidFill>
                <a:latin typeface="Avenir"/>
                <a:ea typeface="Avenir"/>
                <a:cs typeface="Avenir"/>
                <a:sym typeface="Avenir"/>
              </a:rPr>
              <a:t> ifade eden bir kavramdır. Bu, aynı isimle farklı şekillerde uygulanan metotlar aracılığıyla gerçekleştirilir. Polimorfizm, Java'nın nesne tabanlı programlama özelliklerinden biridir ve daha esnek ve genişletilebilir kod yazmayı sağlar.</a:t>
            </a:r>
            <a:endParaRPr sz="1800"/>
          </a:p>
        </p:txBody>
      </p:sp>
      <p:pic>
        <p:nvPicPr>
          <p:cNvPr descr="Cartoon characters of animals and words&#10;&#10;Description automatically generated" id="660" name="Google Shape;660;p62"/>
          <p:cNvPicPr preferRelativeResize="0"/>
          <p:nvPr/>
        </p:nvPicPr>
        <p:blipFill rotWithShape="1">
          <a:blip r:embed="rId3">
            <a:alphaModFix/>
          </a:blip>
          <a:srcRect b="0" l="0" r="0" t="0"/>
          <a:stretch/>
        </p:blipFill>
        <p:spPr>
          <a:xfrm>
            <a:off x="3017641" y="2974956"/>
            <a:ext cx="6156717" cy="34643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3"/>
          <p:cNvSpPr txBox="1"/>
          <p:nvPr>
            <p:ph type="title"/>
          </p:nvPr>
        </p:nvSpPr>
        <p:spPr>
          <a:xfrm>
            <a:off x="740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3200">
                <a:solidFill>
                  <a:srgbClr val="DD7E0E"/>
                </a:solidFill>
              </a:rPr>
              <a:t>Abstraction</a:t>
            </a:r>
            <a:endParaRPr sz="3200"/>
          </a:p>
        </p:txBody>
      </p:sp>
      <p:sp>
        <p:nvSpPr>
          <p:cNvPr id="666" name="Google Shape;666;p63"/>
          <p:cNvSpPr/>
          <p:nvPr/>
        </p:nvSpPr>
        <p:spPr>
          <a:xfrm>
            <a:off x="740600" y="1417639"/>
            <a:ext cx="5759953" cy="39149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Abstraction (soyutlama), bir şeyin temel özelliklerini veya önemli detaylarını vurgulayarak veya diğer detayları atlayarak bir kavramı veya nesneyi basitleştirerek temsil etme sürecidir.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Programcılar, bir problemin çözümünü daha anlaşılır ve yönetilebilir hale getirmek için soyutlama kullanır.</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Programlama dilleri, soyutlama düzeylerini sağlar ve karmaşık sistemleri daha basit ve modüler parçalara ayırarak kodun daha sürdürülebilir, anlaşılır ve yeniden kullanılabilir olmasını sağlar.</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680">
              <a:solidFill>
                <a:schemeClr val="dk1"/>
              </a:solidFill>
              <a:latin typeface="Avenir"/>
              <a:ea typeface="Avenir"/>
              <a:cs typeface="Avenir"/>
              <a:sym typeface="Avenir"/>
            </a:endParaRPr>
          </a:p>
        </p:txBody>
      </p:sp>
      <p:pic>
        <p:nvPicPr>
          <p:cNvPr descr="A diagram of a person's work flow&#10;&#10;Description automatically generated" id="667" name="Google Shape;667;p63"/>
          <p:cNvPicPr preferRelativeResize="0"/>
          <p:nvPr/>
        </p:nvPicPr>
        <p:blipFill rotWithShape="1">
          <a:blip r:embed="rId3">
            <a:alphaModFix/>
          </a:blip>
          <a:srcRect b="0" l="0" r="0" t="0"/>
          <a:stretch/>
        </p:blipFill>
        <p:spPr>
          <a:xfrm>
            <a:off x="6788728" y="1915988"/>
            <a:ext cx="4662672" cy="26227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apesVTI">
  <a:themeElements>
    <a:clrScheme name="Ofis">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